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Inter Bold" charset="1" panose="02000503000000020004"/>
      <p:regular r:id="rId16"/>
    </p:embeddedFont>
    <p:embeddedFont>
      <p:font typeface="Arimo" charset="1" panose="020B0604020202020204"/>
      <p:regular r:id="rId17"/>
    </p:embeddedFont>
    <p:embeddedFont>
      <p:font typeface="Arimo Italics" charset="1" panose="020B0604020202090204"/>
      <p:regular r:id="rId18"/>
    </p:embeddedFont>
    <p:embeddedFont>
      <p:font typeface="Canva Sans" charset="1" panose="020B0503030501040103"/>
      <p:regular r:id="rId20"/>
    </p:embeddedFont>
    <p:embeddedFont>
      <p:font typeface="Inter Italics" charset="1" panose="0200050300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8.jpeg" Type="http://schemas.openxmlformats.org/officeDocument/2006/relationships/image"/><Relationship Id="rId4" Target="../media/image2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4.bin" Type="http://schemas.openxmlformats.org/officeDocument/2006/relationships/oleObject"/><Relationship Id="rId11" Target="../media/image22.png" Type="http://schemas.openxmlformats.org/officeDocument/2006/relationships/image"/><Relationship Id="rId12" Target="../embeddings/oleObject5.bin" Type="http://schemas.openxmlformats.org/officeDocument/2006/relationships/oleObject"/><Relationship Id="rId2" Target="../media/image8.jpeg" Type="http://schemas.openxmlformats.org/officeDocument/2006/relationships/image"/><Relationship Id="rId3" Target="../media/image18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19.png" Type="http://schemas.openxmlformats.org/officeDocument/2006/relationships/image"/><Relationship Id="rId6" Target="../embeddings/oleObject2.bin" Type="http://schemas.openxmlformats.org/officeDocument/2006/relationships/oleObject"/><Relationship Id="rId7" Target="../media/image20.png" Type="http://schemas.openxmlformats.org/officeDocument/2006/relationships/image"/><Relationship Id="rId8" Target="../embeddings/oleObject3.bin" Type="http://schemas.openxmlformats.org/officeDocument/2006/relationships/oleObject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27357" y="-1834534"/>
            <a:ext cx="6229350" cy="6229350"/>
            <a:chOff x="0" y="0"/>
            <a:chExt cx="8305800" cy="8305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05800" cy="8305800"/>
            </a:xfrm>
            <a:custGeom>
              <a:avLst/>
              <a:gdLst/>
              <a:ahLst/>
              <a:cxnLst/>
              <a:rect r="r" b="b" t="t" l="l"/>
              <a:pathLst>
                <a:path h="8305800" w="8305800">
                  <a:moveTo>
                    <a:pt x="0" y="4152900"/>
                  </a:moveTo>
                  <a:cubicBezTo>
                    <a:pt x="0" y="1859280"/>
                    <a:pt x="1859280" y="0"/>
                    <a:pt x="4152900" y="0"/>
                  </a:cubicBezTo>
                  <a:cubicBezTo>
                    <a:pt x="6446520" y="0"/>
                    <a:pt x="8305800" y="1859280"/>
                    <a:pt x="8305800" y="4152900"/>
                  </a:cubicBezTo>
                  <a:cubicBezTo>
                    <a:pt x="8305800" y="6446520"/>
                    <a:pt x="6446520" y="8305800"/>
                    <a:pt x="4152900" y="8305800"/>
                  </a:cubicBezTo>
                  <a:cubicBezTo>
                    <a:pt x="1859280" y="8305800"/>
                    <a:pt x="0" y="6446520"/>
                    <a:pt x="0" y="41529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9526" cap="sq">
              <a:solidFill>
                <a:srgbClr val="4E807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992661" y="-207416"/>
            <a:ext cx="8598391" cy="2008336"/>
            <a:chOff x="0" y="0"/>
            <a:chExt cx="11464522" cy="26777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64527" cy="2677782"/>
            </a:xfrm>
            <a:custGeom>
              <a:avLst/>
              <a:gdLst/>
              <a:ahLst/>
              <a:cxnLst/>
              <a:rect r="r" b="b" t="t" l="l"/>
              <a:pathLst>
                <a:path h="2677782" w="11464527">
                  <a:moveTo>
                    <a:pt x="0" y="0"/>
                  </a:moveTo>
                  <a:lnTo>
                    <a:pt x="11464527" y="0"/>
                  </a:lnTo>
                  <a:lnTo>
                    <a:pt x="11464527" y="2677782"/>
                  </a:lnTo>
                  <a:lnTo>
                    <a:pt x="0" y="2677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62" r="51568" b="529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464522" cy="2687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b="true" sz="3999" spc="271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CSE-AI MINI PROJECT ·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14345" y="3185903"/>
            <a:ext cx="5069043" cy="1302382"/>
            <a:chOff x="0" y="0"/>
            <a:chExt cx="6758724" cy="17365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58722" cy="1736515"/>
            </a:xfrm>
            <a:custGeom>
              <a:avLst/>
              <a:gdLst/>
              <a:ahLst/>
              <a:cxnLst/>
              <a:rect r="r" b="b" t="t" l="l"/>
              <a:pathLst>
                <a:path h="1736515" w="6758722">
                  <a:moveTo>
                    <a:pt x="0" y="0"/>
                  </a:moveTo>
                  <a:lnTo>
                    <a:pt x="6758722" y="0"/>
                  </a:lnTo>
                  <a:lnTo>
                    <a:pt x="6758722" y="1736515"/>
                  </a:lnTo>
                  <a:lnTo>
                    <a:pt x="0" y="17365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38" r="0" b="-258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758724" cy="1736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b="true" sz="10800" spc="-716">
                  <a:solidFill>
                    <a:srgbClr val="2431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SAFAR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14694" y="4170616"/>
            <a:ext cx="5379025" cy="1477327"/>
            <a:chOff x="0" y="0"/>
            <a:chExt cx="7172033" cy="19697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72034" cy="1969771"/>
            </a:xfrm>
            <a:custGeom>
              <a:avLst/>
              <a:gdLst/>
              <a:ahLst/>
              <a:cxnLst/>
              <a:rect r="r" b="b" t="t" l="l"/>
              <a:pathLst>
                <a:path h="1969771" w="7172034">
                  <a:moveTo>
                    <a:pt x="0" y="0"/>
                  </a:moveTo>
                  <a:lnTo>
                    <a:pt x="7172034" y="0"/>
                  </a:lnTo>
                  <a:lnTo>
                    <a:pt x="7172034" y="1969771"/>
                  </a:lnTo>
                  <a:lnTo>
                    <a:pt x="0" y="19697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46" r="0" b="-209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172033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b="true" sz="10800" spc="-716">
                  <a:solidFill>
                    <a:srgbClr val="4B7C7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SHIELD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94389" y="5888907"/>
            <a:ext cx="14538950" cy="514350"/>
            <a:chOff x="0" y="0"/>
            <a:chExt cx="19385267" cy="685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85262" cy="685800"/>
            </a:xfrm>
            <a:custGeom>
              <a:avLst/>
              <a:gdLst/>
              <a:ahLst/>
              <a:cxnLst/>
              <a:rect r="r" b="b" t="t" l="l"/>
              <a:pathLst>
                <a:path h="685800" w="19385262">
                  <a:moveTo>
                    <a:pt x="0" y="0"/>
                  </a:moveTo>
                  <a:lnTo>
                    <a:pt x="19385262" y="0"/>
                  </a:lnTo>
                  <a:lnTo>
                    <a:pt x="19385262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0776" r="0" b="-5007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9385267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52"/>
                </a:lnSpc>
              </a:pPr>
              <a:r>
                <a:rPr lang="en-US" sz="2960">
                  <a:solidFill>
                    <a:srgbClr val="394B54"/>
                  </a:solidFill>
                  <a:latin typeface="Arimo"/>
                  <a:ea typeface="Arimo"/>
                  <a:cs typeface="Arimo"/>
                  <a:sym typeface="Arimo"/>
                </a:rPr>
                <a:t>Smart Tourist Safety Monitoring and Incident Response System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1095" y="6243714"/>
            <a:ext cx="7686675" cy="7686675"/>
            <a:chOff x="0" y="0"/>
            <a:chExt cx="10248900" cy="10248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8900" cy="10248900"/>
            </a:xfrm>
            <a:custGeom>
              <a:avLst/>
              <a:gdLst/>
              <a:ahLst/>
              <a:cxnLst/>
              <a:rect r="r" b="b" t="t" l="l"/>
              <a:pathLst>
                <a:path h="10248900" w="10248900">
                  <a:moveTo>
                    <a:pt x="0" y="5124450"/>
                  </a:moveTo>
                  <a:cubicBezTo>
                    <a:pt x="0" y="2294255"/>
                    <a:pt x="2294255" y="0"/>
                    <a:pt x="5124450" y="0"/>
                  </a:cubicBezTo>
                  <a:cubicBezTo>
                    <a:pt x="7954645" y="0"/>
                    <a:pt x="10248900" y="2294255"/>
                    <a:pt x="10248900" y="5124450"/>
                  </a:cubicBezTo>
                  <a:cubicBezTo>
                    <a:pt x="10248900" y="7954645"/>
                    <a:pt x="7954645" y="10248900"/>
                    <a:pt x="5124450" y="10248900"/>
                  </a:cubicBezTo>
                  <a:cubicBezTo>
                    <a:pt x="2294255" y="10248900"/>
                    <a:pt x="0" y="7954645"/>
                    <a:pt x="0" y="512445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  <a:ln w="9526" cap="sq">
              <a:solidFill>
                <a:srgbClr val="C46C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883716" y="6539579"/>
            <a:ext cx="6796202" cy="742950"/>
            <a:chOff x="0" y="0"/>
            <a:chExt cx="9061602" cy="990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61608" cy="990601"/>
            </a:xfrm>
            <a:custGeom>
              <a:avLst/>
              <a:gdLst/>
              <a:ahLst/>
              <a:cxnLst/>
              <a:rect r="r" b="b" t="t" l="l"/>
              <a:pathLst>
                <a:path h="990601" w="9061608">
                  <a:moveTo>
                    <a:pt x="0" y="0"/>
                  </a:moveTo>
                  <a:lnTo>
                    <a:pt x="9061608" y="0"/>
                  </a:lnTo>
                  <a:lnTo>
                    <a:pt x="9061608" y="990601"/>
                  </a:lnTo>
                  <a:lnTo>
                    <a:pt x="0" y="9906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240" r="0" b="-1032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061602" cy="1019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i="true">
                  <a:solidFill>
                    <a:srgbClr val="A6533B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“Travel Freely. Stay Safe.”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99206" y="8034538"/>
            <a:ext cx="12089587" cy="1692669"/>
            <a:chOff x="0" y="0"/>
            <a:chExt cx="16119450" cy="22568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119475" cy="2256917"/>
            </a:xfrm>
            <a:custGeom>
              <a:avLst/>
              <a:gdLst/>
              <a:ahLst/>
              <a:cxnLst/>
              <a:rect r="r" b="b" t="t" l="l"/>
              <a:pathLst>
                <a:path h="2256917" w="16119475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15786100" y="0"/>
                  </a:lnTo>
                  <a:cubicBezTo>
                    <a:pt x="15970250" y="0"/>
                    <a:pt x="16119475" y="149225"/>
                    <a:pt x="16119475" y="333375"/>
                  </a:cubicBezTo>
                  <a:lnTo>
                    <a:pt x="16119475" y="1923542"/>
                  </a:lnTo>
                  <a:cubicBezTo>
                    <a:pt x="16119475" y="2107692"/>
                    <a:pt x="15970250" y="2256917"/>
                    <a:pt x="15786100" y="2256917"/>
                  </a:cubicBezTo>
                  <a:lnTo>
                    <a:pt x="333375" y="2256917"/>
                  </a:lnTo>
                  <a:cubicBezTo>
                    <a:pt x="149225" y="2256917"/>
                    <a:pt x="0" y="2107692"/>
                    <a:pt x="0" y="1923542"/>
                  </a:cubicBezTo>
                  <a:close/>
                </a:path>
              </a:pathLst>
            </a:custGeom>
            <a:solidFill>
              <a:srgbClr val="EAEEEA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313757" y="7358729"/>
            <a:ext cx="5956200" cy="1274283"/>
            <a:chOff x="0" y="0"/>
            <a:chExt cx="7941599" cy="16990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41604" cy="1699036"/>
            </a:xfrm>
            <a:custGeom>
              <a:avLst/>
              <a:gdLst/>
              <a:ahLst/>
              <a:cxnLst/>
              <a:rect r="r" b="b" t="t" l="l"/>
              <a:pathLst>
                <a:path h="1699036" w="7941604">
                  <a:moveTo>
                    <a:pt x="0" y="0"/>
                  </a:moveTo>
                  <a:lnTo>
                    <a:pt x="7941604" y="0"/>
                  </a:lnTo>
                  <a:lnTo>
                    <a:pt x="7941604" y="1699036"/>
                  </a:lnTo>
                  <a:lnTo>
                    <a:pt x="0" y="16990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78" r="49960" b="458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7941599" cy="1727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94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PROPOSED SOLUTION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67471" y="8959005"/>
            <a:ext cx="383972" cy="383972"/>
            <a:chOff x="0" y="0"/>
            <a:chExt cx="511962" cy="511962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11937" cy="511937"/>
            </a:xfrm>
            <a:custGeom>
              <a:avLst/>
              <a:gdLst/>
              <a:ahLst/>
              <a:cxnLst/>
              <a:rect r="r" b="b" t="t" l="l"/>
              <a:pathLst>
                <a:path h="511937" w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841252" y="8988114"/>
            <a:ext cx="2436657" cy="289684"/>
            <a:chOff x="0" y="0"/>
            <a:chExt cx="2884284" cy="342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84288" cy="342901"/>
            </a:xfrm>
            <a:custGeom>
              <a:avLst/>
              <a:gdLst/>
              <a:ahLst/>
              <a:cxnLst/>
              <a:rect r="r" b="b" t="t" l="l"/>
              <a:pathLst>
                <a:path h="342901" w="2884288">
                  <a:moveTo>
                    <a:pt x="0" y="0"/>
                  </a:moveTo>
                  <a:lnTo>
                    <a:pt x="2884288" y="0"/>
                  </a:lnTo>
                  <a:lnTo>
                    <a:pt x="2884288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896" r="0" b="-1138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884284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Real-time location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77908" y="8959005"/>
            <a:ext cx="383972" cy="383972"/>
            <a:chOff x="0" y="0"/>
            <a:chExt cx="511962" cy="51196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511937" cy="511937"/>
            </a:xfrm>
            <a:custGeom>
              <a:avLst/>
              <a:gdLst/>
              <a:ahLst/>
              <a:cxnLst/>
              <a:rect r="r" b="b" t="t" l="l"/>
              <a:pathLst>
                <a:path h="511937" w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556086" y="9003495"/>
            <a:ext cx="2457593" cy="297548"/>
            <a:chOff x="0" y="0"/>
            <a:chExt cx="2832176" cy="342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832179" cy="342901"/>
            </a:xfrm>
            <a:custGeom>
              <a:avLst/>
              <a:gdLst/>
              <a:ahLst/>
              <a:cxnLst/>
              <a:rect r="r" b="b" t="t" l="l"/>
              <a:pathLst>
                <a:path h="342901" w="2832179">
                  <a:moveTo>
                    <a:pt x="0" y="0"/>
                  </a:moveTo>
                  <a:lnTo>
                    <a:pt x="2832179" y="0"/>
                  </a:lnTo>
                  <a:lnTo>
                    <a:pt x="2832179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935" r="0" b="-1109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832176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Geofencing alerts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91857" y="8959005"/>
            <a:ext cx="345129" cy="383972"/>
            <a:chOff x="0" y="0"/>
            <a:chExt cx="460172" cy="511962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60121" cy="511937"/>
            </a:xfrm>
            <a:custGeom>
              <a:avLst/>
              <a:gdLst/>
              <a:ahLst/>
              <a:cxnLst/>
              <a:rect r="r" b="b" t="t" l="l"/>
              <a:pathLst>
                <a:path h="511937" w="460121">
                  <a:moveTo>
                    <a:pt x="0" y="0"/>
                  </a:moveTo>
                  <a:lnTo>
                    <a:pt x="460121" y="0"/>
                  </a:lnTo>
                  <a:lnTo>
                    <a:pt x="460121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3" t="0" r="-77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753795" y="8726110"/>
            <a:ext cx="2045389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1"/>
              </a:lnSpc>
            </a:pPr>
            <a:r>
              <a:rPr lang="en-US" sz="2199">
                <a:solidFill>
                  <a:srgbClr val="52636A"/>
                </a:solidFill>
                <a:latin typeface="Arimo"/>
                <a:ea typeface="Arimo"/>
                <a:cs typeface="Arimo"/>
                <a:sym typeface="Arimo"/>
              </a:rPr>
              <a:t>SOS and incident</a:t>
            </a:r>
          </a:p>
          <a:p>
            <a:pPr algn="ctr">
              <a:lnSpc>
                <a:spcPts val="2201"/>
              </a:lnSpc>
            </a:pPr>
            <a:r>
              <a:rPr lang="en-US" sz="2199">
                <a:solidFill>
                  <a:srgbClr val="52636A"/>
                </a:solidFill>
                <a:latin typeface="Arimo"/>
                <a:ea typeface="Arimo"/>
                <a:cs typeface="Arimo"/>
                <a:sym typeface="Arimo"/>
              </a:rPr>
              <a:t>reporting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915994" y="8959005"/>
            <a:ext cx="383972" cy="383972"/>
            <a:chOff x="0" y="0"/>
            <a:chExt cx="511962" cy="511962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511937" cy="511937"/>
            </a:xfrm>
            <a:custGeom>
              <a:avLst/>
              <a:gdLst/>
              <a:ahLst/>
              <a:cxnLst/>
              <a:rect r="r" b="b" t="t" l="l"/>
              <a:pathLst>
                <a:path h="511937" w="511937">
                  <a:moveTo>
                    <a:pt x="0" y="0"/>
                  </a:moveTo>
                  <a:lnTo>
                    <a:pt x="511937" y="0"/>
                  </a:lnTo>
                  <a:lnTo>
                    <a:pt x="511937" y="511937"/>
                  </a:lnTo>
                  <a:lnTo>
                    <a:pt x="0" y="5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254713" y="9003495"/>
            <a:ext cx="2631477" cy="274303"/>
            <a:chOff x="0" y="0"/>
            <a:chExt cx="3289554" cy="342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89557" cy="342901"/>
            </a:xfrm>
            <a:custGeom>
              <a:avLst/>
              <a:gdLst/>
              <a:ahLst/>
              <a:cxnLst/>
              <a:rect r="r" b="b" t="t" l="l"/>
              <a:pathLst>
                <a:path h="342901" w="3289557">
                  <a:moveTo>
                    <a:pt x="0" y="0"/>
                  </a:moveTo>
                  <a:lnTo>
                    <a:pt x="3289557" y="0"/>
                  </a:lnTo>
                  <a:lnTo>
                    <a:pt x="3289557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925" r="0" b="-1369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289554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Authority dashboard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93719" y="2639120"/>
            <a:ext cx="2947159" cy="2898838"/>
            <a:chOff x="0" y="0"/>
            <a:chExt cx="3929545" cy="3865118"/>
          </a:xfrm>
        </p:grpSpPr>
        <p:sp>
          <p:nvSpPr>
            <p:cNvPr name="Freeform 49" id="49" descr="smartphone illustration with floating app icons, Smartphone With Apps, Digital Phone Illustration, Mobile App Icons PNG Image and Clipart"/>
            <p:cNvSpPr/>
            <p:nvPr/>
          </p:nvSpPr>
          <p:spPr>
            <a:xfrm flipH="false" flipV="false" rot="0">
              <a:off x="0" y="0"/>
              <a:ext cx="3929507" cy="3865118"/>
            </a:xfrm>
            <a:custGeom>
              <a:avLst/>
              <a:gdLst/>
              <a:ahLst/>
              <a:cxnLst/>
              <a:rect r="r" b="b" t="t" l="l"/>
              <a:pathLst>
                <a:path h="3865118" w="3929507">
                  <a:moveTo>
                    <a:pt x="0" y="0"/>
                  </a:moveTo>
                  <a:lnTo>
                    <a:pt x="3929507" y="0"/>
                  </a:lnTo>
                  <a:lnTo>
                    <a:pt x="3929507" y="3865118"/>
                  </a:lnTo>
                  <a:lnTo>
                    <a:pt x="0" y="3865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187440" y="1642377"/>
            <a:ext cx="2557167" cy="67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i="true">
                <a:solidFill>
                  <a:srgbClr val="A6533B"/>
                </a:solidFill>
                <a:latin typeface="Arimo Italics"/>
                <a:ea typeface="Arimo Italics"/>
                <a:cs typeface="Arimo Italics"/>
                <a:sym typeface="Arimo Italics"/>
              </a:rPr>
              <a:t>Members :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927487" y="1332281"/>
            <a:ext cx="2988507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A6533B"/>
                </a:solidFill>
                <a:latin typeface="Arimo Italics"/>
                <a:ea typeface="Arimo Italics"/>
                <a:cs typeface="Arimo Italics"/>
                <a:sym typeface="Arimo Italics"/>
              </a:rPr>
              <a:t>1) Gauri</a:t>
            </a:r>
          </a:p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A6533B"/>
                </a:solidFill>
                <a:latin typeface="Arimo Italics"/>
                <a:ea typeface="Arimo Italics"/>
                <a:cs typeface="Arimo Italics"/>
                <a:sym typeface="Arimo Italics"/>
              </a:rPr>
              <a:t>2) Afnan Zia</a:t>
            </a:r>
          </a:p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A6533B"/>
                </a:solidFill>
                <a:latin typeface="Arimo Italics"/>
                <a:ea typeface="Arimo Italics"/>
                <a:cs typeface="Arimo Italics"/>
                <a:sym typeface="Arimo Italics"/>
              </a:rPr>
              <a:t>3) Azhar Shahzad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314" y="1099690"/>
            <a:ext cx="7381475" cy="885825"/>
            <a:chOff x="0" y="0"/>
            <a:chExt cx="9841967" cy="1181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41965" cy="1181101"/>
            </a:xfrm>
            <a:custGeom>
              <a:avLst/>
              <a:gdLst/>
              <a:ahLst/>
              <a:cxnLst/>
              <a:rect r="r" b="b" t="t" l="l"/>
              <a:pathLst>
                <a:path h="1181101" w="9841965">
                  <a:moveTo>
                    <a:pt x="0" y="0"/>
                  </a:moveTo>
                  <a:lnTo>
                    <a:pt x="9841965" y="0"/>
                  </a:lnTo>
                  <a:lnTo>
                    <a:pt x="9841965" y="1181101"/>
                  </a:lnTo>
                  <a:lnTo>
                    <a:pt x="0" y="11811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66" r="0" b="-11236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841967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1"/>
                </a:lnSpc>
              </a:pPr>
              <a:r>
                <a:rPr lang="en-US" b="true" sz="5759" spc="-287">
                  <a:solidFill>
                    <a:srgbClr val="2431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Literature Review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3872" y="4128640"/>
            <a:ext cx="16948623" cy="4076700"/>
            <a:chOff x="0" y="0"/>
            <a:chExt cx="22598164" cy="543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98126" cy="5435600"/>
            </a:xfrm>
            <a:custGeom>
              <a:avLst/>
              <a:gdLst/>
              <a:ahLst/>
              <a:cxnLst/>
              <a:rect r="r" b="b" t="t" l="l"/>
              <a:pathLst>
                <a:path h="5435600" w="22598126">
                  <a:moveTo>
                    <a:pt x="0" y="268859"/>
                  </a:moveTo>
                  <a:cubicBezTo>
                    <a:pt x="0" y="120396"/>
                    <a:pt x="120396" y="0"/>
                    <a:pt x="268859" y="0"/>
                  </a:cubicBezTo>
                  <a:lnTo>
                    <a:pt x="22329267" y="0"/>
                  </a:lnTo>
                  <a:cubicBezTo>
                    <a:pt x="22477730" y="0"/>
                    <a:pt x="22598126" y="120396"/>
                    <a:pt x="22598126" y="268859"/>
                  </a:cubicBezTo>
                  <a:lnTo>
                    <a:pt x="22598126" y="5166741"/>
                  </a:lnTo>
                  <a:cubicBezTo>
                    <a:pt x="22598126" y="5315204"/>
                    <a:pt x="22477730" y="5435600"/>
                    <a:pt x="22329267" y="5435600"/>
                  </a:cubicBezTo>
                  <a:lnTo>
                    <a:pt x="268859" y="5435600"/>
                  </a:lnTo>
                  <a:cubicBezTo>
                    <a:pt x="120396" y="5435600"/>
                    <a:pt x="0" y="5315204"/>
                    <a:pt x="0" y="5166741"/>
                  </a:cubicBezTo>
                  <a:close/>
                </a:path>
              </a:pathLst>
            </a:custGeom>
            <a:solidFill>
              <a:srgbClr val="E9EFE9">
                <a:alpha val="72157"/>
              </a:srgbClr>
            </a:solidFill>
            <a:ln w="9526" cap="sq">
              <a:solidFill>
                <a:srgbClr val="9FB3A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93872" y="3261865"/>
            <a:ext cx="16898498" cy="581025"/>
            <a:chOff x="0" y="0"/>
            <a:chExt cx="22531330" cy="774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31330" cy="774700"/>
            </a:xfrm>
            <a:custGeom>
              <a:avLst/>
              <a:gdLst/>
              <a:ahLst/>
              <a:cxnLst/>
              <a:rect r="r" b="b" t="t" l="l"/>
              <a:pathLst>
                <a:path h="774700" w="22531330">
                  <a:moveTo>
                    <a:pt x="0" y="0"/>
                  </a:moveTo>
                  <a:lnTo>
                    <a:pt x="22531330" y="0"/>
                  </a:lnTo>
                  <a:lnTo>
                    <a:pt x="22531330" y="774700"/>
                  </a:lnTo>
                  <a:lnTo>
                    <a:pt x="0" y="774700"/>
                  </a:ln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8825" y="4278100"/>
            <a:ext cx="3264909" cy="478148"/>
            <a:chOff x="0" y="0"/>
            <a:chExt cx="3559645" cy="5213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9651" cy="521313"/>
            </a:xfrm>
            <a:custGeom>
              <a:avLst/>
              <a:gdLst/>
              <a:ahLst/>
              <a:cxnLst/>
              <a:rect r="r" b="b" t="t" l="l"/>
              <a:pathLst>
                <a:path h="521313" w="3559651">
                  <a:moveTo>
                    <a:pt x="0" y="0"/>
                  </a:moveTo>
                  <a:lnTo>
                    <a:pt x="3559651" y="0"/>
                  </a:lnTo>
                  <a:lnTo>
                    <a:pt x="3559651" y="521313"/>
                  </a:lnTo>
                  <a:lnTo>
                    <a:pt x="0" y="5213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60" r="0" b="-659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559645" cy="530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76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Author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74244" y="4278100"/>
            <a:ext cx="2220506" cy="539503"/>
            <a:chOff x="0" y="0"/>
            <a:chExt cx="2025764" cy="4921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5768" cy="492189"/>
            </a:xfrm>
            <a:custGeom>
              <a:avLst/>
              <a:gdLst/>
              <a:ahLst/>
              <a:cxnLst/>
              <a:rect r="r" b="b" t="t" l="l"/>
              <a:pathLst>
                <a:path h="492189" w="2025768">
                  <a:moveTo>
                    <a:pt x="0" y="0"/>
                  </a:moveTo>
                  <a:lnTo>
                    <a:pt x="2025768" y="0"/>
                  </a:lnTo>
                  <a:lnTo>
                    <a:pt x="2025768" y="492189"/>
                  </a:lnTo>
                  <a:lnTo>
                    <a:pt x="0" y="4921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62" r="0" b="-150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025764" cy="501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76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Year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056" y="4221405"/>
            <a:ext cx="2320377" cy="652893"/>
            <a:chOff x="0" y="0"/>
            <a:chExt cx="2477478" cy="6970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7472" cy="697098"/>
            </a:xfrm>
            <a:custGeom>
              <a:avLst/>
              <a:gdLst/>
              <a:ahLst/>
              <a:cxnLst/>
              <a:rect r="r" b="b" t="t" l="l"/>
              <a:pathLst>
                <a:path h="697098" w="2477472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654" r="0" b="61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76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Study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0241" y="8367265"/>
            <a:ext cx="15735300" cy="1543050"/>
            <a:chOff x="0" y="0"/>
            <a:chExt cx="20980400" cy="205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804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20980400">
                  <a:moveTo>
                    <a:pt x="0" y="269875"/>
                  </a:moveTo>
                  <a:cubicBezTo>
                    <a:pt x="0" y="120777"/>
                    <a:pt x="120777" y="0"/>
                    <a:pt x="269875" y="0"/>
                  </a:cubicBezTo>
                  <a:lnTo>
                    <a:pt x="20710525" y="0"/>
                  </a:lnTo>
                  <a:cubicBezTo>
                    <a:pt x="20859623" y="0"/>
                    <a:pt x="20980400" y="120777"/>
                    <a:pt x="20980400" y="269875"/>
                  </a:cubicBezTo>
                  <a:lnTo>
                    <a:pt x="20980400" y="1787525"/>
                  </a:lnTo>
                  <a:cubicBezTo>
                    <a:pt x="20980400" y="1936623"/>
                    <a:pt x="20859623" y="2057400"/>
                    <a:pt x="20710525" y="2057400"/>
                  </a:cubicBezTo>
                  <a:lnTo>
                    <a:pt x="269875" y="2057400"/>
                  </a:lnTo>
                  <a:cubicBezTo>
                    <a:pt x="120777" y="2057400"/>
                    <a:pt x="0" y="1936623"/>
                    <a:pt x="0" y="1787525"/>
                  </a:cubicBezTo>
                  <a:close/>
                </a:path>
              </a:pathLst>
            </a:custGeom>
            <a:solidFill>
              <a:srgbClr val="F1E3D8">
                <a:alpha val="63922"/>
              </a:srgbClr>
            </a:solidFill>
            <a:ln w="9526" cap="sq">
              <a:solidFill>
                <a:srgbClr val="C56A4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074" y="8606276"/>
            <a:ext cx="114300" cy="114300"/>
            <a:chOff x="0" y="0"/>
            <a:chExt cx="152400" cy="15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33677" y="8529037"/>
            <a:ext cx="2377011" cy="266700"/>
            <a:chOff x="0" y="0"/>
            <a:chExt cx="3169348" cy="355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69344" cy="355600"/>
            </a:xfrm>
            <a:custGeom>
              <a:avLst/>
              <a:gdLst/>
              <a:ahLst/>
              <a:cxnLst/>
              <a:rect r="r" b="b" t="t" l="l"/>
              <a:pathLst>
                <a:path h="355600" w="3169344">
                  <a:moveTo>
                    <a:pt x="0" y="0"/>
                  </a:moveTo>
                  <a:lnTo>
                    <a:pt x="3169344" y="0"/>
                  </a:lnTo>
                  <a:lnTo>
                    <a:pt x="3169344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663" r="0" b="-1236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16934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12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GAP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37224" y="8957662"/>
            <a:ext cx="18914221" cy="72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940">
                <a:solidFill>
                  <a:srgbClr val="5B3F31"/>
                </a:solidFill>
                <a:latin typeface="Arimo"/>
                <a:ea typeface="Arimo"/>
                <a:cs typeface="Arimo"/>
                <a:sym typeface="Arimo"/>
              </a:rPr>
              <a:t>“A dedicated tourist-safety system combining real-time location detection, geofencing, risk monitoring, safety alerts, SOS and</a:t>
            </a:r>
          </a:p>
          <a:p>
            <a:pPr algn="l">
              <a:lnSpc>
                <a:spcPts val="2624"/>
              </a:lnSpc>
            </a:pPr>
            <a:r>
              <a:rPr lang="en-US" sz="1940">
                <a:solidFill>
                  <a:srgbClr val="5B3F31"/>
                </a:solidFill>
                <a:latin typeface="Arimo"/>
                <a:ea typeface="Arimo"/>
                <a:cs typeface="Arimo"/>
                <a:sym typeface="Arimo"/>
              </a:rPr>
              <a:t>incident response can provide a more focused and proactive safety solution for travellers.”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4728" y="7767190"/>
            <a:ext cx="169486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43998" y="4779503"/>
            <a:ext cx="2724377" cy="87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Gonzá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lez-Reverté, Díaz-Luque, Gomis-López &amp; Morales-Pérez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5314" y="5988838"/>
            <a:ext cx="2892719" cy="87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16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16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eethi Warrier, Aliza Shaikh, Sanika Patil, Divyal Vighe &amp; Yash Sawant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3998" y="7278002"/>
            <a:ext cx="2907058" cy="55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G. V.</a:t>
            </a: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Sonawane, Ashwini Gaidhani &amp; Vaishnavi Patil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69816" y="5009846"/>
            <a:ext cx="2692471" cy="27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6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2018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269816" y="6295316"/>
            <a:ext cx="2692471" cy="27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6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9816" y="7452156"/>
            <a:ext cx="2692471" cy="27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6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03415" y="4890050"/>
            <a:ext cx="2395078" cy="102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Tourists’ 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 Perception and the Use of Mobile Devices in Beach Tourism Destinations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03415" y="6177940"/>
            <a:ext cx="2395078" cy="76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Days: Tourist Safety and Incident Response System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03415" y="7208568"/>
            <a:ext cx="2395078" cy="76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Tou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rist Safety Monitoring and Incident Response System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539146" y="4221405"/>
            <a:ext cx="2320377" cy="652893"/>
            <a:chOff x="0" y="0"/>
            <a:chExt cx="2477478" cy="6970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77472" cy="697098"/>
            </a:xfrm>
            <a:custGeom>
              <a:avLst/>
              <a:gdLst/>
              <a:ahLst/>
              <a:cxnLst/>
              <a:rect r="r" b="b" t="t" l="l"/>
              <a:pathLst>
                <a:path h="697098" w="2477472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654" r="0" b="61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76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Objective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194125" y="5009846"/>
            <a:ext cx="2671524" cy="56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technology, tourist risk perception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18016" y="6047671"/>
            <a:ext cx="2695414" cy="85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</a:pPr>
            <a:r>
              <a:rPr lang="en-US" sz="16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geolocation, dynamic geofencing, SOS, dashboard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57264" y="7167339"/>
            <a:ext cx="2545246" cy="80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</a:t>
            </a:r>
            <a:r>
              <a:rPr lang="en-US" sz="1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computing, cloud infrastructure, geolocation, AI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793098" y="4144877"/>
            <a:ext cx="2320377" cy="652893"/>
            <a:chOff x="0" y="0"/>
            <a:chExt cx="2477478" cy="6970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7472" cy="697098"/>
            </a:xfrm>
            <a:custGeom>
              <a:avLst/>
              <a:gdLst/>
              <a:ahLst/>
              <a:cxnLst/>
              <a:rect r="r" b="b" t="t" l="l"/>
              <a:pathLst>
                <a:path h="697098" w="2477472">
                  <a:moveTo>
                    <a:pt x="0" y="0"/>
                  </a:moveTo>
                  <a:lnTo>
                    <a:pt x="2477472" y="0"/>
                  </a:lnTo>
                  <a:lnTo>
                    <a:pt x="2477472" y="697098"/>
                  </a:lnTo>
                  <a:lnTo>
                    <a:pt x="0" y="6970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654" r="0" b="61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477478" cy="706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76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Finding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731461" y="4974729"/>
            <a:ext cx="4443651" cy="85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that m</a:t>
            </a: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obile technology can influence how tourists perceive and manage safety risks.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54098" y="6047671"/>
            <a:ext cx="4798376" cy="85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Very closely related t</a:t>
            </a: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SafarShield. It demonstrates the usefulness of geofencing and real-time location monitoring for tourist safety.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76736" y="7120612"/>
            <a:ext cx="4798376" cy="85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Combines geolocation, cloud techn</a:t>
            </a:r>
            <a:r>
              <a:rPr lang="en-US" sz="16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ologies and AI for tourist safety, showing the potential of an integrated approach.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074" y="1058618"/>
            <a:ext cx="13511393" cy="847725"/>
            <a:chOff x="0" y="0"/>
            <a:chExt cx="18015191" cy="1130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15189" cy="1130299"/>
            </a:xfrm>
            <a:custGeom>
              <a:avLst/>
              <a:gdLst/>
              <a:ahLst/>
              <a:cxnLst/>
              <a:rect r="r" b="b" t="t" l="l"/>
              <a:pathLst>
                <a:path h="1130299" w="18015189">
                  <a:moveTo>
                    <a:pt x="0" y="0"/>
                  </a:moveTo>
                  <a:lnTo>
                    <a:pt x="18015189" y="0"/>
                  </a:lnTo>
                  <a:lnTo>
                    <a:pt x="18015189" y="1130299"/>
                  </a:lnTo>
                  <a:lnTo>
                    <a:pt x="0" y="11302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0560" r="0" b="-26056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8015191" cy="1120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76"/>
                </a:lnSpc>
              </a:pPr>
              <a:r>
                <a:rPr lang="en-US" b="true" sz="5480" spc="-274">
                  <a:solidFill>
                    <a:srgbClr val="2431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Methodology &amp; System Workflow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0898" y="2440059"/>
            <a:ext cx="15941902" cy="3231326"/>
            <a:chOff x="0" y="0"/>
            <a:chExt cx="22018565" cy="44630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18566" cy="4463028"/>
            </a:xfrm>
            <a:custGeom>
              <a:avLst/>
              <a:gdLst/>
              <a:ahLst/>
              <a:cxnLst/>
              <a:rect r="r" b="b" t="t" l="l"/>
              <a:pathLst>
                <a:path h="4463028" w="22018566">
                  <a:moveTo>
                    <a:pt x="0" y="266273"/>
                  </a:moveTo>
                  <a:cubicBezTo>
                    <a:pt x="0" y="119182"/>
                    <a:pt x="126354" y="0"/>
                    <a:pt x="282296" y="0"/>
                  </a:cubicBezTo>
                  <a:lnTo>
                    <a:pt x="21736269" y="0"/>
                  </a:lnTo>
                  <a:cubicBezTo>
                    <a:pt x="21892211" y="0"/>
                    <a:pt x="22018566" y="119182"/>
                    <a:pt x="22018566" y="266273"/>
                  </a:cubicBezTo>
                  <a:lnTo>
                    <a:pt x="22018566" y="4196755"/>
                  </a:lnTo>
                  <a:cubicBezTo>
                    <a:pt x="22018566" y="4343847"/>
                    <a:pt x="21892211" y="4463028"/>
                    <a:pt x="21736269" y="4463028"/>
                  </a:cubicBezTo>
                  <a:lnTo>
                    <a:pt x="282296" y="4463028"/>
                  </a:lnTo>
                  <a:cubicBezTo>
                    <a:pt x="126354" y="4463028"/>
                    <a:pt x="0" y="4343846"/>
                    <a:pt x="0" y="4196755"/>
                  </a:cubicBezTo>
                  <a:close/>
                </a:path>
              </a:pathLst>
            </a:custGeom>
            <a:solidFill>
              <a:srgbClr val="E8EDE8">
                <a:alpha val="63922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08970" y="2534292"/>
            <a:ext cx="4828880" cy="274240"/>
            <a:chOff x="0" y="0"/>
            <a:chExt cx="5366982" cy="30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6981" cy="304800"/>
            </a:xfrm>
            <a:custGeom>
              <a:avLst/>
              <a:gdLst/>
              <a:ahLst/>
              <a:cxnLst/>
              <a:rect r="r" b="b" t="t" l="l"/>
              <a:pathLst>
                <a:path h="304800" w="5366981">
                  <a:moveTo>
                    <a:pt x="0" y="0"/>
                  </a:moveTo>
                  <a:lnTo>
                    <a:pt x="5366981" y="0"/>
                  </a:lnTo>
                  <a:lnTo>
                    <a:pt x="536698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3096" r="0" b="-2930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366982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18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SAFETY DECISION PIPELINE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3607" y="2968447"/>
            <a:ext cx="4991100" cy="742950"/>
            <a:chOff x="0" y="0"/>
            <a:chExt cx="6654800" cy="9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5559" y="3227337"/>
            <a:ext cx="337376" cy="209550"/>
            <a:chOff x="0" y="0"/>
            <a:chExt cx="449834" cy="279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45777" y="3111256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28082" y="3193552"/>
            <a:ext cx="292598" cy="292598"/>
            <a:chOff x="0" y="0"/>
            <a:chExt cx="390131" cy="390131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21591" y="3168262"/>
            <a:ext cx="2820225" cy="277112"/>
            <a:chOff x="0" y="0"/>
            <a:chExt cx="3102013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2016" cy="304800"/>
            </a:xfrm>
            <a:custGeom>
              <a:avLst/>
              <a:gdLst/>
              <a:ahLst/>
              <a:cxnLst/>
              <a:rect r="r" b="b" t="t" l="l"/>
              <a:pathLst>
                <a:path h="304800" w="3102016">
                  <a:moveTo>
                    <a:pt x="0" y="0"/>
                  </a:moveTo>
                  <a:lnTo>
                    <a:pt x="3102016" y="0"/>
                  </a:lnTo>
                  <a:lnTo>
                    <a:pt x="3102016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303" r="0" b="-1483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102013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Tourist Registration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48450" y="2968447"/>
            <a:ext cx="4991100" cy="742950"/>
            <a:chOff x="0" y="0"/>
            <a:chExt cx="6654800" cy="990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00402" y="3227337"/>
            <a:ext cx="337376" cy="209550"/>
            <a:chOff x="0" y="0"/>
            <a:chExt cx="449834" cy="279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90620" y="3111256"/>
            <a:ext cx="457200" cy="457200"/>
            <a:chOff x="0" y="0"/>
            <a:chExt cx="60960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172916" y="3193552"/>
            <a:ext cx="292598" cy="292598"/>
            <a:chOff x="0" y="0"/>
            <a:chExt cx="390131" cy="390131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66434" y="3141801"/>
            <a:ext cx="3056125" cy="303572"/>
            <a:chOff x="0" y="0"/>
            <a:chExt cx="3068485" cy="304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68480" cy="304800"/>
            </a:xfrm>
            <a:custGeom>
              <a:avLst/>
              <a:gdLst/>
              <a:ahLst/>
              <a:cxnLst/>
              <a:rect r="r" b="b" t="t" l="l"/>
              <a:pathLst>
                <a:path h="304800" w="3068480">
                  <a:moveTo>
                    <a:pt x="0" y="0"/>
                  </a:moveTo>
                  <a:lnTo>
                    <a:pt x="3068480" y="0"/>
                  </a:lnTo>
                  <a:lnTo>
                    <a:pt x="306848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159" r="0" b="-14615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068485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GPS / Location Data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793293" y="2968447"/>
            <a:ext cx="4991100" cy="742950"/>
            <a:chOff x="0" y="0"/>
            <a:chExt cx="6654800" cy="990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945245" y="3227337"/>
            <a:ext cx="337376" cy="209550"/>
            <a:chOff x="0" y="0"/>
            <a:chExt cx="449834" cy="279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35463" y="3111256"/>
            <a:ext cx="457200" cy="457200"/>
            <a:chOff x="0" y="0"/>
            <a:chExt cx="609600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17759" y="3193552"/>
            <a:ext cx="292598" cy="292598"/>
            <a:chOff x="0" y="0"/>
            <a:chExt cx="390131" cy="390131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811277" y="3168262"/>
            <a:ext cx="2308468" cy="277112"/>
            <a:chOff x="0" y="0"/>
            <a:chExt cx="2539124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39128" cy="304800"/>
            </a:xfrm>
            <a:custGeom>
              <a:avLst/>
              <a:gdLst/>
              <a:ahLst/>
              <a:cxnLst/>
              <a:rect r="r" b="b" t="t" l="l"/>
              <a:pathLst>
                <a:path h="304800" w="2539128">
                  <a:moveTo>
                    <a:pt x="0" y="0"/>
                  </a:moveTo>
                  <a:lnTo>
                    <a:pt x="2539128" y="0"/>
                  </a:lnTo>
                  <a:lnTo>
                    <a:pt x="2539128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319" r="0" b="-1123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539124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 Processing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03607" y="3863207"/>
            <a:ext cx="4991100" cy="742950"/>
            <a:chOff x="0" y="0"/>
            <a:chExt cx="6654800" cy="990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655559" y="4122096"/>
            <a:ext cx="337376" cy="209550"/>
            <a:chOff x="0" y="0"/>
            <a:chExt cx="449834" cy="279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45777" y="4006005"/>
            <a:ext cx="457200" cy="457200"/>
            <a:chOff x="0" y="0"/>
            <a:chExt cx="609600" cy="609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028082" y="4088311"/>
            <a:ext cx="292598" cy="292598"/>
            <a:chOff x="0" y="0"/>
            <a:chExt cx="390131" cy="390131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521591" y="4006005"/>
            <a:ext cx="2020133" cy="334118"/>
            <a:chOff x="0" y="0"/>
            <a:chExt cx="1842872" cy="304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42869" cy="304800"/>
            </a:xfrm>
            <a:custGeom>
              <a:avLst/>
              <a:gdLst/>
              <a:ahLst/>
              <a:cxnLst/>
              <a:rect r="r" b="b" t="t" l="l"/>
              <a:pathLst>
                <a:path h="304800" w="1842869">
                  <a:moveTo>
                    <a:pt x="0" y="0"/>
                  </a:moveTo>
                  <a:lnTo>
                    <a:pt x="1842869" y="0"/>
                  </a:lnTo>
                  <a:lnTo>
                    <a:pt x="184286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809" r="0" b="-678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842872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Geofencing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48450" y="3863207"/>
            <a:ext cx="4991100" cy="742950"/>
            <a:chOff x="0" y="0"/>
            <a:chExt cx="6654800" cy="990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800402" y="4122096"/>
            <a:ext cx="337376" cy="209550"/>
            <a:chOff x="0" y="0"/>
            <a:chExt cx="449834" cy="279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90620" y="4006005"/>
            <a:ext cx="457200" cy="457200"/>
            <a:chOff x="0" y="0"/>
            <a:chExt cx="6096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172916" y="4088311"/>
            <a:ext cx="292598" cy="292598"/>
            <a:chOff x="0" y="0"/>
            <a:chExt cx="390131" cy="390131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666434" y="4054681"/>
            <a:ext cx="2449859" cy="285443"/>
            <a:chOff x="0" y="0"/>
            <a:chExt cx="2615997" cy="304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16003" cy="304800"/>
            </a:xfrm>
            <a:custGeom>
              <a:avLst/>
              <a:gdLst/>
              <a:ahLst/>
              <a:cxnLst/>
              <a:rect r="r" b="b" t="t" l="l"/>
              <a:pathLst>
                <a:path h="304800" w="2616003">
                  <a:moveTo>
                    <a:pt x="0" y="0"/>
                  </a:moveTo>
                  <a:lnTo>
                    <a:pt x="2616003" y="0"/>
                  </a:lnTo>
                  <a:lnTo>
                    <a:pt x="2616003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233" r="0" b="-11723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615997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Risk Assessment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793293" y="3863207"/>
            <a:ext cx="4991100" cy="742950"/>
            <a:chOff x="0" y="0"/>
            <a:chExt cx="6654800" cy="990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1945245" y="4122096"/>
            <a:ext cx="337376" cy="209550"/>
            <a:chOff x="0" y="0"/>
            <a:chExt cx="449834" cy="279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06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35463" y="4006005"/>
            <a:ext cx="457200" cy="457200"/>
            <a:chOff x="0" y="0"/>
            <a:chExt cx="609600" cy="609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317759" y="4088311"/>
            <a:ext cx="292598" cy="292598"/>
            <a:chOff x="0" y="0"/>
            <a:chExt cx="390131" cy="390131"/>
          </a:xfrm>
        </p:grpSpPr>
        <p:sp>
          <p:nvSpPr>
            <p:cNvPr name="Freeform 82" id="82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811277" y="4084505"/>
            <a:ext cx="2889223" cy="255618"/>
            <a:chOff x="0" y="0"/>
            <a:chExt cx="3445116" cy="304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45112" cy="304800"/>
            </a:xfrm>
            <a:custGeom>
              <a:avLst/>
              <a:gdLst/>
              <a:ahLst/>
              <a:cxnLst/>
              <a:rect r="r" b="b" t="t" l="l"/>
              <a:pathLst>
                <a:path h="304800" w="3445112">
                  <a:moveTo>
                    <a:pt x="0" y="0"/>
                  </a:moveTo>
                  <a:lnTo>
                    <a:pt x="3445112" y="0"/>
                  </a:lnTo>
                  <a:lnTo>
                    <a:pt x="344511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236" r="0" b="-1702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3445116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Safety Alert / Warning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03607" y="4757957"/>
            <a:ext cx="4991100" cy="742950"/>
            <a:chOff x="0" y="0"/>
            <a:chExt cx="6654800" cy="990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655559" y="5016846"/>
            <a:ext cx="337376" cy="209550"/>
            <a:chOff x="0" y="0"/>
            <a:chExt cx="449834" cy="279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07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945777" y="4900765"/>
            <a:ext cx="457200" cy="457200"/>
            <a:chOff x="0" y="0"/>
            <a:chExt cx="609600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028082" y="4983061"/>
            <a:ext cx="292598" cy="292598"/>
            <a:chOff x="0" y="0"/>
            <a:chExt cx="390131" cy="390131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3" b="3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521591" y="4923989"/>
            <a:ext cx="3593459" cy="310894"/>
            <a:chOff x="0" y="0"/>
            <a:chExt cx="3523018" cy="304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23019" cy="304800"/>
            </a:xfrm>
            <a:custGeom>
              <a:avLst/>
              <a:gdLst/>
              <a:ahLst/>
              <a:cxnLst/>
              <a:rect r="r" b="b" t="t" l="l"/>
              <a:pathLst>
                <a:path h="304800" w="3523019">
                  <a:moveTo>
                    <a:pt x="0" y="0"/>
                  </a:moveTo>
                  <a:lnTo>
                    <a:pt x="3523019" y="0"/>
                  </a:lnTo>
                  <a:lnTo>
                    <a:pt x="352301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217" r="0" b="-17521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523018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SOS or Incident Report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648450" y="4757957"/>
            <a:ext cx="4991100" cy="742950"/>
            <a:chOff x="0" y="0"/>
            <a:chExt cx="6654800" cy="990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6800402" y="5016846"/>
            <a:ext cx="337376" cy="209550"/>
            <a:chOff x="0" y="0"/>
            <a:chExt cx="449834" cy="279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08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090620" y="4900765"/>
            <a:ext cx="457200" cy="457200"/>
            <a:chOff x="0" y="0"/>
            <a:chExt cx="609600" cy="6096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7172916" y="4983061"/>
            <a:ext cx="292598" cy="292598"/>
            <a:chOff x="0" y="0"/>
            <a:chExt cx="390131" cy="390131"/>
          </a:xfrm>
        </p:grpSpPr>
        <p:sp>
          <p:nvSpPr>
            <p:cNvPr name="Freeform 106" id="106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3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666434" y="4983061"/>
            <a:ext cx="2708628" cy="251822"/>
            <a:chOff x="0" y="0"/>
            <a:chExt cx="3278467" cy="304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278464" cy="304800"/>
            </a:xfrm>
            <a:custGeom>
              <a:avLst/>
              <a:gdLst/>
              <a:ahLst/>
              <a:cxnLst/>
              <a:rect r="r" b="b" t="t" l="l"/>
              <a:pathLst>
                <a:path h="304800" w="3278464">
                  <a:moveTo>
                    <a:pt x="0" y="0"/>
                  </a:moveTo>
                  <a:lnTo>
                    <a:pt x="3278464" y="0"/>
                  </a:lnTo>
                  <a:lnTo>
                    <a:pt x="3278464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583" r="0" b="-15958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278467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Authority Dashboard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793293" y="4757957"/>
            <a:ext cx="4991100" cy="742950"/>
            <a:chOff x="0" y="0"/>
            <a:chExt cx="6654800" cy="990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654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654800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6494272" y="0"/>
                  </a:lnTo>
                  <a:cubicBezTo>
                    <a:pt x="6582918" y="0"/>
                    <a:pt x="6654800" y="71882"/>
                    <a:pt x="6654800" y="160528"/>
                  </a:cubicBezTo>
                  <a:lnTo>
                    <a:pt x="6654800" y="830072"/>
                  </a:lnTo>
                  <a:cubicBezTo>
                    <a:pt x="6654800" y="918718"/>
                    <a:pt x="6582918" y="990600"/>
                    <a:pt x="6494272" y="990600"/>
                  </a:cubicBezTo>
                  <a:lnTo>
                    <a:pt x="160528" y="990600"/>
                  </a:lnTo>
                  <a:cubicBezTo>
                    <a:pt x="71882" y="990600"/>
                    <a:pt x="0" y="918718"/>
                    <a:pt x="0" y="830072"/>
                  </a:cubicBezTo>
                  <a:close/>
                </a:path>
              </a:pathLst>
            </a:custGeom>
            <a:solidFill>
              <a:srgbClr val="DFE8E4"/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945245" y="5016846"/>
            <a:ext cx="337376" cy="209550"/>
            <a:chOff x="0" y="0"/>
            <a:chExt cx="449834" cy="279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49837" cy="279400"/>
            </a:xfrm>
            <a:custGeom>
              <a:avLst/>
              <a:gdLst/>
              <a:ahLst/>
              <a:cxnLst/>
              <a:rect r="r" b="b" t="t" l="l"/>
              <a:pathLst>
                <a:path h="279400" w="449837">
                  <a:moveTo>
                    <a:pt x="0" y="0"/>
                  </a:moveTo>
                  <a:lnTo>
                    <a:pt x="449837" y="0"/>
                  </a:lnTo>
                  <a:lnTo>
                    <a:pt x="449837" y="279400"/>
                  </a:lnTo>
                  <a:lnTo>
                    <a:pt x="0" y="27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91" t="0" r="-29690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449834" cy="28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09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235463" y="4900765"/>
            <a:ext cx="457200" cy="457200"/>
            <a:chOff x="0" y="0"/>
            <a:chExt cx="609600" cy="609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D5DFDB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317759" y="4983061"/>
            <a:ext cx="292598" cy="292598"/>
            <a:chOff x="0" y="0"/>
            <a:chExt cx="390131" cy="390131"/>
          </a:xfrm>
        </p:grpSpPr>
        <p:sp>
          <p:nvSpPr>
            <p:cNvPr name="Freeform 118" id="118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3" b="3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730763" y="4967362"/>
            <a:ext cx="4262037" cy="267521"/>
            <a:chOff x="0" y="0"/>
            <a:chExt cx="4855947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55944" cy="304800"/>
            </a:xfrm>
            <a:custGeom>
              <a:avLst/>
              <a:gdLst/>
              <a:ahLst/>
              <a:cxnLst/>
              <a:rect r="r" b="b" t="t" l="l"/>
              <a:pathLst>
                <a:path h="304800" w="4855944">
                  <a:moveTo>
                    <a:pt x="0" y="0"/>
                  </a:moveTo>
                  <a:lnTo>
                    <a:pt x="4855944" y="0"/>
                  </a:lnTo>
                  <a:lnTo>
                    <a:pt x="4855944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0427" r="0" b="-26042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4855947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Response &amp; Incident Resolution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12341" y="5970999"/>
            <a:ext cx="9315941" cy="2640186"/>
            <a:chOff x="0" y="0"/>
            <a:chExt cx="11785600" cy="33401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785600" cy="3340100"/>
            </a:xfrm>
            <a:custGeom>
              <a:avLst/>
              <a:gdLst/>
              <a:ahLst/>
              <a:cxnLst/>
              <a:rect r="r" b="b" t="t" l="l"/>
              <a:pathLst>
                <a:path h="3340100" w="11785600">
                  <a:moveTo>
                    <a:pt x="0" y="269240"/>
                  </a:moveTo>
                  <a:cubicBezTo>
                    <a:pt x="0" y="120523"/>
                    <a:pt x="120523" y="0"/>
                    <a:pt x="269240" y="0"/>
                  </a:cubicBezTo>
                  <a:lnTo>
                    <a:pt x="11516360" y="0"/>
                  </a:lnTo>
                  <a:cubicBezTo>
                    <a:pt x="11665077" y="0"/>
                    <a:pt x="11785600" y="120523"/>
                    <a:pt x="11785600" y="269240"/>
                  </a:cubicBezTo>
                  <a:lnTo>
                    <a:pt x="11785600" y="3070860"/>
                  </a:lnTo>
                  <a:cubicBezTo>
                    <a:pt x="11785600" y="3219577"/>
                    <a:pt x="11665077" y="3340100"/>
                    <a:pt x="11516360" y="3340100"/>
                  </a:cubicBezTo>
                  <a:lnTo>
                    <a:pt x="269240" y="3340100"/>
                  </a:lnTo>
                  <a:cubicBezTo>
                    <a:pt x="120523" y="3340100"/>
                    <a:pt x="0" y="3219577"/>
                    <a:pt x="0" y="3070860"/>
                  </a:cubicBezTo>
                  <a:close/>
                </a:path>
              </a:pathLst>
            </a:custGeom>
            <a:solidFill>
              <a:srgbClr val="EAEEEA">
                <a:alpha val="56078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45584" y="6195260"/>
            <a:ext cx="2501554" cy="255841"/>
            <a:chOff x="0" y="0"/>
            <a:chExt cx="2980258" cy="304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980253" cy="304800"/>
            </a:xfrm>
            <a:custGeom>
              <a:avLst/>
              <a:gdLst/>
              <a:ahLst/>
              <a:cxnLst/>
              <a:rect r="r" b="b" t="t" l="l"/>
              <a:pathLst>
                <a:path h="304800" w="2980253">
                  <a:moveTo>
                    <a:pt x="0" y="0"/>
                  </a:moveTo>
                  <a:lnTo>
                    <a:pt x="2980253" y="0"/>
                  </a:lnTo>
                  <a:lnTo>
                    <a:pt x="2980253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519" r="0" b="-14051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2980258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18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ARCHITECTURE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65544" y="6691017"/>
            <a:ext cx="600075" cy="600075"/>
            <a:chOff x="0" y="0"/>
            <a:chExt cx="800100" cy="8001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919288" y="6844751"/>
            <a:ext cx="292598" cy="292598"/>
            <a:chOff x="0" y="0"/>
            <a:chExt cx="390131" cy="390131"/>
          </a:xfrm>
        </p:grpSpPr>
        <p:sp>
          <p:nvSpPr>
            <p:cNvPr name="Freeform 130" id="130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11275" y="7358055"/>
            <a:ext cx="1869003" cy="327759"/>
            <a:chOff x="0" y="0"/>
            <a:chExt cx="1955343" cy="3429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955344" cy="342901"/>
            </a:xfrm>
            <a:custGeom>
              <a:avLst/>
              <a:gdLst/>
              <a:ahLst/>
              <a:cxnLst/>
              <a:rect r="r" b="b" t="t" l="l"/>
              <a:pathLst>
                <a:path h="342901" w="1955344">
                  <a:moveTo>
                    <a:pt x="0" y="0"/>
                  </a:moveTo>
                  <a:lnTo>
                    <a:pt x="1955344" y="0"/>
                  </a:lnTo>
                  <a:lnTo>
                    <a:pt x="1955344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110" r="0" b="-6111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1955343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Tourist App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723445" y="6844751"/>
            <a:ext cx="452885" cy="428625"/>
            <a:chOff x="0" y="0"/>
            <a:chExt cx="603847" cy="5715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03845" cy="571501"/>
            </a:xfrm>
            <a:custGeom>
              <a:avLst/>
              <a:gdLst/>
              <a:ahLst/>
              <a:cxnLst/>
              <a:rect r="r" b="b" t="t" l="l"/>
              <a:pathLst>
                <a:path h="571501" w="603845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430" t="0" r="-71431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3561159" y="6691017"/>
            <a:ext cx="600075" cy="600075"/>
            <a:chOff x="0" y="0"/>
            <a:chExt cx="800100" cy="8001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3714902" y="6844751"/>
            <a:ext cx="292598" cy="292598"/>
            <a:chOff x="0" y="0"/>
            <a:chExt cx="390131" cy="390131"/>
          </a:xfrm>
        </p:grpSpPr>
        <p:sp>
          <p:nvSpPr>
            <p:cNvPr name="Freeform 140" id="140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2834316" y="7415651"/>
            <a:ext cx="1761173" cy="257175"/>
            <a:chOff x="0" y="0"/>
            <a:chExt cx="2348230" cy="3429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348229" cy="342901"/>
            </a:xfrm>
            <a:custGeom>
              <a:avLst/>
              <a:gdLst/>
              <a:ahLst/>
              <a:cxnLst/>
              <a:rect r="r" b="b" t="t" l="l"/>
              <a:pathLst>
                <a:path h="342901" w="2348229">
                  <a:moveTo>
                    <a:pt x="0" y="0"/>
                  </a:moveTo>
                  <a:lnTo>
                    <a:pt x="2348229" y="0"/>
                  </a:lnTo>
                  <a:lnTo>
                    <a:pt x="2348229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436" r="0" b="-8343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2348230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Backend / API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740735" y="6867716"/>
            <a:ext cx="452885" cy="428625"/>
            <a:chOff x="0" y="0"/>
            <a:chExt cx="603847" cy="5715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03845" cy="571501"/>
            </a:xfrm>
            <a:custGeom>
              <a:avLst/>
              <a:gdLst/>
              <a:ahLst/>
              <a:cxnLst/>
              <a:rect r="r" b="b" t="t" l="l"/>
              <a:pathLst>
                <a:path h="571501" w="603845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430" t="0" r="-71431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5891508" y="6691017"/>
            <a:ext cx="600075" cy="600075"/>
            <a:chOff x="0" y="0"/>
            <a:chExt cx="800100" cy="8001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6045251" y="6844751"/>
            <a:ext cx="292598" cy="292598"/>
            <a:chOff x="0" y="0"/>
            <a:chExt cx="390131" cy="390131"/>
          </a:xfrm>
        </p:grpSpPr>
        <p:sp>
          <p:nvSpPr>
            <p:cNvPr name="Freeform 150" id="150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296873" y="7329522"/>
            <a:ext cx="4081953" cy="367437"/>
            <a:chOff x="0" y="0"/>
            <a:chExt cx="3809365" cy="3429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809365" cy="342901"/>
            </a:xfrm>
            <a:custGeom>
              <a:avLst/>
              <a:gdLst/>
              <a:ahLst/>
              <a:cxnLst/>
              <a:rect r="r" b="b" t="t" l="l"/>
              <a:pathLst>
                <a:path h="342901" w="3809365">
                  <a:moveTo>
                    <a:pt x="0" y="0"/>
                  </a:moveTo>
                  <a:lnTo>
                    <a:pt x="3809365" y="0"/>
                  </a:lnTo>
                  <a:lnTo>
                    <a:pt x="3809365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6463" r="0" b="-166463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9525"/>
              <a:ext cx="3809365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Database + Risk Engine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7456770" y="6860038"/>
            <a:ext cx="452885" cy="428625"/>
            <a:chOff x="0" y="0"/>
            <a:chExt cx="603847" cy="5715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03845" cy="571501"/>
            </a:xfrm>
            <a:custGeom>
              <a:avLst/>
              <a:gdLst/>
              <a:ahLst/>
              <a:cxnLst/>
              <a:rect r="r" b="b" t="t" l="l"/>
              <a:pathLst>
                <a:path h="571501" w="603845">
                  <a:moveTo>
                    <a:pt x="0" y="0"/>
                  </a:moveTo>
                  <a:lnTo>
                    <a:pt x="603845" y="0"/>
                  </a:lnTo>
                  <a:lnTo>
                    <a:pt x="603845" y="571501"/>
                  </a:lnTo>
                  <a:lnTo>
                    <a:pt x="0" y="5715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1430" t="0" r="-71431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603847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8567738" y="6691017"/>
            <a:ext cx="600075" cy="600075"/>
            <a:chOff x="0" y="0"/>
            <a:chExt cx="800100" cy="8001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05028" y="0"/>
                  </a:lnTo>
                  <a:cubicBezTo>
                    <a:pt x="712724" y="0"/>
                    <a:pt x="800100" y="87376"/>
                    <a:pt x="800100" y="195072"/>
                  </a:cubicBezTo>
                  <a:lnTo>
                    <a:pt x="800100" y="605028"/>
                  </a:lnTo>
                  <a:cubicBezTo>
                    <a:pt x="800100" y="712724"/>
                    <a:pt x="712724" y="800100"/>
                    <a:pt x="605028" y="800100"/>
                  </a:cubicBezTo>
                  <a:lnTo>
                    <a:pt x="195072" y="800100"/>
                  </a:lnTo>
                  <a:cubicBezTo>
                    <a:pt x="87376" y="800100"/>
                    <a:pt x="0" y="712724"/>
                    <a:pt x="0" y="605028"/>
                  </a:cubicBezTo>
                  <a:close/>
                </a:path>
              </a:pathLst>
            </a:custGeom>
            <a:solidFill>
              <a:srgbClr val="CBD7D5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8721481" y="6844751"/>
            <a:ext cx="292598" cy="292598"/>
            <a:chOff x="0" y="0"/>
            <a:chExt cx="390131" cy="390131"/>
          </a:xfrm>
        </p:grpSpPr>
        <p:sp>
          <p:nvSpPr>
            <p:cNvPr name="Freeform 160" id="160" descr="preencoded.png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90144"/>
                  </a:lnTo>
                  <a:lnTo>
                    <a:pt x="0" y="39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3" b="3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6818518" y="7310142"/>
            <a:ext cx="4098524" cy="423583"/>
            <a:chOff x="0" y="0"/>
            <a:chExt cx="3547529" cy="36663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547528" cy="366639"/>
            </a:xfrm>
            <a:custGeom>
              <a:avLst/>
              <a:gdLst/>
              <a:ahLst/>
              <a:cxnLst/>
              <a:rect r="r" b="b" t="t" l="l"/>
              <a:pathLst>
                <a:path h="366639" w="3547528">
                  <a:moveTo>
                    <a:pt x="0" y="0"/>
                  </a:moveTo>
                  <a:lnTo>
                    <a:pt x="3547528" y="0"/>
                  </a:lnTo>
                  <a:lnTo>
                    <a:pt x="3547528" y="366639"/>
                  </a:lnTo>
                  <a:lnTo>
                    <a:pt x="0" y="3666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770" r="0" b="-13529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3547529" cy="376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431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Alert System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50898" y="7870184"/>
            <a:ext cx="9681220" cy="696297"/>
            <a:chOff x="0" y="0"/>
            <a:chExt cx="12908293" cy="928395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2908293" cy="928392"/>
            </a:xfrm>
            <a:custGeom>
              <a:avLst/>
              <a:gdLst/>
              <a:ahLst/>
              <a:cxnLst/>
              <a:rect r="r" b="b" t="t" l="l"/>
              <a:pathLst>
                <a:path h="928392" w="12908293">
                  <a:moveTo>
                    <a:pt x="0" y="0"/>
                  </a:moveTo>
                  <a:lnTo>
                    <a:pt x="12908293" y="0"/>
                  </a:lnTo>
                  <a:lnTo>
                    <a:pt x="12908293" y="928392"/>
                  </a:lnTo>
                  <a:lnTo>
                    <a:pt x="0" y="9283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0918" r="0" b="-220918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19050"/>
              <a:ext cx="12908293" cy="947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Location + Time + Movement + Nearby Incidents </a:t>
              </a:r>
              <a:r>
                <a:rPr lang="en-US" sz="1800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  <a:r>
                <a:rPr lang="en-US" sz="1800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 Risk Score </a:t>
              </a:r>
              <a:r>
                <a:rPr lang="en-US" sz="1800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  <a:r>
                <a:rPr lang="en-US" sz="1800">
                  <a:solidFill>
                    <a:srgbClr val="698D77"/>
                  </a:solidFill>
                  <a:latin typeface="Arimo"/>
                  <a:ea typeface="Arimo"/>
                  <a:cs typeface="Arimo"/>
                  <a:sym typeface="Arimo"/>
                </a:rPr>
                <a:t>LOW</a:t>
              </a:r>
              <a:r>
                <a:rPr lang="en-US" sz="1800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 / </a:t>
              </a:r>
              <a:r>
                <a:rPr lang="en-US" sz="1800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MEDIUM</a:t>
              </a:r>
              <a:r>
                <a:rPr lang="en-US" sz="1800">
                  <a:solidFill>
                    <a:srgbClr val="52636A"/>
                  </a:solidFill>
                  <a:latin typeface="Arimo"/>
                  <a:ea typeface="Arimo"/>
                  <a:cs typeface="Arimo"/>
                  <a:sym typeface="Arimo"/>
                </a:rPr>
                <a:t> / </a:t>
              </a:r>
              <a:r>
                <a:rPr lang="en-US" sz="1800">
                  <a:solidFill>
                    <a:srgbClr val="B96E61"/>
                  </a:solidFill>
                  <a:latin typeface="Arimo"/>
                  <a:ea typeface="Arimo"/>
                  <a:cs typeface="Arimo"/>
                  <a:sym typeface="Arimo"/>
                </a:rPr>
                <a:t>HIGH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0452106" y="5938085"/>
            <a:ext cx="7513110" cy="2760297"/>
            <a:chOff x="0" y="0"/>
            <a:chExt cx="10017481" cy="368039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0017506" cy="3680333"/>
            </a:xfrm>
            <a:custGeom>
              <a:avLst/>
              <a:gdLst/>
              <a:ahLst/>
              <a:cxnLst/>
              <a:rect r="r" b="b" t="t" l="l"/>
              <a:pathLst>
                <a:path h="3680333" w="10017506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9720834" y="0"/>
                  </a:lnTo>
                  <a:cubicBezTo>
                    <a:pt x="9884664" y="0"/>
                    <a:pt x="10017506" y="132842"/>
                    <a:pt x="10017506" y="296672"/>
                  </a:cubicBezTo>
                  <a:lnTo>
                    <a:pt x="10017506" y="3383661"/>
                  </a:lnTo>
                  <a:cubicBezTo>
                    <a:pt x="10017506" y="3547491"/>
                    <a:pt x="9884664" y="3680333"/>
                    <a:pt x="9720834" y="3680333"/>
                  </a:cubicBezTo>
                  <a:lnTo>
                    <a:pt x="296672" y="3680333"/>
                  </a:lnTo>
                  <a:cubicBezTo>
                    <a:pt x="132842" y="3680460"/>
                    <a:pt x="0" y="3547618"/>
                    <a:pt x="0" y="3383661"/>
                  </a:cubicBezTo>
                  <a:close/>
                </a:path>
              </a:pathLst>
            </a:custGeom>
            <a:solidFill>
              <a:srgbClr val="EAEEEA">
                <a:alpha val="56078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10720226" y="6134462"/>
            <a:ext cx="3495989" cy="293265"/>
            <a:chOff x="0" y="0"/>
            <a:chExt cx="4661319" cy="39102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4661317" cy="391024"/>
            </a:xfrm>
            <a:custGeom>
              <a:avLst/>
              <a:gdLst/>
              <a:ahLst/>
              <a:cxnLst/>
              <a:rect r="r" b="b" t="t" l="l"/>
              <a:pathLst>
                <a:path h="391024" w="4661317">
                  <a:moveTo>
                    <a:pt x="0" y="0"/>
                  </a:moveTo>
                  <a:lnTo>
                    <a:pt x="4661317" y="0"/>
                  </a:lnTo>
                  <a:lnTo>
                    <a:pt x="4661317" y="391024"/>
                  </a:lnTo>
                  <a:lnTo>
                    <a:pt x="0" y="3910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277" r="0" b="-182276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4661319" cy="400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b="true" sz="2060" spc="217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TECHNOLOGIES USED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0658155" y="6526939"/>
            <a:ext cx="4863170" cy="411977"/>
            <a:chOff x="0" y="0"/>
            <a:chExt cx="5425199" cy="45958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425200" cy="459593"/>
            </a:xfrm>
            <a:custGeom>
              <a:avLst/>
              <a:gdLst/>
              <a:ahLst/>
              <a:cxnLst/>
              <a:rect r="r" b="b" t="t" l="l"/>
              <a:pathLst>
                <a:path h="459593" w="5425200">
                  <a:moveTo>
                    <a:pt x="0" y="0"/>
                  </a:moveTo>
                  <a:lnTo>
                    <a:pt x="5425200" y="0"/>
                  </a:lnTo>
                  <a:lnTo>
                    <a:pt x="5425200" y="459593"/>
                  </a:lnTo>
                  <a:lnTo>
                    <a:pt x="0" y="459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468" r="0" b="-172548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5425199" cy="469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Frontend: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HTML/CSS/JS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4343278" y="6332628"/>
            <a:ext cx="2951577" cy="716777"/>
            <a:chOff x="0" y="0"/>
            <a:chExt cx="3045044" cy="739475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045044" cy="739479"/>
            </a:xfrm>
            <a:custGeom>
              <a:avLst/>
              <a:gdLst/>
              <a:ahLst/>
              <a:cxnLst/>
              <a:rect r="r" b="b" t="t" l="l"/>
              <a:pathLst>
                <a:path h="739479" w="3045044">
                  <a:moveTo>
                    <a:pt x="0" y="0"/>
                  </a:moveTo>
                  <a:lnTo>
                    <a:pt x="3045044" y="0"/>
                  </a:lnTo>
                  <a:lnTo>
                    <a:pt x="3045044" y="739479"/>
                  </a:lnTo>
                  <a:lnTo>
                    <a:pt x="0" y="7394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725" r="-73444" b="-65603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9525"/>
              <a:ext cx="3045044" cy="749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Backend: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Python (Node.JS)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0658155" y="7034167"/>
            <a:ext cx="2433928" cy="415901"/>
            <a:chOff x="0" y="0"/>
            <a:chExt cx="2986329" cy="510293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986331" cy="510297"/>
            </a:xfrm>
            <a:custGeom>
              <a:avLst/>
              <a:gdLst/>
              <a:ahLst/>
              <a:cxnLst/>
              <a:rect r="r" b="b" t="t" l="l"/>
              <a:pathLst>
                <a:path h="510297" w="2986331">
                  <a:moveTo>
                    <a:pt x="0" y="0"/>
                  </a:moveTo>
                  <a:lnTo>
                    <a:pt x="2986331" y="0"/>
                  </a:lnTo>
                  <a:lnTo>
                    <a:pt x="2986331" y="510297"/>
                  </a:lnTo>
                  <a:lnTo>
                    <a:pt x="0" y="510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716" r="0" b="-52342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2986329" cy="5198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Database: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MySQL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4331492" y="7091679"/>
            <a:ext cx="4270213" cy="716777"/>
            <a:chOff x="0" y="0"/>
            <a:chExt cx="5107038" cy="857243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107037" cy="857247"/>
            </a:xfrm>
            <a:custGeom>
              <a:avLst/>
              <a:gdLst/>
              <a:ahLst/>
              <a:cxnLst/>
              <a:rect r="r" b="b" t="t" l="l"/>
              <a:pathLst>
                <a:path h="857247" w="5107037">
                  <a:moveTo>
                    <a:pt x="0" y="0"/>
                  </a:moveTo>
                  <a:lnTo>
                    <a:pt x="5107037" y="0"/>
                  </a:lnTo>
                  <a:lnTo>
                    <a:pt x="5107037" y="857247"/>
                  </a:lnTo>
                  <a:lnTo>
                    <a:pt x="0" y="8572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75" r="0" b="-38888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9525"/>
              <a:ext cx="5107038" cy="866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Maps: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OpenStreetMap + GoogleMaps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0658155" y="7494349"/>
            <a:ext cx="3477926" cy="413040"/>
            <a:chOff x="0" y="0"/>
            <a:chExt cx="5166042" cy="613521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5166040" cy="613525"/>
            </a:xfrm>
            <a:custGeom>
              <a:avLst/>
              <a:gdLst/>
              <a:ahLst/>
              <a:cxnLst/>
              <a:rect r="r" b="b" t="t" l="l"/>
              <a:pathLst>
                <a:path h="613525" w="5166040">
                  <a:moveTo>
                    <a:pt x="0" y="0"/>
                  </a:moveTo>
                  <a:lnTo>
                    <a:pt x="5166040" y="0"/>
                  </a:lnTo>
                  <a:lnTo>
                    <a:pt x="5166040" y="613525"/>
                  </a:lnTo>
                  <a:lnTo>
                    <a:pt x="0" y="613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202" r="0" b="-95935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9525"/>
              <a:ext cx="5166042" cy="623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Location: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GPS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4343278" y="7907389"/>
            <a:ext cx="3725225" cy="411977"/>
            <a:chOff x="0" y="0"/>
            <a:chExt cx="4508017" cy="49854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4508021" cy="498551"/>
            </a:xfrm>
            <a:custGeom>
              <a:avLst/>
              <a:gdLst/>
              <a:ahLst/>
              <a:cxnLst/>
              <a:rect r="r" b="b" t="t" l="l"/>
              <a:pathLst>
                <a:path h="498551" w="4508021">
                  <a:moveTo>
                    <a:pt x="0" y="0"/>
                  </a:moveTo>
                  <a:lnTo>
                    <a:pt x="4508021" y="0"/>
                  </a:lnTo>
                  <a:lnTo>
                    <a:pt x="4508021" y="498551"/>
                  </a:lnTo>
                  <a:lnTo>
                    <a:pt x="0" y="4985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972" r="0" b="-115403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9525"/>
              <a:ext cx="4508017" cy="508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Google gemini 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4343278" y="8295227"/>
            <a:ext cx="2745629" cy="293265"/>
            <a:chOff x="0" y="0"/>
            <a:chExt cx="3660838" cy="39102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3660837" cy="391024"/>
            </a:xfrm>
            <a:custGeom>
              <a:avLst/>
              <a:gdLst/>
              <a:ahLst/>
              <a:cxnLst/>
              <a:rect r="r" b="b" t="t" l="l"/>
              <a:pathLst>
                <a:path h="391024" w="3660837">
                  <a:moveTo>
                    <a:pt x="0" y="0"/>
                  </a:moveTo>
                  <a:lnTo>
                    <a:pt x="3660837" y="0"/>
                  </a:lnTo>
                  <a:lnTo>
                    <a:pt x="3660837" y="391024"/>
                  </a:lnTo>
                  <a:lnTo>
                    <a:pt x="0" y="3910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422" r="0" b="-132422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9525"/>
              <a:ext cx="3660838" cy="400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Visualization: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Chart.js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0658155" y="8059233"/>
            <a:ext cx="3353805" cy="471988"/>
            <a:chOff x="0" y="0"/>
            <a:chExt cx="3621683" cy="509687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3621682" cy="509691"/>
            </a:xfrm>
            <a:custGeom>
              <a:avLst/>
              <a:gdLst/>
              <a:ahLst/>
              <a:cxnLst/>
              <a:rect r="r" b="b" t="t" l="l"/>
              <a:pathLst>
                <a:path h="509691" w="3621682">
                  <a:moveTo>
                    <a:pt x="0" y="0"/>
                  </a:moveTo>
                  <a:lnTo>
                    <a:pt x="3621682" y="0"/>
                  </a:lnTo>
                  <a:lnTo>
                    <a:pt x="3621682" y="509691"/>
                  </a:lnTo>
                  <a:lnTo>
                    <a:pt x="0" y="5096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044" r="28204" b="-37761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9525"/>
              <a:ext cx="3621683" cy="519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2"/>
                </a:lnSpc>
              </a:pPr>
              <a:r>
                <a:rPr lang="en-US" sz="206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APIs:</a:t>
              </a:r>
              <a:r>
                <a:rPr lang="en-US" sz="2060">
                  <a:solidFill>
                    <a:srgbClr val="40525A"/>
                  </a:solidFill>
                  <a:latin typeface="Arimo"/>
                  <a:ea typeface="Arimo"/>
                  <a:cs typeface="Arimo"/>
                  <a:sym typeface="Arimo"/>
                </a:rPr>
                <a:t> Google gemini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3091" y="614362"/>
            <a:ext cx="17141828" cy="9058275"/>
            <a:chOff x="0" y="0"/>
            <a:chExt cx="22855771" cy="1207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55682" cy="12077700"/>
            </a:xfrm>
            <a:custGeom>
              <a:avLst/>
              <a:gdLst/>
              <a:ahLst/>
              <a:cxnLst/>
              <a:rect r="r" b="b" t="t" l="l"/>
              <a:pathLst>
                <a:path h="12077700" w="22855682">
                  <a:moveTo>
                    <a:pt x="0" y="2076577"/>
                  </a:moveTo>
                  <a:cubicBezTo>
                    <a:pt x="0" y="929767"/>
                    <a:pt x="929767" y="0"/>
                    <a:pt x="2076577" y="0"/>
                  </a:cubicBezTo>
                  <a:lnTo>
                    <a:pt x="20779105" y="0"/>
                  </a:lnTo>
                  <a:cubicBezTo>
                    <a:pt x="21926043" y="0"/>
                    <a:pt x="22855682" y="929767"/>
                    <a:pt x="22855682" y="2076577"/>
                  </a:cubicBezTo>
                  <a:lnTo>
                    <a:pt x="22855682" y="10001123"/>
                  </a:lnTo>
                  <a:cubicBezTo>
                    <a:pt x="22855682" y="11148060"/>
                    <a:pt x="21925916" y="12077700"/>
                    <a:pt x="20779105" y="12077700"/>
                  </a:cubicBezTo>
                  <a:lnTo>
                    <a:pt x="2076577" y="12077700"/>
                  </a:lnTo>
                  <a:cubicBezTo>
                    <a:pt x="929767" y="12077700"/>
                    <a:pt x="0" y="11147933"/>
                    <a:pt x="0" y="10001123"/>
                  </a:cubicBezTo>
                  <a:close/>
                </a:path>
              </a:pathLst>
            </a:custGeom>
            <a:solidFill>
              <a:srgbClr val="E0E8E4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aphicFrame>
        <p:nvGraphicFramePr>
          <p:cNvPr name="Object 6" id="6"/>
          <p:cNvGraphicFramePr/>
          <p:nvPr/>
        </p:nvGraphicFramePr>
        <p:xfrm>
          <a:off x="1157309" y="3768584"/>
          <a:ext cx="42233850" cy="838200"/>
        </p:xfrm>
        <a:graphic>
          <a:graphicData uri="http://schemas.openxmlformats.org/presentationml/2006/ole">
            <p:oleObj imgW="50673000" imgH="9283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157309" y="2202987"/>
          <a:ext cx="42233850" cy="419100"/>
        </p:xfrm>
        <a:graphic>
          <a:graphicData uri="http://schemas.openxmlformats.org/presentationml/2006/ole">
            <p:oleObj imgW="50673000" imgH="88646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8" id="8"/>
          <p:cNvGraphicFramePr/>
          <p:nvPr/>
        </p:nvGraphicFramePr>
        <p:xfrm>
          <a:off x="1163894" y="5742930"/>
          <a:ext cx="40805100" cy="419100"/>
        </p:xfrm>
        <a:graphic>
          <a:graphicData uri="http://schemas.openxmlformats.org/presentationml/2006/ole">
            <p:oleObj imgW="48958500" imgH="8572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9" id="9"/>
          <p:cNvGraphicFramePr/>
          <p:nvPr/>
        </p:nvGraphicFramePr>
        <p:xfrm>
          <a:off x="1163894" y="6524343"/>
          <a:ext cx="40805100" cy="419100"/>
        </p:xfrm>
        <a:graphic>
          <a:graphicData uri="http://schemas.openxmlformats.org/presentationml/2006/ole">
            <p:oleObj imgW="48958500" imgH="8572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1144138" y="7717174"/>
          <a:ext cx="40805100" cy="419100"/>
        </p:xfrm>
        <a:graphic>
          <a:graphicData uri="http://schemas.openxmlformats.org/presentationml/2006/ole">
            <p:oleObj imgW="48958500" imgH="85725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455856" y="1192194"/>
            <a:ext cx="7376298" cy="101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3"/>
              </a:lnSpc>
              <a:spcBef>
                <a:spcPct val="0"/>
              </a:spcBef>
            </a:pPr>
            <a:r>
              <a:rPr lang="en-US" b="true" sz="6711" spc="-335">
                <a:solidFill>
                  <a:srgbClr val="24313A"/>
                </a:solidFill>
                <a:latin typeface="Inter Bold"/>
                <a:ea typeface="Inter Bold"/>
                <a:cs typeface="Inter Bold"/>
                <a:sym typeface="Inter Bold"/>
              </a:rPr>
              <a:t>Dataset Collection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1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6" y="0"/>
            <a:ext cx="18288000" cy="10287000"/>
            <a:chOff x="0" y="0"/>
            <a:chExt cx="2438400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074" y="1150439"/>
            <a:ext cx="15220760" cy="914400"/>
            <a:chOff x="0" y="0"/>
            <a:chExt cx="20294346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9434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94341">
                  <a:moveTo>
                    <a:pt x="0" y="0"/>
                  </a:moveTo>
                  <a:lnTo>
                    <a:pt x="20294341" y="0"/>
                  </a:lnTo>
                  <a:lnTo>
                    <a:pt x="2029434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340" r="0" b="-2743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294346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75"/>
                </a:lnSpc>
              </a:pPr>
              <a:r>
                <a:rPr lang="en-US" b="true" sz="5979" spc="-357">
                  <a:solidFill>
                    <a:srgbClr val="2431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Conclusion — Towards Safer Travel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2303" y="2694984"/>
            <a:ext cx="114300" cy="114300"/>
            <a:chOff x="0" y="0"/>
            <a:chExt cx="152400" cy="15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7C7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45136" y="2605145"/>
            <a:ext cx="404071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Provides quick access to an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SOS/emergency mechanism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71948" y="2694984"/>
            <a:ext cx="114300" cy="114300"/>
            <a:chOff x="0" y="0"/>
            <a:chExt cx="152400" cy="152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7C7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634780" y="2605145"/>
            <a:ext cx="372012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Enables real-time location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sharing during travel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82303" y="3794674"/>
            <a:ext cx="114300" cy="114300"/>
            <a:chOff x="0" y="0"/>
            <a:chExt cx="152400" cy="15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45136" y="3704834"/>
            <a:ext cx="41620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Warns users near predefined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unsafe/restricted zones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71948" y="3794674"/>
            <a:ext cx="114300" cy="114300"/>
            <a:chOff x="0" y="0"/>
            <a:chExt cx="152400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C66A4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34780" y="3704834"/>
            <a:ext cx="425044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Supports incident reporting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and faster authority response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82303" y="4894507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98D7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45136" y="4800209"/>
            <a:ext cx="5949706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394B54"/>
                </a:solidFill>
                <a:latin typeface="Arimo"/>
                <a:ea typeface="Arimo"/>
                <a:cs typeface="Arimo"/>
                <a:sym typeface="Arimo"/>
              </a:rPr>
              <a:t>Particularly useful for solo travellers and tourists in unfamiliar areasunfamiliar areas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755952" y="2643035"/>
            <a:ext cx="7048500" cy="3019425"/>
            <a:chOff x="0" y="0"/>
            <a:chExt cx="9398000" cy="4025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98000" cy="4025900"/>
            </a:xfrm>
            <a:custGeom>
              <a:avLst/>
              <a:gdLst/>
              <a:ahLst/>
              <a:cxnLst/>
              <a:rect r="r" b="b" t="t" l="l"/>
              <a:pathLst>
                <a:path h="4025900" w="9398000">
                  <a:moveTo>
                    <a:pt x="0" y="293497"/>
                  </a:moveTo>
                  <a:cubicBezTo>
                    <a:pt x="0" y="131445"/>
                    <a:pt x="131445" y="0"/>
                    <a:pt x="293497" y="0"/>
                  </a:cubicBezTo>
                  <a:lnTo>
                    <a:pt x="9104503" y="0"/>
                  </a:lnTo>
                  <a:cubicBezTo>
                    <a:pt x="9266555" y="0"/>
                    <a:pt x="9398000" y="131445"/>
                    <a:pt x="9398000" y="293497"/>
                  </a:cubicBezTo>
                  <a:lnTo>
                    <a:pt x="9398000" y="3732403"/>
                  </a:lnTo>
                  <a:cubicBezTo>
                    <a:pt x="9398000" y="3894455"/>
                    <a:pt x="9266555" y="4025900"/>
                    <a:pt x="9104503" y="4025900"/>
                  </a:cubicBezTo>
                  <a:lnTo>
                    <a:pt x="293497" y="4025900"/>
                  </a:lnTo>
                  <a:cubicBezTo>
                    <a:pt x="131445" y="4025900"/>
                    <a:pt x="0" y="3894455"/>
                    <a:pt x="0" y="3732403"/>
                  </a:cubicBezTo>
                  <a:close/>
                </a:path>
              </a:pathLst>
            </a:custGeom>
            <a:solidFill>
              <a:srgbClr val="E8EDE8">
                <a:alpha val="63922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967949" y="2933757"/>
            <a:ext cx="6097934" cy="324135"/>
            <a:chOff x="0" y="0"/>
            <a:chExt cx="6450965" cy="342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50965" cy="342901"/>
            </a:xfrm>
            <a:custGeom>
              <a:avLst/>
              <a:gdLst/>
              <a:ahLst/>
              <a:cxnLst/>
              <a:rect r="r" b="b" t="t" l="l"/>
              <a:pathLst>
                <a:path h="342901" w="6450965">
                  <a:moveTo>
                    <a:pt x="0" y="0"/>
                  </a:moveTo>
                  <a:lnTo>
                    <a:pt x="6450965" y="0"/>
                  </a:lnTo>
                  <a:lnTo>
                    <a:pt x="6450965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6570" r="0" b="-3165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450965" cy="352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29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SAFER TRAVEL ENVIRONMENT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6350" y="6272955"/>
            <a:ext cx="15735300" cy="1285875"/>
            <a:chOff x="0" y="0"/>
            <a:chExt cx="20980400" cy="1714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804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0980400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20685633" y="0"/>
                  </a:lnTo>
                  <a:cubicBezTo>
                    <a:pt x="20848447" y="0"/>
                    <a:pt x="20980400" y="131953"/>
                    <a:pt x="20980400" y="294767"/>
                  </a:cubicBezTo>
                  <a:lnTo>
                    <a:pt x="20980400" y="1419733"/>
                  </a:lnTo>
                  <a:cubicBezTo>
                    <a:pt x="20980400" y="1582547"/>
                    <a:pt x="20848447" y="1714500"/>
                    <a:pt x="20685633" y="1714500"/>
                  </a:cubicBezTo>
                  <a:lnTo>
                    <a:pt x="294767" y="1714500"/>
                  </a:lnTo>
                  <a:cubicBezTo>
                    <a:pt x="131953" y="1714500"/>
                    <a:pt x="0" y="1582547"/>
                    <a:pt x="0" y="1419733"/>
                  </a:cubicBezTo>
                  <a:close/>
                </a:path>
              </a:pathLst>
            </a:custGeom>
            <a:solidFill>
              <a:srgbClr val="E0E8E4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639791" y="6504651"/>
            <a:ext cx="997744" cy="875852"/>
            <a:chOff x="0" y="0"/>
            <a:chExt cx="1330325" cy="11678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30452" cy="1167765"/>
            </a:xfrm>
            <a:custGeom>
              <a:avLst/>
              <a:gdLst/>
              <a:ahLst/>
              <a:cxnLst/>
              <a:rect r="r" b="b" t="t" l="l"/>
              <a:pathLst>
                <a:path h="1167765" w="1330452">
                  <a:moveTo>
                    <a:pt x="0" y="583946"/>
                  </a:moveTo>
                  <a:cubicBezTo>
                    <a:pt x="0" y="261366"/>
                    <a:pt x="297815" y="0"/>
                    <a:pt x="665226" y="0"/>
                  </a:cubicBezTo>
                  <a:cubicBezTo>
                    <a:pt x="1032637" y="0"/>
                    <a:pt x="1330452" y="261366"/>
                    <a:pt x="1330452" y="583946"/>
                  </a:cubicBezTo>
                  <a:cubicBezTo>
                    <a:pt x="1330452" y="906526"/>
                    <a:pt x="1032510" y="1167765"/>
                    <a:pt x="665226" y="1167765"/>
                  </a:cubicBezTo>
                  <a:cubicBezTo>
                    <a:pt x="297942" y="1167765"/>
                    <a:pt x="0" y="906399"/>
                    <a:pt x="0" y="58394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623" t="0" r="-62613" b="-3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701313" y="6774809"/>
            <a:ext cx="1351388" cy="266700"/>
            <a:chOff x="0" y="0"/>
            <a:chExt cx="1801851" cy="355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1853" cy="355600"/>
            </a:xfrm>
            <a:custGeom>
              <a:avLst/>
              <a:gdLst/>
              <a:ahLst/>
              <a:cxnLst/>
              <a:rect r="r" b="b" t="t" l="l"/>
              <a:pathLst>
                <a:path h="355600" w="1801853">
                  <a:moveTo>
                    <a:pt x="0" y="0"/>
                  </a:moveTo>
                  <a:lnTo>
                    <a:pt x="1801853" y="0"/>
                  </a:lnTo>
                  <a:lnTo>
                    <a:pt x="1801853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732" r="0" b="-4873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801851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4"/>
                </a:lnSpc>
              </a:pPr>
              <a:r>
                <a:rPr lang="en-US" sz="1520" b="true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MONITOR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48310" y="6660509"/>
            <a:ext cx="512664" cy="495300"/>
            <a:chOff x="0" y="0"/>
            <a:chExt cx="683552" cy="660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3557" cy="660400"/>
            </a:xfrm>
            <a:custGeom>
              <a:avLst/>
              <a:gdLst/>
              <a:ahLst/>
              <a:cxnLst/>
              <a:rect r="r" b="b" t="t" l="l"/>
              <a:pathLst>
                <a:path h="660400" w="683557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957" t="0" r="-7395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38187" y="6504651"/>
            <a:ext cx="971512" cy="864660"/>
            <a:chOff x="0" y="0"/>
            <a:chExt cx="1295349" cy="11528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54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295400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189" t="0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298084" y="6781352"/>
            <a:ext cx="1026538" cy="266700"/>
            <a:chOff x="0" y="0"/>
            <a:chExt cx="1368717" cy="355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8723" cy="355600"/>
            </a:xfrm>
            <a:custGeom>
              <a:avLst/>
              <a:gdLst/>
              <a:ahLst/>
              <a:cxnLst/>
              <a:rect r="r" b="b" t="t" l="l"/>
              <a:pathLst>
                <a:path h="355600" w="1368723">
                  <a:moveTo>
                    <a:pt x="0" y="0"/>
                  </a:moveTo>
                  <a:lnTo>
                    <a:pt x="1368723" y="0"/>
                  </a:lnTo>
                  <a:lnTo>
                    <a:pt x="1368723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98" r="0" b="-2499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368717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4"/>
                </a:lnSpc>
              </a:pPr>
              <a:r>
                <a:rPr lang="en-US" sz="1520" b="true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DETECT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43287" y="6660509"/>
            <a:ext cx="512664" cy="495300"/>
            <a:chOff x="0" y="0"/>
            <a:chExt cx="683552" cy="660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3557" cy="660400"/>
            </a:xfrm>
            <a:custGeom>
              <a:avLst/>
              <a:gdLst/>
              <a:ahLst/>
              <a:cxnLst/>
              <a:rect r="r" b="b" t="t" l="l"/>
              <a:pathLst>
                <a:path h="660400" w="683557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957" t="0" r="-7395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50811" y="6781352"/>
            <a:ext cx="876595" cy="266700"/>
            <a:chOff x="0" y="0"/>
            <a:chExt cx="1168794" cy="355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68797" cy="355600"/>
            </a:xfrm>
            <a:custGeom>
              <a:avLst/>
              <a:gdLst/>
              <a:ahLst/>
              <a:cxnLst/>
              <a:rect r="r" b="b" t="t" l="l"/>
              <a:pathLst>
                <a:path h="355600" w="1168797">
                  <a:moveTo>
                    <a:pt x="0" y="0"/>
                  </a:moveTo>
                  <a:lnTo>
                    <a:pt x="1168797" y="0"/>
                  </a:lnTo>
                  <a:lnTo>
                    <a:pt x="1168797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3" r="0" b="-140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168794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4"/>
                </a:lnSpc>
              </a:pPr>
              <a:r>
                <a:rPr lang="en-US" sz="1520" b="true">
                  <a:solidFill>
                    <a:srgbClr val="C66A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ALERT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38274" y="6660509"/>
            <a:ext cx="512664" cy="495300"/>
            <a:chOff x="0" y="0"/>
            <a:chExt cx="683552" cy="660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3557" cy="660400"/>
            </a:xfrm>
            <a:custGeom>
              <a:avLst/>
              <a:gdLst/>
              <a:ahLst/>
              <a:cxnLst/>
              <a:rect r="r" b="b" t="t" l="l"/>
              <a:pathLst>
                <a:path h="660400" w="683557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957" t="0" r="-7395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83263" y="6781352"/>
            <a:ext cx="1299343" cy="266700"/>
            <a:chOff x="0" y="0"/>
            <a:chExt cx="1732458" cy="355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2459" cy="355600"/>
            </a:xfrm>
            <a:custGeom>
              <a:avLst/>
              <a:gdLst/>
              <a:ahLst/>
              <a:cxnLst/>
              <a:rect r="r" b="b" t="t" l="l"/>
              <a:pathLst>
                <a:path h="355600" w="1732459">
                  <a:moveTo>
                    <a:pt x="0" y="0"/>
                  </a:moveTo>
                  <a:lnTo>
                    <a:pt x="1732459" y="0"/>
                  </a:lnTo>
                  <a:lnTo>
                    <a:pt x="1732459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929" r="0" b="-4492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732458" cy="374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4"/>
                </a:lnSpc>
              </a:pPr>
              <a:r>
                <a:rPr lang="en-US" sz="1520" b="true">
                  <a:solidFill>
                    <a:srgbClr val="4B7C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RESPOND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33252" y="6660509"/>
            <a:ext cx="512664" cy="495300"/>
            <a:chOff x="0" y="0"/>
            <a:chExt cx="683552" cy="660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3557" cy="660400"/>
            </a:xfrm>
            <a:custGeom>
              <a:avLst/>
              <a:gdLst/>
              <a:ahLst/>
              <a:cxnLst/>
              <a:rect r="r" b="b" t="t" l="l"/>
              <a:pathLst>
                <a:path h="660400" w="683557">
                  <a:moveTo>
                    <a:pt x="0" y="0"/>
                  </a:moveTo>
                  <a:lnTo>
                    <a:pt x="683557" y="0"/>
                  </a:lnTo>
                  <a:lnTo>
                    <a:pt x="68355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957" t="0" r="-73956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83552" cy="669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C66A4A"/>
                  </a:solidFill>
                  <a:latin typeface="Arimo"/>
                  <a:ea typeface="Arimo"/>
                  <a:cs typeface="Arimo"/>
                  <a:sym typeface="Arimo"/>
                </a:rPr>
                <a:t>→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778558" y="6580289"/>
            <a:ext cx="1028862" cy="61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20" b="true">
                <a:solidFill>
                  <a:srgbClr val="698D77"/>
                </a:solidFill>
                <a:latin typeface="Arimo Bold"/>
                <a:ea typeface="Arimo Bold"/>
                <a:cs typeface="Arimo Bold"/>
                <a:sym typeface="Arimo Bold"/>
              </a:rPr>
              <a:t>SAFER</a:t>
            </a:r>
          </a:p>
          <a:p>
            <a:pPr algn="l">
              <a:lnSpc>
                <a:spcPts val="2268"/>
              </a:lnSpc>
            </a:pPr>
            <a:r>
              <a:rPr lang="en-US" sz="1520" b="true">
                <a:solidFill>
                  <a:srgbClr val="698D77"/>
                </a:solidFill>
                <a:latin typeface="Arimo Bold"/>
                <a:ea typeface="Arimo Bold"/>
                <a:cs typeface="Arimo Bold"/>
                <a:sym typeface="Arimo Bold"/>
              </a:rPr>
              <a:t>TRAVEL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-674989" y="7954270"/>
            <a:ext cx="19637826" cy="1161455"/>
            <a:chOff x="0" y="0"/>
            <a:chExt cx="26183768" cy="15486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183769" cy="1548608"/>
            </a:xfrm>
            <a:custGeom>
              <a:avLst/>
              <a:gdLst/>
              <a:ahLst/>
              <a:cxnLst/>
              <a:rect r="r" b="b" t="t" l="l"/>
              <a:pathLst>
                <a:path h="1548608" w="26183769">
                  <a:moveTo>
                    <a:pt x="0" y="0"/>
                  </a:moveTo>
                  <a:lnTo>
                    <a:pt x="26183769" y="0"/>
                  </a:lnTo>
                  <a:lnTo>
                    <a:pt x="26183769" y="1548608"/>
                  </a:lnTo>
                  <a:lnTo>
                    <a:pt x="0" y="1548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3460" r="0" b="-2454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6183768" cy="1548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A6533B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“Safar Shield aims to transform tourist safety from a reactive service into a proactive safety ecosystem.”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95576" y="6515843"/>
            <a:ext cx="971512" cy="864660"/>
            <a:chOff x="0" y="0"/>
            <a:chExt cx="1295349" cy="115288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954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295400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189" t="0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183263" y="6504651"/>
            <a:ext cx="971512" cy="864660"/>
            <a:chOff x="0" y="0"/>
            <a:chExt cx="1295349" cy="11528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954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295400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189" t="0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624977" y="6515843"/>
            <a:ext cx="971512" cy="864660"/>
            <a:chOff x="0" y="0"/>
            <a:chExt cx="1295349" cy="11528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954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295400">
                  <a:moveTo>
                    <a:pt x="0" y="576453"/>
                  </a:moveTo>
                  <a:cubicBezTo>
                    <a:pt x="0" y="258064"/>
                    <a:pt x="289941" y="0"/>
                    <a:pt x="647700" y="0"/>
                  </a:cubicBezTo>
                  <a:cubicBezTo>
                    <a:pt x="1005459" y="0"/>
                    <a:pt x="1295400" y="258064"/>
                    <a:pt x="1295400" y="576453"/>
                  </a:cubicBezTo>
                  <a:cubicBezTo>
                    <a:pt x="1295400" y="894842"/>
                    <a:pt x="1005332" y="1152906"/>
                    <a:pt x="647700" y="1152906"/>
                  </a:cubicBezTo>
                  <a:cubicBezTo>
                    <a:pt x="290068" y="1152906"/>
                    <a:pt x="0" y="894842"/>
                    <a:pt x="0" y="576453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189" t="0" r="-64185" b="2"/>
              </a:stretch>
            </a:blipFill>
            <a:ln w="28576" cap="sq">
              <a:solidFill>
                <a:srgbClr val="4B7C7A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8893178" y="3667701"/>
            <a:ext cx="7612094" cy="71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99">
                <a:solidFill>
                  <a:srgbClr val="24313A"/>
                </a:solidFill>
                <a:latin typeface="Arimo"/>
                <a:ea typeface="Arimo"/>
                <a:cs typeface="Arimo"/>
                <a:sym typeface="Arimo"/>
              </a:rPr>
              <a:t>Safar Shield can help travellers feel more</a:t>
            </a:r>
          </a:p>
          <a:p>
            <a:pPr algn="l">
              <a:lnSpc>
                <a:spcPts val="2609"/>
              </a:lnSpc>
            </a:pPr>
            <a:r>
              <a:rPr lang="en-US" sz="2199">
                <a:solidFill>
                  <a:srgbClr val="24313A"/>
                </a:solidFill>
                <a:latin typeface="Arimo"/>
                <a:ea typeface="Arimo"/>
                <a:cs typeface="Arimo"/>
                <a:sym typeface="Arimo"/>
              </a:rPr>
              <a:t>confident while exploring unfamiliar locations.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893178" y="4693515"/>
            <a:ext cx="7735338" cy="59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52636A"/>
                </a:solidFill>
                <a:latin typeface="Arimo"/>
                <a:ea typeface="Arimo"/>
                <a:cs typeface="Arimo"/>
                <a:sym typeface="Arimo"/>
              </a:rPr>
              <a:t>It does not guarantee safety or prevent crimes. It supports informed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52636A"/>
                </a:solidFill>
                <a:latin typeface="Arimo"/>
                <a:ea typeface="Arimo"/>
                <a:cs typeface="Arimo"/>
                <a:sym typeface="Arimo"/>
              </a:rPr>
              <a:t>travel and emergency response through connected tools.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3091" y="614362"/>
            <a:ext cx="17141828" cy="9058275"/>
            <a:chOff x="0" y="0"/>
            <a:chExt cx="22855771" cy="1207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55682" cy="12077700"/>
            </a:xfrm>
            <a:custGeom>
              <a:avLst/>
              <a:gdLst/>
              <a:ahLst/>
              <a:cxnLst/>
              <a:rect r="r" b="b" t="t" l="l"/>
              <a:pathLst>
                <a:path h="12077700" w="22855682">
                  <a:moveTo>
                    <a:pt x="0" y="2076577"/>
                  </a:moveTo>
                  <a:cubicBezTo>
                    <a:pt x="0" y="929767"/>
                    <a:pt x="929767" y="0"/>
                    <a:pt x="2076577" y="0"/>
                  </a:cubicBezTo>
                  <a:lnTo>
                    <a:pt x="20779105" y="0"/>
                  </a:lnTo>
                  <a:cubicBezTo>
                    <a:pt x="21926043" y="0"/>
                    <a:pt x="22855682" y="929767"/>
                    <a:pt x="22855682" y="2076577"/>
                  </a:cubicBezTo>
                  <a:lnTo>
                    <a:pt x="22855682" y="10001123"/>
                  </a:lnTo>
                  <a:cubicBezTo>
                    <a:pt x="22855682" y="11148060"/>
                    <a:pt x="21925916" y="12077700"/>
                    <a:pt x="20779105" y="12077700"/>
                  </a:cubicBezTo>
                  <a:lnTo>
                    <a:pt x="2076577" y="12077700"/>
                  </a:lnTo>
                  <a:cubicBezTo>
                    <a:pt x="929767" y="12077700"/>
                    <a:pt x="0" y="11147933"/>
                    <a:pt x="0" y="10001123"/>
                  </a:cubicBezTo>
                  <a:close/>
                </a:path>
              </a:pathLst>
            </a:custGeom>
            <a:solidFill>
              <a:srgbClr val="E0E8E4">
                <a:alpha val="49020"/>
              </a:srgbClr>
            </a:solidFill>
            <a:ln w="9526" cap="sq">
              <a:solidFill>
                <a:srgbClr val="B8C7C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476293" y="4265890"/>
            <a:ext cx="11240767" cy="175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b="true" sz="10800" spc="-716">
                <a:solidFill>
                  <a:srgbClr val="4B7C7A"/>
                </a:solidFill>
                <a:latin typeface="Inter Bold"/>
                <a:ea typeface="Inter Bold"/>
                <a:cs typeface="Inter Bold"/>
                <a:sym typeface="Inter Bold"/>
              </a:rPr>
              <a:t>THANKYOU!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DAHU3Duq9S4</dc:identifier>
  <dcterms:modified xsi:type="dcterms:W3CDTF">2011-08-01T06:04:30Z</dcterms:modified>
  <cp:revision>1</cp:revision>
  <dc:title>Safar-Shield.pptx</dc:title>
</cp:coreProperties>
</file>