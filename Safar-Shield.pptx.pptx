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1"/>
  </p:notes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Arimo Bold" charset="1" panose="020B0704020202020204"/>
      <p:regular r:id="rId14"/>
    </p:embeddedFont>
    <p:embeddedFont>
      <p:font typeface="Inter Bold" charset="1" panose="02000503000000020004"/>
      <p:regular r:id="rId15"/>
    </p:embeddedFont>
    <p:embeddedFont>
      <p:font typeface="Arimo" charset="1" panose="020B0604020202020204"/>
      <p:regular r:id="rId16"/>
    </p:embeddedFont>
    <p:embeddedFont>
      <p:font typeface="Arimo Italics" charset="1" panose="020B0604020202090204"/>
      <p:regular r:id="rId17"/>
    </p:embeddedFont>
    <p:embeddedFont>
      <p:font typeface="Canva Sans" charset="1" panose="020B0503030501040103"/>
      <p:regular r:id="rId19"/>
    </p:embeddedFont>
    <p:embeddedFont>
      <p:font typeface="Inter Italics" charset="1" panose="020005030000000200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notesMasters/notesMaster1.xml" Type="http://schemas.openxmlformats.org/officeDocument/2006/relationships/notesMaster"/><Relationship Id="rId12" Target="theme/theme2.xml" Type="http://schemas.openxmlformats.org/officeDocument/2006/relationships/theme"/><Relationship Id="rId13" Target="notesSlides/notesSlide1.xml" Type="http://schemas.openxmlformats.org/officeDocument/2006/relationships/notes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notesSlides/notesSlide2.xml" Type="http://schemas.openxmlformats.org/officeDocument/2006/relationships/notes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notesSlides/notesSlide3.xml" Type="http://schemas.openxmlformats.org/officeDocument/2006/relationships/notesSlide"/><Relationship Id="rId21" Target="notesSlides/notesSlide4.xml" Type="http://schemas.openxmlformats.org/officeDocument/2006/relationships/notesSlide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Relationship Id="rId5" Target="../media/image3.pn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png" Type="http://schemas.openxmlformats.org/officeDocument/2006/relationships/image"/><Relationship Id="rId9" Target="../media/image7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8.jpe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.png" Type="http://schemas.openxmlformats.org/officeDocument/2006/relationships/image"/><Relationship Id="rId11" Target="../media/image15.png" Type="http://schemas.openxmlformats.org/officeDocument/2006/relationships/image"/><Relationship Id="rId12" Target="../media/image16.png" Type="http://schemas.openxmlformats.org/officeDocument/2006/relationships/image"/><Relationship Id="rId13" Target="../media/image17.png" Type="http://schemas.openxmlformats.org/officeDocument/2006/relationships/image"/><Relationship Id="rId2" Target="../notesSlides/notesSlide3.xml" Type="http://schemas.openxmlformats.org/officeDocument/2006/relationships/notesSlide"/><Relationship Id="rId3" Target="../media/image8.jpeg" Type="http://schemas.openxmlformats.org/officeDocument/2006/relationships/image"/><Relationship Id="rId4" Target="../media/image2.jpeg" Type="http://schemas.openxmlformats.org/officeDocument/2006/relationships/image"/><Relationship Id="rId5" Target="../media/image9.png" Type="http://schemas.openxmlformats.org/officeDocument/2006/relationships/image"/><Relationship Id="rId6" Target="../media/image10.png" Type="http://schemas.openxmlformats.org/officeDocument/2006/relationships/image"/><Relationship Id="rId7" Target="../media/image11.png" Type="http://schemas.openxmlformats.org/officeDocument/2006/relationships/image"/><Relationship Id="rId8" Target="../media/image12.png" Type="http://schemas.openxmlformats.org/officeDocument/2006/relationships/image"/><Relationship Id="rId9" Target="../media/image1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8.jpe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4F1E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527357" y="-1834534"/>
            <a:ext cx="6229350" cy="6229350"/>
            <a:chOff x="0" y="0"/>
            <a:chExt cx="8305800" cy="8305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305800" cy="8305800"/>
            </a:xfrm>
            <a:custGeom>
              <a:avLst/>
              <a:gdLst/>
              <a:ahLst/>
              <a:cxnLst/>
              <a:rect r="r" b="b" t="t" l="l"/>
              <a:pathLst>
                <a:path h="8305800" w="8305800">
                  <a:moveTo>
                    <a:pt x="0" y="4152900"/>
                  </a:moveTo>
                  <a:cubicBezTo>
                    <a:pt x="0" y="1859280"/>
                    <a:pt x="1859280" y="0"/>
                    <a:pt x="4152900" y="0"/>
                  </a:cubicBezTo>
                  <a:cubicBezTo>
                    <a:pt x="6446520" y="0"/>
                    <a:pt x="8305800" y="1859280"/>
                    <a:pt x="8305800" y="4152900"/>
                  </a:cubicBezTo>
                  <a:cubicBezTo>
                    <a:pt x="8305800" y="6446520"/>
                    <a:pt x="6446520" y="8305800"/>
                    <a:pt x="4152900" y="8305800"/>
                  </a:cubicBezTo>
                  <a:cubicBezTo>
                    <a:pt x="1859280" y="8305800"/>
                    <a:pt x="0" y="6446520"/>
                    <a:pt x="0" y="4152900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  <a:ln w="9526" cap="sq">
              <a:solidFill>
                <a:srgbClr val="4E8076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4992661" y="-207416"/>
            <a:ext cx="8598391" cy="2008336"/>
            <a:chOff x="0" y="0"/>
            <a:chExt cx="11464522" cy="267778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64527" cy="2677782"/>
            </a:xfrm>
            <a:custGeom>
              <a:avLst/>
              <a:gdLst/>
              <a:ahLst/>
              <a:cxnLst/>
              <a:rect r="r" b="b" t="t" l="l"/>
              <a:pathLst>
                <a:path h="2677782" w="11464527">
                  <a:moveTo>
                    <a:pt x="0" y="0"/>
                  </a:moveTo>
                  <a:lnTo>
                    <a:pt x="11464527" y="0"/>
                  </a:lnTo>
                  <a:lnTo>
                    <a:pt x="11464527" y="2677782"/>
                  </a:lnTo>
                  <a:lnTo>
                    <a:pt x="0" y="267778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3762" r="51568" b="52957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1464522" cy="268730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b="true" sz="3999" spc="271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CSE-AI MINI PROJECT · 2026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814345" y="3185903"/>
            <a:ext cx="5069043" cy="1302382"/>
            <a:chOff x="0" y="0"/>
            <a:chExt cx="6758724" cy="173650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758722" cy="1736515"/>
            </a:xfrm>
            <a:custGeom>
              <a:avLst/>
              <a:gdLst/>
              <a:ahLst/>
              <a:cxnLst/>
              <a:rect r="r" b="b" t="t" l="l"/>
              <a:pathLst>
                <a:path h="1736515" w="6758722">
                  <a:moveTo>
                    <a:pt x="0" y="0"/>
                  </a:moveTo>
                  <a:lnTo>
                    <a:pt x="6758722" y="0"/>
                  </a:lnTo>
                  <a:lnTo>
                    <a:pt x="6758722" y="1736515"/>
                  </a:lnTo>
                  <a:lnTo>
                    <a:pt x="0" y="17365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838" r="0" b="-25837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6758724" cy="17365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960"/>
                </a:lnSpc>
              </a:pPr>
              <a:r>
                <a:rPr lang="en-US" b="true" sz="10800" spc="-716">
                  <a:solidFill>
                    <a:srgbClr val="24313A"/>
                  </a:solidFill>
                  <a:latin typeface="Inter Bold"/>
                  <a:ea typeface="Inter Bold"/>
                  <a:cs typeface="Inter Bold"/>
                  <a:sym typeface="Inter Bold"/>
                </a:rPr>
                <a:t>SAFAR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714694" y="4170616"/>
            <a:ext cx="5379025" cy="1477327"/>
            <a:chOff x="0" y="0"/>
            <a:chExt cx="7172033" cy="196977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172034" cy="1969771"/>
            </a:xfrm>
            <a:custGeom>
              <a:avLst/>
              <a:gdLst/>
              <a:ahLst/>
              <a:cxnLst/>
              <a:rect r="r" b="b" t="t" l="l"/>
              <a:pathLst>
                <a:path h="1969771" w="7172034">
                  <a:moveTo>
                    <a:pt x="0" y="0"/>
                  </a:moveTo>
                  <a:lnTo>
                    <a:pt x="7172034" y="0"/>
                  </a:lnTo>
                  <a:lnTo>
                    <a:pt x="7172034" y="1969771"/>
                  </a:lnTo>
                  <a:lnTo>
                    <a:pt x="0" y="196977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946" r="0" b="-2094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7172033" cy="1969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960"/>
                </a:lnSpc>
              </a:pPr>
              <a:r>
                <a:rPr lang="en-US" b="true" sz="10800" spc="-716">
                  <a:solidFill>
                    <a:srgbClr val="4B7C7A"/>
                  </a:solidFill>
                  <a:latin typeface="Inter Bold"/>
                  <a:ea typeface="Inter Bold"/>
                  <a:cs typeface="Inter Bold"/>
                  <a:sym typeface="Inter Bold"/>
                </a:rPr>
                <a:t>SHIELD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894389" y="5888907"/>
            <a:ext cx="14538950" cy="514350"/>
            <a:chOff x="0" y="0"/>
            <a:chExt cx="19385267" cy="685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385262" cy="685800"/>
            </a:xfrm>
            <a:custGeom>
              <a:avLst/>
              <a:gdLst/>
              <a:ahLst/>
              <a:cxnLst/>
              <a:rect r="r" b="b" t="t" l="l"/>
              <a:pathLst>
                <a:path h="685800" w="19385262">
                  <a:moveTo>
                    <a:pt x="0" y="0"/>
                  </a:moveTo>
                  <a:lnTo>
                    <a:pt x="19385262" y="0"/>
                  </a:lnTo>
                  <a:lnTo>
                    <a:pt x="19385262" y="685800"/>
                  </a:lnTo>
                  <a:lnTo>
                    <a:pt x="0" y="685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00776" r="0" b="-50077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9385267" cy="7048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552"/>
                </a:lnSpc>
              </a:pPr>
              <a:r>
                <a:rPr lang="en-US" sz="2960">
                  <a:solidFill>
                    <a:srgbClr val="394B54"/>
                  </a:solidFill>
                  <a:latin typeface="Arimo"/>
                  <a:ea typeface="Arimo"/>
                  <a:cs typeface="Arimo"/>
                  <a:sym typeface="Arimo"/>
                </a:rPr>
                <a:t>Smart Tourist Safety Monitoring and Incident Response System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1095" y="6243714"/>
            <a:ext cx="7686675" cy="7686675"/>
            <a:chOff x="0" y="0"/>
            <a:chExt cx="10248900" cy="102489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248900" cy="10248900"/>
            </a:xfrm>
            <a:custGeom>
              <a:avLst/>
              <a:gdLst/>
              <a:ahLst/>
              <a:cxnLst/>
              <a:rect r="r" b="b" t="t" l="l"/>
              <a:pathLst>
                <a:path h="10248900" w="10248900">
                  <a:moveTo>
                    <a:pt x="0" y="5124450"/>
                  </a:moveTo>
                  <a:cubicBezTo>
                    <a:pt x="0" y="2294255"/>
                    <a:pt x="2294255" y="0"/>
                    <a:pt x="5124450" y="0"/>
                  </a:cubicBezTo>
                  <a:cubicBezTo>
                    <a:pt x="7954645" y="0"/>
                    <a:pt x="10248900" y="2294255"/>
                    <a:pt x="10248900" y="5124450"/>
                  </a:cubicBezTo>
                  <a:cubicBezTo>
                    <a:pt x="10248900" y="7954645"/>
                    <a:pt x="7954645" y="10248900"/>
                    <a:pt x="5124450" y="10248900"/>
                  </a:cubicBezTo>
                  <a:cubicBezTo>
                    <a:pt x="2294255" y="10248900"/>
                    <a:pt x="0" y="7954645"/>
                    <a:pt x="0" y="5124450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  <a:ln w="9526" cap="sq">
              <a:solidFill>
                <a:srgbClr val="C46C4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883716" y="6539579"/>
            <a:ext cx="6796202" cy="742950"/>
            <a:chOff x="0" y="0"/>
            <a:chExt cx="9061602" cy="990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061608" cy="990601"/>
            </a:xfrm>
            <a:custGeom>
              <a:avLst/>
              <a:gdLst/>
              <a:ahLst/>
              <a:cxnLst/>
              <a:rect r="r" b="b" t="t" l="l"/>
              <a:pathLst>
                <a:path h="990601" w="9061608">
                  <a:moveTo>
                    <a:pt x="0" y="0"/>
                  </a:moveTo>
                  <a:lnTo>
                    <a:pt x="9061608" y="0"/>
                  </a:lnTo>
                  <a:lnTo>
                    <a:pt x="9061608" y="990601"/>
                  </a:lnTo>
                  <a:lnTo>
                    <a:pt x="0" y="9906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240" r="0" b="-10324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9061602" cy="10191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 i="true">
                  <a:solidFill>
                    <a:srgbClr val="A6533B"/>
                  </a:solidFill>
                  <a:latin typeface="Arimo Italics"/>
                  <a:ea typeface="Arimo Italics"/>
                  <a:cs typeface="Arimo Italics"/>
                  <a:sym typeface="Arimo Italics"/>
                </a:rPr>
                <a:t>“Travel Freely. Stay Safe.”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099206" y="8034538"/>
            <a:ext cx="12089587" cy="1692669"/>
            <a:chOff x="0" y="0"/>
            <a:chExt cx="16119450" cy="225689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6119475" cy="2256917"/>
            </a:xfrm>
            <a:custGeom>
              <a:avLst/>
              <a:gdLst/>
              <a:ahLst/>
              <a:cxnLst/>
              <a:rect r="r" b="b" t="t" l="l"/>
              <a:pathLst>
                <a:path h="2256917" w="16119475">
                  <a:moveTo>
                    <a:pt x="0" y="333375"/>
                  </a:moveTo>
                  <a:cubicBezTo>
                    <a:pt x="0" y="149225"/>
                    <a:pt x="149225" y="0"/>
                    <a:pt x="333375" y="0"/>
                  </a:cubicBezTo>
                  <a:lnTo>
                    <a:pt x="15786100" y="0"/>
                  </a:lnTo>
                  <a:cubicBezTo>
                    <a:pt x="15970250" y="0"/>
                    <a:pt x="16119475" y="149225"/>
                    <a:pt x="16119475" y="333375"/>
                  </a:cubicBezTo>
                  <a:lnTo>
                    <a:pt x="16119475" y="1923542"/>
                  </a:lnTo>
                  <a:cubicBezTo>
                    <a:pt x="16119475" y="2107692"/>
                    <a:pt x="15970250" y="2256917"/>
                    <a:pt x="15786100" y="2256917"/>
                  </a:cubicBezTo>
                  <a:lnTo>
                    <a:pt x="333375" y="2256917"/>
                  </a:lnTo>
                  <a:cubicBezTo>
                    <a:pt x="149225" y="2256917"/>
                    <a:pt x="0" y="2107692"/>
                    <a:pt x="0" y="1923542"/>
                  </a:cubicBezTo>
                  <a:close/>
                </a:path>
              </a:pathLst>
            </a:custGeom>
            <a:solidFill>
              <a:srgbClr val="EAEEEA">
                <a:alpha val="49020"/>
              </a:srgbClr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6313757" y="7358729"/>
            <a:ext cx="5956200" cy="1274283"/>
            <a:chOff x="0" y="0"/>
            <a:chExt cx="7941599" cy="169904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941604" cy="1699036"/>
            </a:xfrm>
            <a:custGeom>
              <a:avLst/>
              <a:gdLst/>
              <a:ahLst/>
              <a:cxnLst/>
              <a:rect r="r" b="b" t="t" l="l"/>
              <a:pathLst>
                <a:path h="1699036" w="7941604">
                  <a:moveTo>
                    <a:pt x="0" y="0"/>
                  </a:moveTo>
                  <a:lnTo>
                    <a:pt x="7941604" y="0"/>
                  </a:lnTo>
                  <a:lnTo>
                    <a:pt x="7941604" y="1699036"/>
                  </a:lnTo>
                  <a:lnTo>
                    <a:pt x="0" y="16990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6978" r="49960" b="45829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7941599" cy="172761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true" sz="3600" spc="194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PROPOSED SOLUTION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3467471" y="8959005"/>
            <a:ext cx="383972" cy="383972"/>
            <a:chOff x="0" y="0"/>
            <a:chExt cx="511962" cy="511962"/>
          </a:xfrm>
        </p:grpSpPr>
        <p:sp>
          <p:nvSpPr>
            <p:cNvPr name="Freeform 31" id="31" descr="preencoded.png"/>
            <p:cNvSpPr/>
            <p:nvPr/>
          </p:nvSpPr>
          <p:spPr>
            <a:xfrm flipH="false" flipV="false" rot="0">
              <a:off x="0" y="0"/>
              <a:ext cx="511937" cy="511937"/>
            </a:xfrm>
            <a:custGeom>
              <a:avLst/>
              <a:gdLst/>
              <a:ahLst/>
              <a:cxnLst/>
              <a:rect r="r" b="b" t="t" l="l"/>
              <a:pathLst>
                <a:path h="511937" w="511937">
                  <a:moveTo>
                    <a:pt x="0" y="0"/>
                  </a:moveTo>
                  <a:lnTo>
                    <a:pt x="511937" y="0"/>
                  </a:lnTo>
                  <a:lnTo>
                    <a:pt x="511937" y="511937"/>
                  </a:lnTo>
                  <a:lnTo>
                    <a:pt x="0" y="511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4" b="-4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3841252" y="8988114"/>
            <a:ext cx="2436657" cy="289684"/>
            <a:chOff x="0" y="0"/>
            <a:chExt cx="2884284" cy="3429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884288" cy="342901"/>
            </a:xfrm>
            <a:custGeom>
              <a:avLst/>
              <a:gdLst/>
              <a:ahLst/>
              <a:cxnLst/>
              <a:rect r="r" b="b" t="t" l="l"/>
              <a:pathLst>
                <a:path h="342901" w="2884288">
                  <a:moveTo>
                    <a:pt x="0" y="0"/>
                  </a:moveTo>
                  <a:lnTo>
                    <a:pt x="2884288" y="0"/>
                  </a:lnTo>
                  <a:lnTo>
                    <a:pt x="2884288" y="342901"/>
                  </a:lnTo>
                  <a:lnTo>
                    <a:pt x="0" y="3429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3896" r="0" b="-113896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19050"/>
              <a:ext cx="2884284" cy="36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52636A"/>
                  </a:solidFill>
                  <a:latin typeface="Arimo"/>
                  <a:ea typeface="Arimo"/>
                  <a:cs typeface="Arimo"/>
                  <a:sym typeface="Arimo"/>
                </a:rPr>
                <a:t>Real-time location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277908" y="8959005"/>
            <a:ext cx="383972" cy="383972"/>
            <a:chOff x="0" y="0"/>
            <a:chExt cx="511962" cy="511962"/>
          </a:xfrm>
        </p:grpSpPr>
        <p:sp>
          <p:nvSpPr>
            <p:cNvPr name="Freeform 36" id="36" descr="preencoded.png"/>
            <p:cNvSpPr/>
            <p:nvPr/>
          </p:nvSpPr>
          <p:spPr>
            <a:xfrm flipH="false" flipV="false" rot="0">
              <a:off x="0" y="0"/>
              <a:ext cx="511937" cy="511937"/>
            </a:xfrm>
            <a:custGeom>
              <a:avLst/>
              <a:gdLst/>
              <a:ahLst/>
              <a:cxnLst/>
              <a:rect r="r" b="b" t="t" l="l"/>
              <a:pathLst>
                <a:path h="511937" w="511937">
                  <a:moveTo>
                    <a:pt x="0" y="0"/>
                  </a:moveTo>
                  <a:lnTo>
                    <a:pt x="511937" y="0"/>
                  </a:lnTo>
                  <a:lnTo>
                    <a:pt x="511937" y="511937"/>
                  </a:lnTo>
                  <a:lnTo>
                    <a:pt x="0" y="511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4" b="-4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6556086" y="9003495"/>
            <a:ext cx="2457593" cy="297548"/>
            <a:chOff x="0" y="0"/>
            <a:chExt cx="2832176" cy="3429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832179" cy="342901"/>
            </a:xfrm>
            <a:custGeom>
              <a:avLst/>
              <a:gdLst/>
              <a:ahLst/>
              <a:cxnLst/>
              <a:rect r="r" b="b" t="t" l="l"/>
              <a:pathLst>
                <a:path h="342901" w="2832179">
                  <a:moveTo>
                    <a:pt x="0" y="0"/>
                  </a:moveTo>
                  <a:lnTo>
                    <a:pt x="2832179" y="0"/>
                  </a:lnTo>
                  <a:lnTo>
                    <a:pt x="2832179" y="342901"/>
                  </a:lnTo>
                  <a:lnTo>
                    <a:pt x="0" y="3429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0935" r="0" b="-11093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19050"/>
              <a:ext cx="2832176" cy="36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52636A"/>
                  </a:solidFill>
                  <a:latin typeface="Arimo"/>
                  <a:ea typeface="Arimo"/>
                  <a:cs typeface="Arimo"/>
                  <a:sym typeface="Arimo"/>
                </a:rPr>
                <a:t>Geofencing alerts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291857" y="8959005"/>
            <a:ext cx="345129" cy="383972"/>
            <a:chOff x="0" y="0"/>
            <a:chExt cx="460172" cy="511962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460121" cy="511937"/>
            </a:xfrm>
            <a:custGeom>
              <a:avLst/>
              <a:gdLst/>
              <a:ahLst/>
              <a:cxnLst/>
              <a:rect r="r" b="b" t="t" l="l"/>
              <a:pathLst>
                <a:path h="511937" w="460121">
                  <a:moveTo>
                    <a:pt x="0" y="0"/>
                  </a:moveTo>
                  <a:lnTo>
                    <a:pt x="460121" y="0"/>
                  </a:lnTo>
                  <a:lnTo>
                    <a:pt x="460121" y="511937"/>
                  </a:lnTo>
                  <a:lnTo>
                    <a:pt x="0" y="511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63" t="0" r="-77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9753795" y="8726110"/>
            <a:ext cx="2045389" cy="865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1"/>
              </a:lnSpc>
            </a:pPr>
            <a:r>
              <a:rPr lang="en-US" sz="2199">
                <a:solidFill>
                  <a:srgbClr val="52636A"/>
                </a:solidFill>
                <a:latin typeface="Arimo"/>
                <a:ea typeface="Arimo"/>
                <a:cs typeface="Arimo"/>
                <a:sym typeface="Arimo"/>
              </a:rPr>
              <a:t>SOS and incident</a:t>
            </a:r>
          </a:p>
          <a:p>
            <a:pPr algn="ctr">
              <a:lnSpc>
                <a:spcPts val="2201"/>
              </a:lnSpc>
            </a:pPr>
            <a:r>
              <a:rPr lang="en-US" sz="2199">
                <a:solidFill>
                  <a:srgbClr val="52636A"/>
                </a:solidFill>
                <a:latin typeface="Arimo"/>
                <a:ea typeface="Arimo"/>
                <a:cs typeface="Arimo"/>
                <a:sym typeface="Arimo"/>
              </a:rPr>
              <a:t>reporting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1915994" y="8959005"/>
            <a:ext cx="383972" cy="383972"/>
            <a:chOff x="0" y="0"/>
            <a:chExt cx="511962" cy="511962"/>
          </a:xfrm>
        </p:grpSpPr>
        <p:sp>
          <p:nvSpPr>
            <p:cNvPr name="Freeform 44" id="44" descr="preencoded.png"/>
            <p:cNvSpPr/>
            <p:nvPr/>
          </p:nvSpPr>
          <p:spPr>
            <a:xfrm flipH="false" flipV="false" rot="0">
              <a:off x="0" y="0"/>
              <a:ext cx="511937" cy="511937"/>
            </a:xfrm>
            <a:custGeom>
              <a:avLst/>
              <a:gdLst/>
              <a:ahLst/>
              <a:cxnLst/>
              <a:rect r="r" b="b" t="t" l="l"/>
              <a:pathLst>
                <a:path h="511937" w="511937">
                  <a:moveTo>
                    <a:pt x="0" y="0"/>
                  </a:moveTo>
                  <a:lnTo>
                    <a:pt x="511937" y="0"/>
                  </a:lnTo>
                  <a:lnTo>
                    <a:pt x="511937" y="511937"/>
                  </a:lnTo>
                  <a:lnTo>
                    <a:pt x="0" y="511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2254713" y="9003495"/>
            <a:ext cx="2631477" cy="274303"/>
            <a:chOff x="0" y="0"/>
            <a:chExt cx="3289554" cy="3429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289557" cy="342901"/>
            </a:xfrm>
            <a:custGeom>
              <a:avLst/>
              <a:gdLst/>
              <a:ahLst/>
              <a:cxnLst/>
              <a:rect r="r" b="b" t="t" l="l"/>
              <a:pathLst>
                <a:path h="342901" w="3289557">
                  <a:moveTo>
                    <a:pt x="0" y="0"/>
                  </a:moveTo>
                  <a:lnTo>
                    <a:pt x="3289557" y="0"/>
                  </a:lnTo>
                  <a:lnTo>
                    <a:pt x="3289557" y="342901"/>
                  </a:lnTo>
                  <a:lnTo>
                    <a:pt x="0" y="3429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6925" r="0" b="-136925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19050"/>
              <a:ext cx="3289554" cy="36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52636A"/>
                  </a:solidFill>
                  <a:latin typeface="Arimo"/>
                  <a:ea typeface="Arimo"/>
                  <a:cs typeface="Arimo"/>
                  <a:sym typeface="Arimo"/>
                </a:rPr>
                <a:t>Authority dashboard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0093719" y="2639120"/>
            <a:ext cx="2947159" cy="2898838"/>
            <a:chOff x="0" y="0"/>
            <a:chExt cx="3929545" cy="3865118"/>
          </a:xfrm>
        </p:grpSpPr>
        <p:sp>
          <p:nvSpPr>
            <p:cNvPr name="Freeform 49" id="49" descr="smartphone illustration with floating app icons, Smartphone With Apps, Digital Phone Illustration, Mobile App Icons PNG Image and Clipart"/>
            <p:cNvSpPr/>
            <p:nvPr/>
          </p:nvSpPr>
          <p:spPr>
            <a:xfrm flipH="false" flipV="false" rot="0">
              <a:off x="0" y="0"/>
              <a:ext cx="3929507" cy="3865118"/>
            </a:xfrm>
            <a:custGeom>
              <a:avLst/>
              <a:gdLst/>
              <a:ahLst/>
              <a:cxnLst/>
              <a:rect r="r" b="b" t="t" l="l"/>
              <a:pathLst>
                <a:path h="3865118" w="3929507">
                  <a:moveTo>
                    <a:pt x="0" y="0"/>
                  </a:moveTo>
                  <a:lnTo>
                    <a:pt x="3929507" y="0"/>
                  </a:lnTo>
                  <a:lnTo>
                    <a:pt x="3929507" y="3865118"/>
                  </a:lnTo>
                  <a:lnTo>
                    <a:pt x="0" y="38651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6187440" y="1642377"/>
            <a:ext cx="2557167" cy="675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i="true">
                <a:solidFill>
                  <a:srgbClr val="A6533B"/>
                </a:solidFill>
                <a:latin typeface="Arimo Italics"/>
                <a:ea typeface="Arimo Italics"/>
                <a:cs typeface="Arimo Italics"/>
                <a:sym typeface="Arimo Italics"/>
              </a:rPr>
              <a:t>Members :</a:t>
            </a:r>
            <a:r>
              <a:rPr lang="en-US" sz="36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927487" y="1332281"/>
            <a:ext cx="2988507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i="true">
                <a:solidFill>
                  <a:srgbClr val="A6533B"/>
                </a:solidFill>
                <a:latin typeface="Arimo Italics"/>
                <a:ea typeface="Arimo Italics"/>
                <a:cs typeface="Arimo Italics"/>
                <a:sym typeface="Arimo Italics"/>
              </a:rPr>
              <a:t>1) Gauri</a:t>
            </a:r>
          </a:p>
          <a:p>
            <a:pPr algn="l">
              <a:lnSpc>
                <a:spcPts val="3359"/>
              </a:lnSpc>
            </a:pPr>
            <a:r>
              <a:rPr lang="en-US" sz="2799" i="true">
                <a:solidFill>
                  <a:srgbClr val="A6533B"/>
                </a:solidFill>
                <a:latin typeface="Arimo Italics"/>
                <a:ea typeface="Arimo Italics"/>
                <a:cs typeface="Arimo Italics"/>
                <a:sym typeface="Arimo Italics"/>
              </a:rPr>
              <a:t>2) Afnan Zia</a:t>
            </a:r>
          </a:p>
          <a:p>
            <a:pPr algn="l">
              <a:lnSpc>
                <a:spcPts val="3359"/>
              </a:lnSpc>
            </a:pPr>
            <a:r>
              <a:rPr lang="en-US" sz="2799" i="true">
                <a:solidFill>
                  <a:srgbClr val="A6533B"/>
                </a:solidFill>
                <a:latin typeface="Arimo Italics"/>
                <a:ea typeface="Arimo Italics"/>
                <a:cs typeface="Arimo Italics"/>
                <a:sym typeface="Arimo Italics"/>
              </a:rPr>
              <a:t>3) Azhar Shahzad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4F1E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25314" y="1099690"/>
            <a:ext cx="7381475" cy="885825"/>
            <a:chOff x="0" y="0"/>
            <a:chExt cx="9841967" cy="1181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841965" cy="1181101"/>
            </a:xfrm>
            <a:custGeom>
              <a:avLst/>
              <a:gdLst/>
              <a:ahLst/>
              <a:cxnLst/>
              <a:rect r="r" b="b" t="t" l="l"/>
              <a:pathLst>
                <a:path h="1181101" w="9841965">
                  <a:moveTo>
                    <a:pt x="0" y="0"/>
                  </a:moveTo>
                  <a:lnTo>
                    <a:pt x="9841965" y="0"/>
                  </a:lnTo>
                  <a:lnTo>
                    <a:pt x="9841965" y="1181101"/>
                  </a:lnTo>
                  <a:lnTo>
                    <a:pt x="0" y="11811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2366" r="0" b="-112366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9841967" cy="11906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911"/>
                </a:lnSpc>
              </a:pPr>
              <a:r>
                <a:rPr lang="en-US" b="true" sz="5759" spc="-287">
                  <a:solidFill>
                    <a:srgbClr val="24313A"/>
                  </a:solidFill>
                  <a:latin typeface="Inter Bold"/>
                  <a:ea typeface="Inter Bold"/>
                  <a:cs typeface="Inter Bold"/>
                  <a:sym typeface="Inter Bold"/>
                </a:rPr>
                <a:t>Literature Review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93872" y="4128640"/>
            <a:ext cx="16948623" cy="4076700"/>
            <a:chOff x="0" y="0"/>
            <a:chExt cx="22598164" cy="54356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598126" cy="5435600"/>
            </a:xfrm>
            <a:custGeom>
              <a:avLst/>
              <a:gdLst/>
              <a:ahLst/>
              <a:cxnLst/>
              <a:rect r="r" b="b" t="t" l="l"/>
              <a:pathLst>
                <a:path h="5435600" w="22598126">
                  <a:moveTo>
                    <a:pt x="0" y="268859"/>
                  </a:moveTo>
                  <a:cubicBezTo>
                    <a:pt x="0" y="120396"/>
                    <a:pt x="120396" y="0"/>
                    <a:pt x="268859" y="0"/>
                  </a:cubicBezTo>
                  <a:lnTo>
                    <a:pt x="22329267" y="0"/>
                  </a:lnTo>
                  <a:cubicBezTo>
                    <a:pt x="22477730" y="0"/>
                    <a:pt x="22598126" y="120396"/>
                    <a:pt x="22598126" y="268859"/>
                  </a:cubicBezTo>
                  <a:lnTo>
                    <a:pt x="22598126" y="5166741"/>
                  </a:lnTo>
                  <a:cubicBezTo>
                    <a:pt x="22598126" y="5315204"/>
                    <a:pt x="22477730" y="5435600"/>
                    <a:pt x="22329267" y="5435600"/>
                  </a:cubicBezTo>
                  <a:lnTo>
                    <a:pt x="268859" y="5435600"/>
                  </a:lnTo>
                  <a:cubicBezTo>
                    <a:pt x="120396" y="5435600"/>
                    <a:pt x="0" y="5315204"/>
                    <a:pt x="0" y="5166741"/>
                  </a:cubicBezTo>
                  <a:close/>
                </a:path>
              </a:pathLst>
            </a:custGeom>
            <a:solidFill>
              <a:srgbClr val="E9EFE9">
                <a:alpha val="72157"/>
              </a:srgbClr>
            </a:solidFill>
            <a:ln w="9526" cap="sq">
              <a:solidFill>
                <a:srgbClr val="9FB3AD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693872" y="3261865"/>
            <a:ext cx="16898498" cy="581025"/>
            <a:chOff x="0" y="0"/>
            <a:chExt cx="22531330" cy="7747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531330" cy="774700"/>
            </a:xfrm>
            <a:custGeom>
              <a:avLst/>
              <a:gdLst/>
              <a:ahLst/>
              <a:cxnLst/>
              <a:rect r="r" b="b" t="t" l="l"/>
              <a:pathLst>
                <a:path h="774700" w="22531330">
                  <a:moveTo>
                    <a:pt x="0" y="0"/>
                  </a:moveTo>
                  <a:lnTo>
                    <a:pt x="22531330" y="0"/>
                  </a:lnTo>
                  <a:lnTo>
                    <a:pt x="22531330" y="774700"/>
                  </a:lnTo>
                  <a:lnTo>
                    <a:pt x="0" y="774700"/>
                  </a:lnTo>
                  <a:close/>
                </a:path>
              </a:pathLst>
            </a:custGeom>
            <a:solidFill>
              <a:srgbClr val="D5DFDB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078825" y="4278100"/>
            <a:ext cx="3264909" cy="478148"/>
            <a:chOff x="0" y="0"/>
            <a:chExt cx="3559645" cy="52131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559651" cy="521313"/>
            </a:xfrm>
            <a:custGeom>
              <a:avLst/>
              <a:gdLst/>
              <a:ahLst/>
              <a:cxnLst/>
              <a:rect r="r" b="b" t="t" l="l"/>
              <a:pathLst>
                <a:path h="521313" w="3559651">
                  <a:moveTo>
                    <a:pt x="0" y="0"/>
                  </a:moveTo>
                  <a:lnTo>
                    <a:pt x="3559651" y="0"/>
                  </a:lnTo>
                  <a:lnTo>
                    <a:pt x="3559651" y="521313"/>
                  </a:lnTo>
                  <a:lnTo>
                    <a:pt x="0" y="52131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160" r="0" b="-6593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3559645" cy="5308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176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Author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4274244" y="4278100"/>
            <a:ext cx="2220506" cy="539503"/>
            <a:chOff x="0" y="0"/>
            <a:chExt cx="2025764" cy="49218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025768" cy="492189"/>
            </a:xfrm>
            <a:custGeom>
              <a:avLst/>
              <a:gdLst/>
              <a:ahLst/>
              <a:cxnLst/>
              <a:rect r="r" b="b" t="t" l="l"/>
              <a:pathLst>
                <a:path h="492189" w="2025768">
                  <a:moveTo>
                    <a:pt x="0" y="0"/>
                  </a:moveTo>
                  <a:lnTo>
                    <a:pt x="2025768" y="0"/>
                  </a:lnTo>
                  <a:lnTo>
                    <a:pt x="2025768" y="492189"/>
                  </a:lnTo>
                  <a:lnTo>
                    <a:pt x="0" y="4921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5362" r="0" b="-1503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025764" cy="5017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176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Year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273056" y="4221405"/>
            <a:ext cx="2320377" cy="652893"/>
            <a:chOff x="0" y="0"/>
            <a:chExt cx="2477478" cy="69709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477472" cy="697098"/>
            </a:xfrm>
            <a:custGeom>
              <a:avLst/>
              <a:gdLst/>
              <a:ahLst/>
              <a:cxnLst/>
              <a:rect r="r" b="b" t="t" l="l"/>
              <a:pathLst>
                <a:path h="697098" w="2477472">
                  <a:moveTo>
                    <a:pt x="0" y="0"/>
                  </a:moveTo>
                  <a:lnTo>
                    <a:pt x="2477472" y="0"/>
                  </a:lnTo>
                  <a:lnTo>
                    <a:pt x="2477472" y="697098"/>
                  </a:lnTo>
                  <a:lnTo>
                    <a:pt x="0" y="6970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654" r="0" b="6155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2477478" cy="7066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176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Study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00241" y="8367265"/>
            <a:ext cx="15735300" cy="1543050"/>
            <a:chOff x="0" y="0"/>
            <a:chExt cx="20980400" cy="20574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0980400" cy="2057400"/>
            </a:xfrm>
            <a:custGeom>
              <a:avLst/>
              <a:gdLst/>
              <a:ahLst/>
              <a:cxnLst/>
              <a:rect r="r" b="b" t="t" l="l"/>
              <a:pathLst>
                <a:path h="2057400" w="20980400">
                  <a:moveTo>
                    <a:pt x="0" y="269875"/>
                  </a:moveTo>
                  <a:cubicBezTo>
                    <a:pt x="0" y="120777"/>
                    <a:pt x="120777" y="0"/>
                    <a:pt x="269875" y="0"/>
                  </a:cubicBezTo>
                  <a:lnTo>
                    <a:pt x="20710525" y="0"/>
                  </a:lnTo>
                  <a:cubicBezTo>
                    <a:pt x="20859623" y="0"/>
                    <a:pt x="20980400" y="120777"/>
                    <a:pt x="20980400" y="269875"/>
                  </a:cubicBezTo>
                  <a:lnTo>
                    <a:pt x="20980400" y="1787525"/>
                  </a:lnTo>
                  <a:cubicBezTo>
                    <a:pt x="20980400" y="1936623"/>
                    <a:pt x="20859623" y="2057400"/>
                    <a:pt x="20710525" y="2057400"/>
                  </a:cubicBezTo>
                  <a:lnTo>
                    <a:pt x="269875" y="2057400"/>
                  </a:lnTo>
                  <a:cubicBezTo>
                    <a:pt x="120777" y="2057400"/>
                    <a:pt x="0" y="1936623"/>
                    <a:pt x="0" y="1787525"/>
                  </a:cubicBezTo>
                  <a:close/>
                </a:path>
              </a:pathLst>
            </a:custGeom>
            <a:solidFill>
              <a:srgbClr val="F1E3D8">
                <a:alpha val="63922"/>
              </a:srgbClr>
            </a:solidFill>
            <a:ln w="9526" cap="sq">
              <a:solidFill>
                <a:srgbClr val="C56A4A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280074" y="8606276"/>
            <a:ext cx="114300" cy="114300"/>
            <a:chOff x="0" y="0"/>
            <a:chExt cx="152400" cy="1524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cubicBezTo>
                    <a:pt x="118237" y="0"/>
                    <a:pt x="152400" y="34163"/>
                    <a:pt x="152400" y="76200"/>
                  </a:cubicBezTo>
                  <a:cubicBezTo>
                    <a:pt x="152400" y="118237"/>
                    <a:pt x="118237" y="152400"/>
                    <a:pt x="76200" y="152400"/>
                  </a:cubicBezTo>
                  <a:cubicBezTo>
                    <a:pt x="34163" y="152400"/>
                    <a:pt x="0" y="118237"/>
                    <a:pt x="0" y="76200"/>
                  </a:cubicBezTo>
                  <a:close/>
                </a:path>
              </a:pathLst>
            </a:custGeom>
            <a:solidFill>
              <a:srgbClr val="C66A4A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533677" y="8529037"/>
            <a:ext cx="2377011" cy="266700"/>
            <a:chOff x="0" y="0"/>
            <a:chExt cx="3169348" cy="355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169344" cy="355600"/>
            </a:xfrm>
            <a:custGeom>
              <a:avLst/>
              <a:gdLst/>
              <a:ahLst/>
              <a:cxnLst/>
              <a:rect r="r" b="b" t="t" l="l"/>
              <a:pathLst>
                <a:path h="355600" w="3169344">
                  <a:moveTo>
                    <a:pt x="0" y="0"/>
                  </a:moveTo>
                  <a:lnTo>
                    <a:pt x="3169344" y="0"/>
                  </a:lnTo>
                  <a:lnTo>
                    <a:pt x="3169344" y="355600"/>
                  </a:lnTo>
                  <a:lnTo>
                    <a:pt x="0" y="355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3663" r="0" b="-123663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3169348" cy="365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212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RESEARCH GAP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37224" y="8957662"/>
            <a:ext cx="18914221" cy="723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1940">
                <a:solidFill>
                  <a:srgbClr val="5B3F31"/>
                </a:solidFill>
                <a:latin typeface="Arimo"/>
                <a:ea typeface="Arimo"/>
                <a:cs typeface="Arimo"/>
                <a:sym typeface="Arimo"/>
              </a:rPr>
              <a:t>“A dedicated tourist-safety system combining real-time location detection, geofencing, risk monitoring, safety alerts, SOS and</a:t>
            </a:r>
          </a:p>
          <a:p>
            <a:pPr algn="l">
              <a:lnSpc>
                <a:spcPts val="2624"/>
              </a:lnSpc>
            </a:pPr>
            <a:r>
              <a:rPr lang="en-US" sz="1940">
                <a:solidFill>
                  <a:srgbClr val="5B3F31"/>
                </a:solidFill>
                <a:latin typeface="Arimo"/>
                <a:ea typeface="Arimo"/>
                <a:cs typeface="Arimo"/>
                <a:sym typeface="Arimo"/>
              </a:rPr>
              <a:t>incident response can provide a more focused and proactive safety solution for travellers.”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84728" y="7767190"/>
            <a:ext cx="16948623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</a:p>
        </p:txBody>
      </p:sp>
      <p:sp>
        <p:nvSpPr>
          <p:cNvPr name="TextBox 31" id="31"/>
          <p:cNvSpPr txBox="true"/>
          <p:nvPr/>
        </p:nvSpPr>
        <p:spPr>
          <a:xfrm rot="0">
            <a:off x="743998" y="4779503"/>
            <a:ext cx="2724377" cy="873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1"/>
              </a:lnSpc>
            </a:pPr>
            <a:r>
              <a:rPr lang="en-US" sz="165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Gonzá</a:t>
            </a:r>
            <a:r>
              <a:rPr lang="en-US" sz="165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lez-Reverté, Díaz-Luque, Gomis-López &amp; Morales-Pérez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25314" y="5988838"/>
            <a:ext cx="2892719" cy="879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37"/>
              </a:lnSpc>
            </a:pPr>
            <a:r>
              <a:rPr lang="en-US" sz="166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</a:t>
            </a:r>
            <a:r>
              <a:rPr lang="en-US" sz="166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eethi Warrier, Aliza Shaikh, Sanika Patil, Divyal Vighe &amp; Yash Sawant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43998" y="7278002"/>
            <a:ext cx="2907058" cy="552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7"/>
              </a:lnSpc>
            </a:pPr>
            <a:r>
              <a:rPr lang="en-US" sz="159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G. V.</a:t>
            </a:r>
            <a:r>
              <a:rPr lang="en-US" sz="159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Sonawane, Ashwini Gaidhani &amp; Vaishnavi Patil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269816" y="5009846"/>
            <a:ext cx="2692471" cy="2761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94"/>
              </a:lnSpc>
            </a:pPr>
            <a:r>
              <a:rPr lang="en-US" sz="163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2018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3269816" y="6295316"/>
            <a:ext cx="2692471" cy="2761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94"/>
              </a:lnSpc>
            </a:pPr>
            <a:r>
              <a:rPr lang="en-US" sz="163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2026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269816" y="7452156"/>
            <a:ext cx="2692471" cy="2761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94"/>
              </a:lnSpc>
            </a:pPr>
            <a:r>
              <a:rPr lang="en-US" sz="163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2026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803415" y="4890050"/>
            <a:ext cx="2395078" cy="1020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4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Tourists’ </a:t>
            </a:r>
            <a:r>
              <a:rPr lang="en-US" sz="14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Risk Perception and the Use of Mobile Devices in Beach Tourism Destinations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803415" y="6177940"/>
            <a:ext cx="2395078" cy="763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4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Saf</a:t>
            </a:r>
            <a:r>
              <a:rPr lang="en-US" sz="14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 Days: Tourist Safety and Incident Response System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803415" y="7208568"/>
            <a:ext cx="2395078" cy="763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4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Smart Tou</a:t>
            </a:r>
            <a:r>
              <a:rPr lang="en-US" sz="14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rist Safety Monitoring and Incident Response System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539146" y="4221405"/>
            <a:ext cx="2320377" cy="652893"/>
            <a:chOff x="0" y="0"/>
            <a:chExt cx="2477478" cy="697097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477472" cy="697098"/>
            </a:xfrm>
            <a:custGeom>
              <a:avLst/>
              <a:gdLst/>
              <a:ahLst/>
              <a:cxnLst/>
              <a:rect r="r" b="b" t="t" l="l"/>
              <a:pathLst>
                <a:path h="697098" w="2477472">
                  <a:moveTo>
                    <a:pt x="0" y="0"/>
                  </a:moveTo>
                  <a:lnTo>
                    <a:pt x="2477472" y="0"/>
                  </a:lnTo>
                  <a:lnTo>
                    <a:pt x="2477472" y="697098"/>
                  </a:lnTo>
                  <a:lnTo>
                    <a:pt x="0" y="6970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654" r="0" b="615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2477478" cy="7066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176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Objective</a:t>
              </a: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9194125" y="5009846"/>
            <a:ext cx="2671524" cy="561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6"/>
              </a:lnSpc>
            </a:pPr>
            <a:r>
              <a:rPr lang="en-US" sz="162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Mobile technology, tourist risk perception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9018016" y="6047671"/>
            <a:ext cx="2695414" cy="8554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96"/>
              </a:lnSpc>
            </a:pPr>
            <a:r>
              <a:rPr lang="en-US" sz="16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Real-time geolocation, dynamic geofencing, SOS, dashboard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257264" y="7167339"/>
            <a:ext cx="2545246" cy="8094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8"/>
              </a:lnSpc>
            </a:pPr>
            <a:r>
              <a:rPr lang="en-US" sz="15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Mobile </a:t>
            </a:r>
            <a:r>
              <a:rPr lang="en-US" sz="15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computing, cloud infrastructure, geolocation, AI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3793098" y="4144877"/>
            <a:ext cx="2320377" cy="652893"/>
            <a:chOff x="0" y="0"/>
            <a:chExt cx="2477478" cy="697097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477472" cy="697098"/>
            </a:xfrm>
            <a:custGeom>
              <a:avLst/>
              <a:gdLst/>
              <a:ahLst/>
              <a:cxnLst/>
              <a:rect r="r" b="b" t="t" l="l"/>
              <a:pathLst>
                <a:path h="697098" w="2477472">
                  <a:moveTo>
                    <a:pt x="0" y="0"/>
                  </a:moveTo>
                  <a:lnTo>
                    <a:pt x="2477472" y="0"/>
                  </a:lnTo>
                  <a:lnTo>
                    <a:pt x="2477472" y="697098"/>
                  </a:lnTo>
                  <a:lnTo>
                    <a:pt x="0" y="6970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654" r="0" b="6155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9525"/>
              <a:ext cx="2477478" cy="7066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176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Key Finding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2731461" y="4974729"/>
            <a:ext cx="4443651" cy="851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4"/>
              </a:lnSpc>
            </a:pPr>
            <a:r>
              <a:rPr lang="en-US" sz="163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Shows that m</a:t>
            </a:r>
            <a:r>
              <a:rPr lang="en-US" sz="163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obile technology can influence how tourists perceive and manage safety risks. 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2554098" y="6047671"/>
            <a:ext cx="4798376" cy="851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4"/>
              </a:lnSpc>
            </a:pPr>
            <a:r>
              <a:rPr lang="en-US" sz="163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Very closely related t</a:t>
            </a:r>
            <a:r>
              <a:rPr lang="en-US" sz="163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 SafarShield. It demonstrates the usefulness of geofencing and real-time location monitoring for tourist safety. 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2376736" y="7120612"/>
            <a:ext cx="4798376" cy="851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4"/>
              </a:lnSpc>
            </a:pPr>
            <a:r>
              <a:rPr lang="en-US" sz="163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Combines geolocation, cloud techn</a:t>
            </a:r>
            <a:r>
              <a:rPr lang="en-US" sz="163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ologies and AI for tourist safety, showing the potential of an integrated approach.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4F1E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280074" y="1058618"/>
            <a:ext cx="13511393" cy="847725"/>
            <a:chOff x="0" y="0"/>
            <a:chExt cx="18015191" cy="11303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015189" cy="1130299"/>
            </a:xfrm>
            <a:custGeom>
              <a:avLst/>
              <a:gdLst/>
              <a:ahLst/>
              <a:cxnLst/>
              <a:rect r="r" b="b" t="t" l="l"/>
              <a:pathLst>
                <a:path h="1130299" w="18015189">
                  <a:moveTo>
                    <a:pt x="0" y="0"/>
                  </a:moveTo>
                  <a:lnTo>
                    <a:pt x="18015189" y="0"/>
                  </a:lnTo>
                  <a:lnTo>
                    <a:pt x="18015189" y="1130299"/>
                  </a:lnTo>
                  <a:lnTo>
                    <a:pt x="0" y="113029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0560" r="0" b="-260561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9525"/>
              <a:ext cx="18015191" cy="1120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576"/>
                </a:lnSpc>
              </a:pPr>
              <a:r>
                <a:rPr lang="en-US" b="true" sz="5480" spc="-274">
                  <a:solidFill>
                    <a:srgbClr val="24313A"/>
                  </a:solidFill>
                  <a:latin typeface="Inter Bold"/>
                  <a:ea typeface="Inter Bold"/>
                  <a:cs typeface="Inter Bold"/>
                  <a:sym typeface="Inter Bold"/>
                </a:rPr>
                <a:t>Methodology &amp; System Workflow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50898" y="2440059"/>
            <a:ext cx="15941902" cy="3231326"/>
            <a:chOff x="0" y="0"/>
            <a:chExt cx="22018565" cy="446302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018566" cy="4463028"/>
            </a:xfrm>
            <a:custGeom>
              <a:avLst/>
              <a:gdLst/>
              <a:ahLst/>
              <a:cxnLst/>
              <a:rect r="r" b="b" t="t" l="l"/>
              <a:pathLst>
                <a:path h="4463028" w="22018566">
                  <a:moveTo>
                    <a:pt x="0" y="266273"/>
                  </a:moveTo>
                  <a:cubicBezTo>
                    <a:pt x="0" y="119182"/>
                    <a:pt x="126354" y="0"/>
                    <a:pt x="282296" y="0"/>
                  </a:cubicBezTo>
                  <a:lnTo>
                    <a:pt x="21736269" y="0"/>
                  </a:lnTo>
                  <a:cubicBezTo>
                    <a:pt x="21892211" y="0"/>
                    <a:pt x="22018566" y="119182"/>
                    <a:pt x="22018566" y="266273"/>
                  </a:cubicBezTo>
                  <a:lnTo>
                    <a:pt x="22018566" y="4196755"/>
                  </a:lnTo>
                  <a:cubicBezTo>
                    <a:pt x="22018566" y="4343847"/>
                    <a:pt x="21892211" y="4463028"/>
                    <a:pt x="21736269" y="4463028"/>
                  </a:cubicBezTo>
                  <a:lnTo>
                    <a:pt x="282296" y="4463028"/>
                  </a:lnTo>
                  <a:cubicBezTo>
                    <a:pt x="126354" y="4463028"/>
                    <a:pt x="0" y="4343846"/>
                    <a:pt x="0" y="4196755"/>
                  </a:cubicBezTo>
                  <a:close/>
                </a:path>
              </a:pathLst>
            </a:custGeom>
            <a:solidFill>
              <a:srgbClr val="E8EDE8">
                <a:alpha val="63922"/>
              </a:srgbClr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508970" y="2534292"/>
            <a:ext cx="4828880" cy="274240"/>
            <a:chOff x="0" y="0"/>
            <a:chExt cx="5366982" cy="304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366981" cy="304800"/>
            </a:xfrm>
            <a:custGeom>
              <a:avLst/>
              <a:gdLst/>
              <a:ahLst/>
              <a:cxnLst/>
              <a:rect r="r" b="b" t="t" l="l"/>
              <a:pathLst>
                <a:path h="304800" w="5366981">
                  <a:moveTo>
                    <a:pt x="0" y="0"/>
                  </a:moveTo>
                  <a:lnTo>
                    <a:pt x="5366981" y="0"/>
                  </a:lnTo>
                  <a:lnTo>
                    <a:pt x="5366981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3096" r="0" b="-29309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5366982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218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SAFETY DECISION PIPELINE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503607" y="2968447"/>
            <a:ext cx="4991100" cy="742950"/>
            <a:chOff x="0" y="0"/>
            <a:chExt cx="6654800" cy="990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54800" cy="990600"/>
            </a:xfrm>
            <a:custGeom>
              <a:avLst/>
              <a:gdLst/>
              <a:ahLst/>
              <a:cxnLst/>
              <a:rect r="r" b="b" t="t" l="l"/>
              <a:pathLst>
                <a:path h="990600" w="6654800">
                  <a:moveTo>
                    <a:pt x="0" y="160528"/>
                  </a:moveTo>
                  <a:cubicBezTo>
                    <a:pt x="0" y="71882"/>
                    <a:pt x="71882" y="0"/>
                    <a:pt x="160528" y="0"/>
                  </a:cubicBezTo>
                  <a:lnTo>
                    <a:pt x="6494272" y="0"/>
                  </a:lnTo>
                  <a:cubicBezTo>
                    <a:pt x="6582918" y="0"/>
                    <a:pt x="6654800" y="71882"/>
                    <a:pt x="6654800" y="160528"/>
                  </a:cubicBezTo>
                  <a:lnTo>
                    <a:pt x="6654800" y="830072"/>
                  </a:lnTo>
                  <a:cubicBezTo>
                    <a:pt x="6654800" y="918718"/>
                    <a:pt x="6582918" y="990600"/>
                    <a:pt x="6494272" y="990600"/>
                  </a:cubicBezTo>
                  <a:lnTo>
                    <a:pt x="160528" y="990600"/>
                  </a:lnTo>
                  <a:cubicBezTo>
                    <a:pt x="71882" y="990600"/>
                    <a:pt x="0" y="918718"/>
                    <a:pt x="0" y="830072"/>
                  </a:cubicBezTo>
                  <a:close/>
                </a:path>
              </a:pathLst>
            </a:custGeom>
            <a:solidFill>
              <a:srgbClr val="DFE8E4"/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655559" y="3227337"/>
            <a:ext cx="337376" cy="209550"/>
            <a:chOff x="0" y="0"/>
            <a:chExt cx="449834" cy="279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837" cy="279400"/>
            </a:xfrm>
            <a:custGeom>
              <a:avLst/>
              <a:gdLst/>
              <a:ahLst/>
              <a:cxnLst/>
              <a:rect r="r" b="b" t="t" l="l"/>
              <a:pathLst>
                <a:path h="279400" w="449837">
                  <a:moveTo>
                    <a:pt x="0" y="0"/>
                  </a:moveTo>
                  <a:lnTo>
                    <a:pt x="449837" y="0"/>
                  </a:lnTo>
                  <a:lnTo>
                    <a:pt x="449837" y="279400"/>
                  </a:lnTo>
                  <a:lnTo>
                    <a:pt x="0" y="279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9691" t="0" r="-29690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449834" cy="288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01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945777" y="3111256"/>
            <a:ext cx="457200" cy="457200"/>
            <a:chOff x="0" y="0"/>
            <a:chExt cx="609600" cy="609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D5DFDB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2028082" y="3193552"/>
            <a:ext cx="292598" cy="292598"/>
            <a:chOff x="0" y="0"/>
            <a:chExt cx="390131" cy="390131"/>
          </a:xfrm>
        </p:grpSpPr>
        <p:sp>
          <p:nvSpPr>
            <p:cNvPr name="Freeform 22" id="22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3" b="3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2521591" y="3168262"/>
            <a:ext cx="2820225" cy="277112"/>
            <a:chOff x="0" y="0"/>
            <a:chExt cx="3102013" cy="304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102016" cy="304800"/>
            </a:xfrm>
            <a:custGeom>
              <a:avLst/>
              <a:gdLst/>
              <a:ahLst/>
              <a:cxnLst/>
              <a:rect r="r" b="b" t="t" l="l"/>
              <a:pathLst>
                <a:path h="304800" w="3102016">
                  <a:moveTo>
                    <a:pt x="0" y="0"/>
                  </a:moveTo>
                  <a:lnTo>
                    <a:pt x="3102016" y="0"/>
                  </a:lnTo>
                  <a:lnTo>
                    <a:pt x="3102016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48303" r="0" b="-148303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3102013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Tourist Registration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648450" y="2968447"/>
            <a:ext cx="4991100" cy="742950"/>
            <a:chOff x="0" y="0"/>
            <a:chExt cx="6654800" cy="990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654800" cy="990600"/>
            </a:xfrm>
            <a:custGeom>
              <a:avLst/>
              <a:gdLst/>
              <a:ahLst/>
              <a:cxnLst/>
              <a:rect r="r" b="b" t="t" l="l"/>
              <a:pathLst>
                <a:path h="990600" w="6654800">
                  <a:moveTo>
                    <a:pt x="0" y="160528"/>
                  </a:moveTo>
                  <a:cubicBezTo>
                    <a:pt x="0" y="71882"/>
                    <a:pt x="71882" y="0"/>
                    <a:pt x="160528" y="0"/>
                  </a:cubicBezTo>
                  <a:lnTo>
                    <a:pt x="6494272" y="0"/>
                  </a:lnTo>
                  <a:cubicBezTo>
                    <a:pt x="6582918" y="0"/>
                    <a:pt x="6654800" y="71882"/>
                    <a:pt x="6654800" y="160528"/>
                  </a:cubicBezTo>
                  <a:lnTo>
                    <a:pt x="6654800" y="830072"/>
                  </a:lnTo>
                  <a:cubicBezTo>
                    <a:pt x="6654800" y="918718"/>
                    <a:pt x="6582918" y="990600"/>
                    <a:pt x="6494272" y="990600"/>
                  </a:cubicBezTo>
                  <a:lnTo>
                    <a:pt x="160528" y="990600"/>
                  </a:lnTo>
                  <a:cubicBezTo>
                    <a:pt x="71882" y="990600"/>
                    <a:pt x="0" y="918718"/>
                    <a:pt x="0" y="830072"/>
                  </a:cubicBezTo>
                  <a:close/>
                </a:path>
              </a:pathLst>
            </a:custGeom>
            <a:solidFill>
              <a:srgbClr val="DFE8E4"/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6800402" y="3227337"/>
            <a:ext cx="337376" cy="209550"/>
            <a:chOff x="0" y="0"/>
            <a:chExt cx="449834" cy="279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49837" cy="279400"/>
            </a:xfrm>
            <a:custGeom>
              <a:avLst/>
              <a:gdLst/>
              <a:ahLst/>
              <a:cxnLst/>
              <a:rect r="r" b="b" t="t" l="l"/>
              <a:pathLst>
                <a:path h="279400" w="449837">
                  <a:moveTo>
                    <a:pt x="0" y="0"/>
                  </a:moveTo>
                  <a:lnTo>
                    <a:pt x="449837" y="0"/>
                  </a:lnTo>
                  <a:lnTo>
                    <a:pt x="449837" y="279400"/>
                  </a:lnTo>
                  <a:lnTo>
                    <a:pt x="0" y="279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9691" t="0" r="-2969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449834" cy="288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02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7090620" y="3111256"/>
            <a:ext cx="457200" cy="457200"/>
            <a:chOff x="0" y="0"/>
            <a:chExt cx="609600" cy="6096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D5DFDB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7172916" y="3193552"/>
            <a:ext cx="292598" cy="292598"/>
            <a:chOff x="0" y="0"/>
            <a:chExt cx="390131" cy="390131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3" b="3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7666434" y="3141801"/>
            <a:ext cx="3056125" cy="303572"/>
            <a:chOff x="0" y="0"/>
            <a:chExt cx="3068485" cy="304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068480" cy="304800"/>
            </a:xfrm>
            <a:custGeom>
              <a:avLst/>
              <a:gdLst/>
              <a:ahLst/>
              <a:cxnLst/>
              <a:rect r="r" b="b" t="t" l="l"/>
              <a:pathLst>
                <a:path h="304800" w="3068480">
                  <a:moveTo>
                    <a:pt x="0" y="0"/>
                  </a:moveTo>
                  <a:lnTo>
                    <a:pt x="3068480" y="0"/>
                  </a:lnTo>
                  <a:lnTo>
                    <a:pt x="3068480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46159" r="0" b="-146159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3068485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GPS / Location Data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1793293" y="2968447"/>
            <a:ext cx="4991100" cy="742950"/>
            <a:chOff x="0" y="0"/>
            <a:chExt cx="6654800" cy="990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654800" cy="990600"/>
            </a:xfrm>
            <a:custGeom>
              <a:avLst/>
              <a:gdLst/>
              <a:ahLst/>
              <a:cxnLst/>
              <a:rect r="r" b="b" t="t" l="l"/>
              <a:pathLst>
                <a:path h="990600" w="6654800">
                  <a:moveTo>
                    <a:pt x="0" y="160528"/>
                  </a:moveTo>
                  <a:cubicBezTo>
                    <a:pt x="0" y="71882"/>
                    <a:pt x="71882" y="0"/>
                    <a:pt x="160528" y="0"/>
                  </a:cubicBezTo>
                  <a:lnTo>
                    <a:pt x="6494272" y="0"/>
                  </a:lnTo>
                  <a:cubicBezTo>
                    <a:pt x="6582918" y="0"/>
                    <a:pt x="6654800" y="71882"/>
                    <a:pt x="6654800" y="160528"/>
                  </a:cubicBezTo>
                  <a:lnTo>
                    <a:pt x="6654800" y="830072"/>
                  </a:lnTo>
                  <a:cubicBezTo>
                    <a:pt x="6654800" y="918718"/>
                    <a:pt x="6582918" y="990600"/>
                    <a:pt x="6494272" y="990600"/>
                  </a:cubicBezTo>
                  <a:lnTo>
                    <a:pt x="160528" y="990600"/>
                  </a:lnTo>
                  <a:cubicBezTo>
                    <a:pt x="71882" y="990600"/>
                    <a:pt x="0" y="918718"/>
                    <a:pt x="0" y="830072"/>
                  </a:cubicBezTo>
                  <a:close/>
                </a:path>
              </a:pathLst>
            </a:custGeom>
            <a:solidFill>
              <a:srgbClr val="DFE8E4"/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1945245" y="3227337"/>
            <a:ext cx="337376" cy="209550"/>
            <a:chOff x="0" y="0"/>
            <a:chExt cx="449834" cy="2794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49837" cy="279400"/>
            </a:xfrm>
            <a:custGeom>
              <a:avLst/>
              <a:gdLst/>
              <a:ahLst/>
              <a:cxnLst/>
              <a:rect r="r" b="b" t="t" l="l"/>
              <a:pathLst>
                <a:path h="279400" w="449837">
                  <a:moveTo>
                    <a:pt x="0" y="0"/>
                  </a:moveTo>
                  <a:lnTo>
                    <a:pt x="449837" y="0"/>
                  </a:lnTo>
                  <a:lnTo>
                    <a:pt x="449837" y="279400"/>
                  </a:lnTo>
                  <a:lnTo>
                    <a:pt x="0" y="279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9691" t="0" r="-29690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449834" cy="288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03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2235463" y="3111256"/>
            <a:ext cx="457200" cy="457200"/>
            <a:chOff x="0" y="0"/>
            <a:chExt cx="609600" cy="6096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D5DFDB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2317759" y="3193552"/>
            <a:ext cx="292598" cy="292598"/>
            <a:chOff x="0" y="0"/>
            <a:chExt cx="390131" cy="390131"/>
          </a:xfrm>
        </p:grpSpPr>
        <p:sp>
          <p:nvSpPr>
            <p:cNvPr name="Freeform 46" id="46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3" b="3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2811277" y="3168262"/>
            <a:ext cx="2308468" cy="277112"/>
            <a:chOff x="0" y="0"/>
            <a:chExt cx="2539124" cy="3048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539128" cy="304800"/>
            </a:xfrm>
            <a:custGeom>
              <a:avLst/>
              <a:gdLst/>
              <a:ahLst/>
              <a:cxnLst/>
              <a:rect r="r" b="b" t="t" l="l"/>
              <a:pathLst>
                <a:path h="304800" w="2539128">
                  <a:moveTo>
                    <a:pt x="0" y="0"/>
                  </a:moveTo>
                  <a:lnTo>
                    <a:pt x="2539128" y="0"/>
                  </a:lnTo>
                  <a:lnTo>
                    <a:pt x="2539128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2319" r="0" b="-112319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9525"/>
              <a:ext cx="2539124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Data Processing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503607" y="3863207"/>
            <a:ext cx="4991100" cy="742950"/>
            <a:chOff x="0" y="0"/>
            <a:chExt cx="6654800" cy="9906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654800" cy="990600"/>
            </a:xfrm>
            <a:custGeom>
              <a:avLst/>
              <a:gdLst/>
              <a:ahLst/>
              <a:cxnLst/>
              <a:rect r="r" b="b" t="t" l="l"/>
              <a:pathLst>
                <a:path h="990600" w="6654800">
                  <a:moveTo>
                    <a:pt x="0" y="160528"/>
                  </a:moveTo>
                  <a:cubicBezTo>
                    <a:pt x="0" y="71882"/>
                    <a:pt x="71882" y="0"/>
                    <a:pt x="160528" y="0"/>
                  </a:cubicBezTo>
                  <a:lnTo>
                    <a:pt x="6494272" y="0"/>
                  </a:lnTo>
                  <a:cubicBezTo>
                    <a:pt x="6582918" y="0"/>
                    <a:pt x="6654800" y="71882"/>
                    <a:pt x="6654800" y="160528"/>
                  </a:cubicBezTo>
                  <a:lnTo>
                    <a:pt x="6654800" y="830072"/>
                  </a:lnTo>
                  <a:cubicBezTo>
                    <a:pt x="6654800" y="918718"/>
                    <a:pt x="6582918" y="990600"/>
                    <a:pt x="6494272" y="990600"/>
                  </a:cubicBezTo>
                  <a:lnTo>
                    <a:pt x="160528" y="990600"/>
                  </a:lnTo>
                  <a:cubicBezTo>
                    <a:pt x="71882" y="990600"/>
                    <a:pt x="0" y="918718"/>
                    <a:pt x="0" y="830072"/>
                  </a:cubicBezTo>
                  <a:close/>
                </a:path>
              </a:pathLst>
            </a:custGeom>
            <a:solidFill>
              <a:srgbClr val="DFE8E4"/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655559" y="4122096"/>
            <a:ext cx="337376" cy="209550"/>
            <a:chOff x="0" y="0"/>
            <a:chExt cx="449834" cy="2794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49837" cy="279400"/>
            </a:xfrm>
            <a:custGeom>
              <a:avLst/>
              <a:gdLst/>
              <a:ahLst/>
              <a:cxnLst/>
              <a:rect r="r" b="b" t="t" l="l"/>
              <a:pathLst>
                <a:path h="279400" w="449837">
                  <a:moveTo>
                    <a:pt x="0" y="0"/>
                  </a:moveTo>
                  <a:lnTo>
                    <a:pt x="449837" y="0"/>
                  </a:lnTo>
                  <a:lnTo>
                    <a:pt x="449837" y="279400"/>
                  </a:lnTo>
                  <a:lnTo>
                    <a:pt x="0" y="279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9691" t="0" r="-29690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449834" cy="288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04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945777" y="4006005"/>
            <a:ext cx="457200" cy="457200"/>
            <a:chOff x="0" y="0"/>
            <a:chExt cx="609600" cy="6096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D5DFDB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2028082" y="4088311"/>
            <a:ext cx="292598" cy="292598"/>
            <a:chOff x="0" y="0"/>
            <a:chExt cx="390131" cy="390131"/>
          </a:xfrm>
        </p:grpSpPr>
        <p:sp>
          <p:nvSpPr>
            <p:cNvPr name="Freeform 58" id="58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3" b="3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2521591" y="4006005"/>
            <a:ext cx="2020133" cy="334118"/>
            <a:chOff x="0" y="0"/>
            <a:chExt cx="1842872" cy="3048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842869" cy="304800"/>
            </a:xfrm>
            <a:custGeom>
              <a:avLst/>
              <a:gdLst/>
              <a:ahLst/>
              <a:cxnLst/>
              <a:rect r="r" b="b" t="t" l="l"/>
              <a:pathLst>
                <a:path h="304800" w="1842869">
                  <a:moveTo>
                    <a:pt x="0" y="0"/>
                  </a:moveTo>
                  <a:lnTo>
                    <a:pt x="1842869" y="0"/>
                  </a:lnTo>
                  <a:lnTo>
                    <a:pt x="1842869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7809" r="0" b="-67809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842872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Geofencing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6648450" y="3863207"/>
            <a:ext cx="4991100" cy="742950"/>
            <a:chOff x="0" y="0"/>
            <a:chExt cx="6654800" cy="9906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6654800" cy="990600"/>
            </a:xfrm>
            <a:custGeom>
              <a:avLst/>
              <a:gdLst/>
              <a:ahLst/>
              <a:cxnLst/>
              <a:rect r="r" b="b" t="t" l="l"/>
              <a:pathLst>
                <a:path h="990600" w="6654800">
                  <a:moveTo>
                    <a:pt x="0" y="160528"/>
                  </a:moveTo>
                  <a:cubicBezTo>
                    <a:pt x="0" y="71882"/>
                    <a:pt x="71882" y="0"/>
                    <a:pt x="160528" y="0"/>
                  </a:cubicBezTo>
                  <a:lnTo>
                    <a:pt x="6494272" y="0"/>
                  </a:lnTo>
                  <a:cubicBezTo>
                    <a:pt x="6582918" y="0"/>
                    <a:pt x="6654800" y="71882"/>
                    <a:pt x="6654800" y="160528"/>
                  </a:cubicBezTo>
                  <a:lnTo>
                    <a:pt x="6654800" y="830072"/>
                  </a:lnTo>
                  <a:cubicBezTo>
                    <a:pt x="6654800" y="918718"/>
                    <a:pt x="6582918" y="990600"/>
                    <a:pt x="6494272" y="990600"/>
                  </a:cubicBezTo>
                  <a:lnTo>
                    <a:pt x="160528" y="990600"/>
                  </a:lnTo>
                  <a:cubicBezTo>
                    <a:pt x="71882" y="990600"/>
                    <a:pt x="0" y="918718"/>
                    <a:pt x="0" y="830072"/>
                  </a:cubicBezTo>
                  <a:close/>
                </a:path>
              </a:pathLst>
            </a:custGeom>
            <a:solidFill>
              <a:srgbClr val="DFE8E4"/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64" id="64"/>
          <p:cNvGrpSpPr/>
          <p:nvPr/>
        </p:nvGrpSpPr>
        <p:grpSpPr>
          <a:xfrm rot="0">
            <a:off x="6800402" y="4122096"/>
            <a:ext cx="337376" cy="209550"/>
            <a:chOff x="0" y="0"/>
            <a:chExt cx="449834" cy="2794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449837" cy="279400"/>
            </a:xfrm>
            <a:custGeom>
              <a:avLst/>
              <a:gdLst/>
              <a:ahLst/>
              <a:cxnLst/>
              <a:rect r="r" b="b" t="t" l="l"/>
              <a:pathLst>
                <a:path h="279400" w="449837">
                  <a:moveTo>
                    <a:pt x="0" y="0"/>
                  </a:moveTo>
                  <a:lnTo>
                    <a:pt x="449837" y="0"/>
                  </a:lnTo>
                  <a:lnTo>
                    <a:pt x="449837" y="279400"/>
                  </a:lnTo>
                  <a:lnTo>
                    <a:pt x="0" y="279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9691" t="0" r="-29690" b="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9525"/>
              <a:ext cx="449834" cy="288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05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7090620" y="4006005"/>
            <a:ext cx="457200" cy="457200"/>
            <a:chOff x="0" y="0"/>
            <a:chExt cx="609600" cy="60960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D5DFDB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7172916" y="4088311"/>
            <a:ext cx="292598" cy="292598"/>
            <a:chOff x="0" y="0"/>
            <a:chExt cx="390131" cy="390131"/>
          </a:xfrm>
        </p:grpSpPr>
        <p:sp>
          <p:nvSpPr>
            <p:cNvPr name="Freeform 70" id="70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3" b="3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7666434" y="4054681"/>
            <a:ext cx="2449859" cy="285443"/>
            <a:chOff x="0" y="0"/>
            <a:chExt cx="2615997" cy="3048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616003" cy="304800"/>
            </a:xfrm>
            <a:custGeom>
              <a:avLst/>
              <a:gdLst/>
              <a:ahLst/>
              <a:cxnLst/>
              <a:rect r="r" b="b" t="t" l="l"/>
              <a:pathLst>
                <a:path h="304800" w="2616003">
                  <a:moveTo>
                    <a:pt x="0" y="0"/>
                  </a:moveTo>
                  <a:lnTo>
                    <a:pt x="2616003" y="0"/>
                  </a:lnTo>
                  <a:lnTo>
                    <a:pt x="2616003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7233" r="0" b="-117233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9525"/>
              <a:ext cx="2615997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Risk Assessment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1793293" y="3863207"/>
            <a:ext cx="4991100" cy="742950"/>
            <a:chOff x="0" y="0"/>
            <a:chExt cx="6654800" cy="99060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6654800" cy="990600"/>
            </a:xfrm>
            <a:custGeom>
              <a:avLst/>
              <a:gdLst/>
              <a:ahLst/>
              <a:cxnLst/>
              <a:rect r="r" b="b" t="t" l="l"/>
              <a:pathLst>
                <a:path h="990600" w="6654800">
                  <a:moveTo>
                    <a:pt x="0" y="160528"/>
                  </a:moveTo>
                  <a:cubicBezTo>
                    <a:pt x="0" y="71882"/>
                    <a:pt x="71882" y="0"/>
                    <a:pt x="160528" y="0"/>
                  </a:cubicBezTo>
                  <a:lnTo>
                    <a:pt x="6494272" y="0"/>
                  </a:lnTo>
                  <a:cubicBezTo>
                    <a:pt x="6582918" y="0"/>
                    <a:pt x="6654800" y="71882"/>
                    <a:pt x="6654800" y="160528"/>
                  </a:cubicBezTo>
                  <a:lnTo>
                    <a:pt x="6654800" y="830072"/>
                  </a:lnTo>
                  <a:cubicBezTo>
                    <a:pt x="6654800" y="918718"/>
                    <a:pt x="6582918" y="990600"/>
                    <a:pt x="6494272" y="990600"/>
                  </a:cubicBezTo>
                  <a:lnTo>
                    <a:pt x="160528" y="990600"/>
                  </a:lnTo>
                  <a:cubicBezTo>
                    <a:pt x="71882" y="990600"/>
                    <a:pt x="0" y="918718"/>
                    <a:pt x="0" y="830072"/>
                  </a:cubicBezTo>
                  <a:close/>
                </a:path>
              </a:pathLst>
            </a:custGeom>
            <a:solidFill>
              <a:srgbClr val="DFE8E4"/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1945245" y="4122096"/>
            <a:ext cx="337376" cy="209550"/>
            <a:chOff x="0" y="0"/>
            <a:chExt cx="449834" cy="27940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49837" cy="279400"/>
            </a:xfrm>
            <a:custGeom>
              <a:avLst/>
              <a:gdLst/>
              <a:ahLst/>
              <a:cxnLst/>
              <a:rect r="r" b="b" t="t" l="l"/>
              <a:pathLst>
                <a:path h="279400" w="449837">
                  <a:moveTo>
                    <a:pt x="0" y="0"/>
                  </a:moveTo>
                  <a:lnTo>
                    <a:pt x="449837" y="0"/>
                  </a:lnTo>
                  <a:lnTo>
                    <a:pt x="449837" y="279400"/>
                  </a:lnTo>
                  <a:lnTo>
                    <a:pt x="0" y="279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9691" t="0" r="-29690" b="0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9525"/>
              <a:ext cx="449834" cy="288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06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2235463" y="4006005"/>
            <a:ext cx="457200" cy="457200"/>
            <a:chOff x="0" y="0"/>
            <a:chExt cx="609600" cy="60960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D5DFDB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2317759" y="4088311"/>
            <a:ext cx="292598" cy="292598"/>
            <a:chOff x="0" y="0"/>
            <a:chExt cx="390131" cy="390131"/>
          </a:xfrm>
        </p:grpSpPr>
        <p:sp>
          <p:nvSpPr>
            <p:cNvPr name="Freeform 82" id="82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3" b="3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811277" y="4084505"/>
            <a:ext cx="2889223" cy="255618"/>
            <a:chOff x="0" y="0"/>
            <a:chExt cx="3445116" cy="30480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3445112" cy="304800"/>
            </a:xfrm>
            <a:custGeom>
              <a:avLst/>
              <a:gdLst/>
              <a:ahLst/>
              <a:cxnLst/>
              <a:rect r="r" b="b" t="t" l="l"/>
              <a:pathLst>
                <a:path h="304800" w="3445112">
                  <a:moveTo>
                    <a:pt x="0" y="0"/>
                  </a:moveTo>
                  <a:lnTo>
                    <a:pt x="3445112" y="0"/>
                  </a:lnTo>
                  <a:lnTo>
                    <a:pt x="3445112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0236" r="0" b="-170236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9525"/>
              <a:ext cx="3445116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Safety Alert / Warning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503607" y="4757957"/>
            <a:ext cx="4991100" cy="742950"/>
            <a:chOff x="0" y="0"/>
            <a:chExt cx="6654800" cy="9906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654800" cy="990600"/>
            </a:xfrm>
            <a:custGeom>
              <a:avLst/>
              <a:gdLst/>
              <a:ahLst/>
              <a:cxnLst/>
              <a:rect r="r" b="b" t="t" l="l"/>
              <a:pathLst>
                <a:path h="990600" w="6654800">
                  <a:moveTo>
                    <a:pt x="0" y="160528"/>
                  </a:moveTo>
                  <a:cubicBezTo>
                    <a:pt x="0" y="71882"/>
                    <a:pt x="71882" y="0"/>
                    <a:pt x="160528" y="0"/>
                  </a:cubicBezTo>
                  <a:lnTo>
                    <a:pt x="6494272" y="0"/>
                  </a:lnTo>
                  <a:cubicBezTo>
                    <a:pt x="6582918" y="0"/>
                    <a:pt x="6654800" y="71882"/>
                    <a:pt x="6654800" y="160528"/>
                  </a:cubicBezTo>
                  <a:lnTo>
                    <a:pt x="6654800" y="830072"/>
                  </a:lnTo>
                  <a:cubicBezTo>
                    <a:pt x="6654800" y="918718"/>
                    <a:pt x="6582918" y="990600"/>
                    <a:pt x="6494272" y="990600"/>
                  </a:cubicBezTo>
                  <a:lnTo>
                    <a:pt x="160528" y="990600"/>
                  </a:lnTo>
                  <a:cubicBezTo>
                    <a:pt x="71882" y="990600"/>
                    <a:pt x="0" y="918718"/>
                    <a:pt x="0" y="830072"/>
                  </a:cubicBezTo>
                  <a:close/>
                </a:path>
              </a:pathLst>
            </a:custGeom>
            <a:solidFill>
              <a:srgbClr val="DFE8E4"/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1655559" y="5016846"/>
            <a:ext cx="337376" cy="209550"/>
            <a:chOff x="0" y="0"/>
            <a:chExt cx="449834" cy="27940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49837" cy="279400"/>
            </a:xfrm>
            <a:custGeom>
              <a:avLst/>
              <a:gdLst/>
              <a:ahLst/>
              <a:cxnLst/>
              <a:rect r="r" b="b" t="t" l="l"/>
              <a:pathLst>
                <a:path h="279400" w="449837">
                  <a:moveTo>
                    <a:pt x="0" y="0"/>
                  </a:moveTo>
                  <a:lnTo>
                    <a:pt x="449837" y="0"/>
                  </a:lnTo>
                  <a:lnTo>
                    <a:pt x="449837" y="279400"/>
                  </a:lnTo>
                  <a:lnTo>
                    <a:pt x="0" y="279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9691" t="0" r="-29690" b="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9525"/>
              <a:ext cx="449834" cy="288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07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945777" y="4900765"/>
            <a:ext cx="457200" cy="457200"/>
            <a:chOff x="0" y="0"/>
            <a:chExt cx="609600" cy="60960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D5DFDB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2028082" y="4983061"/>
            <a:ext cx="292598" cy="292598"/>
            <a:chOff x="0" y="0"/>
            <a:chExt cx="390131" cy="390131"/>
          </a:xfrm>
        </p:grpSpPr>
        <p:sp>
          <p:nvSpPr>
            <p:cNvPr name="Freeform 94" id="94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3" b="3"/>
              </a:stretch>
            </a:blip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2521591" y="4923989"/>
            <a:ext cx="3593459" cy="310894"/>
            <a:chOff x="0" y="0"/>
            <a:chExt cx="3523018" cy="30480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523019" cy="304800"/>
            </a:xfrm>
            <a:custGeom>
              <a:avLst/>
              <a:gdLst/>
              <a:ahLst/>
              <a:cxnLst/>
              <a:rect r="r" b="b" t="t" l="l"/>
              <a:pathLst>
                <a:path h="304800" w="3523019">
                  <a:moveTo>
                    <a:pt x="0" y="0"/>
                  </a:moveTo>
                  <a:lnTo>
                    <a:pt x="3523019" y="0"/>
                  </a:lnTo>
                  <a:lnTo>
                    <a:pt x="3523019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5217" r="0" b="-175217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9525"/>
              <a:ext cx="3523018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SOS or Incident Report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6648450" y="4757957"/>
            <a:ext cx="4991100" cy="742950"/>
            <a:chOff x="0" y="0"/>
            <a:chExt cx="6654800" cy="990600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6654800" cy="990600"/>
            </a:xfrm>
            <a:custGeom>
              <a:avLst/>
              <a:gdLst/>
              <a:ahLst/>
              <a:cxnLst/>
              <a:rect r="r" b="b" t="t" l="l"/>
              <a:pathLst>
                <a:path h="990600" w="6654800">
                  <a:moveTo>
                    <a:pt x="0" y="160528"/>
                  </a:moveTo>
                  <a:cubicBezTo>
                    <a:pt x="0" y="71882"/>
                    <a:pt x="71882" y="0"/>
                    <a:pt x="160528" y="0"/>
                  </a:cubicBezTo>
                  <a:lnTo>
                    <a:pt x="6494272" y="0"/>
                  </a:lnTo>
                  <a:cubicBezTo>
                    <a:pt x="6582918" y="0"/>
                    <a:pt x="6654800" y="71882"/>
                    <a:pt x="6654800" y="160528"/>
                  </a:cubicBezTo>
                  <a:lnTo>
                    <a:pt x="6654800" y="830072"/>
                  </a:lnTo>
                  <a:cubicBezTo>
                    <a:pt x="6654800" y="918718"/>
                    <a:pt x="6582918" y="990600"/>
                    <a:pt x="6494272" y="990600"/>
                  </a:cubicBezTo>
                  <a:lnTo>
                    <a:pt x="160528" y="990600"/>
                  </a:lnTo>
                  <a:cubicBezTo>
                    <a:pt x="71882" y="990600"/>
                    <a:pt x="0" y="918718"/>
                    <a:pt x="0" y="830072"/>
                  </a:cubicBezTo>
                  <a:close/>
                </a:path>
              </a:pathLst>
            </a:custGeom>
            <a:solidFill>
              <a:srgbClr val="DFE8E4"/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100" id="100"/>
          <p:cNvGrpSpPr/>
          <p:nvPr/>
        </p:nvGrpSpPr>
        <p:grpSpPr>
          <a:xfrm rot="0">
            <a:off x="6800402" y="5016846"/>
            <a:ext cx="337376" cy="209550"/>
            <a:chOff x="0" y="0"/>
            <a:chExt cx="449834" cy="27940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449837" cy="279400"/>
            </a:xfrm>
            <a:custGeom>
              <a:avLst/>
              <a:gdLst/>
              <a:ahLst/>
              <a:cxnLst/>
              <a:rect r="r" b="b" t="t" l="l"/>
              <a:pathLst>
                <a:path h="279400" w="449837">
                  <a:moveTo>
                    <a:pt x="0" y="0"/>
                  </a:moveTo>
                  <a:lnTo>
                    <a:pt x="449837" y="0"/>
                  </a:lnTo>
                  <a:lnTo>
                    <a:pt x="449837" y="279400"/>
                  </a:lnTo>
                  <a:lnTo>
                    <a:pt x="0" y="279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9691" t="0" r="-29690" b="0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9525"/>
              <a:ext cx="449834" cy="288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08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7090620" y="4900765"/>
            <a:ext cx="457200" cy="457200"/>
            <a:chOff x="0" y="0"/>
            <a:chExt cx="609600" cy="60960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D5DFDB"/>
            </a:solidFill>
          </p:spPr>
        </p:sp>
      </p:grpSp>
      <p:grpSp>
        <p:nvGrpSpPr>
          <p:cNvPr name="Group 105" id="105"/>
          <p:cNvGrpSpPr/>
          <p:nvPr/>
        </p:nvGrpSpPr>
        <p:grpSpPr>
          <a:xfrm rot="0">
            <a:off x="7172916" y="4983061"/>
            <a:ext cx="292598" cy="292598"/>
            <a:chOff x="0" y="0"/>
            <a:chExt cx="390131" cy="390131"/>
          </a:xfrm>
        </p:grpSpPr>
        <p:sp>
          <p:nvSpPr>
            <p:cNvPr name="Freeform 106" id="106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3" b="3"/>
              </a:stretch>
            </a:blip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7666434" y="4983061"/>
            <a:ext cx="2708628" cy="251822"/>
            <a:chOff x="0" y="0"/>
            <a:chExt cx="3278467" cy="304800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278464" cy="304800"/>
            </a:xfrm>
            <a:custGeom>
              <a:avLst/>
              <a:gdLst/>
              <a:ahLst/>
              <a:cxnLst/>
              <a:rect r="r" b="b" t="t" l="l"/>
              <a:pathLst>
                <a:path h="304800" w="3278464">
                  <a:moveTo>
                    <a:pt x="0" y="0"/>
                  </a:moveTo>
                  <a:lnTo>
                    <a:pt x="3278464" y="0"/>
                  </a:lnTo>
                  <a:lnTo>
                    <a:pt x="3278464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9583" r="0" b="-159583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-9525"/>
              <a:ext cx="3278467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Authority Dashboard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11793293" y="4757957"/>
            <a:ext cx="4991100" cy="742950"/>
            <a:chOff x="0" y="0"/>
            <a:chExt cx="6654800" cy="990600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6654800" cy="990600"/>
            </a:xfrm>
            <a:custGeom>
              <a:avLst/>
              <a:gdLst/>
              <a:ahLst/>
              <a:cxnLst/>
              <a:rect r="r" b="b" t="t" l="l"/>
              <a:pathLst>
                <a:path h="990600" w="6654800">
                  <a:moveTo>
                    <a:pt x="0" y="160528"/>
                  </a:moveTo>
                  <a:cubicBezTo>
                    <a:pt x="0" y="71882"/>
                    <a:pt x="71882" y="0"/>
                    <a:pt x="160528" y="0"/>
                  </a:cubicBezTo>
                  <a:lnTo>
                    <a:pt x="6494272" y="0"/>
                  </a:lnTo>
                  <a:cubicBezTo>
                    <a:pt x="6582918" y="0"/>
                    <a:pt x="6654800" y="71882"/>
                    <a:pt x="6654800" y="160528"/>
                  </a:cubicBezTo>
                  <a:lnTo>
                    <a:pt x="6654800" y="830072"/>
                  </a:lnTo>
                  <a:cubicBezTo>
                    <a:pt x="6654800" y="918718"/>
                    <a:pt x="6582918" y="990600"/>
                    <a:pt x="6494272" y="990600"/>
                  </a:cubicBezTo>
                  <a:lnTo>
                    <a:pt x="160528" y="990600"/>
                  </a:lnTo>
                  <a:cubicBezTo>
                    <a:pt x="71882" y="990600"/>
                    <a:pt x="0" y="918718"/>
                    <a:pt x="0" y="830072"/>
                  </a:cubicBezTo>
                  <a:close/>
                </a:path>
              </a:pathLst>
            </a:custGeom>
            <a:solidFill>
              <a:srgbClr val="DFE8E4"/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945245" y="5016846"/>
            <a:ext cx="337376" cy="209550"/>
            <a:chOff x="0" y="0"/>
            <a:chExt cx="449834" cy="279400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449837" cy="279400"/>
            </a:xfrm>
            <a:custGeom>
              <a:avLst/>
              <a:gdLst/>
              <a:ahLst/>
              <a:cxnLst/>
              <a:rect r="r" b="b" t="t" l="l"/>
              <a:pathLst>
                <a:path h="279400" w="449837">
                  <a:moveTo>
                    <a:pt x="0" y="0"/>
                  </a:moveTo>
                  <a:lnTo>
                    <a:pt x="449837" y="0"/>
                  </a:lnTo>
                  <a:lnTo>
                    <a:pt x="449837" y="279400"/>
                  </a:lnTo>
                  <a:lnTo>
                    <a:pt x="0" y="279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9691" t="0" r="-29690" b="0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9525"/>
              <a:ext cx="449834" cy="288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09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2235463" y="4900765"/>
            <a:ext cx="457200" cy="457200"/>
            <a:chOff x="0" y="0"/>
            <a:chExt cx="609600" cy="60960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D5DFDB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2317759" y="4983061"/>
            <a:ext cx="292598" cy="292598"/>
            <a:chOff x="0" y="0"/>
            <a:chExt cx="390131" cy="390131"/>
          </a:xfrm>
        </p:grpSpPr>
        <p:sp>
          <p:nvSpPr>
            <p:cNvPr name="Freeform 118" id="118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3" b="3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2730763" y="4967362"/>
            <a:ext cx="4262037" cy="267521"/>
            <a:chOff x="0" y="0"/>
            <a:chExt cx="4855947" cy="304800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55944" cy="304800"/>
            </a:xfrm>
            <a:custGeom>
              <a:avLst/>
              <a:gdLst/>
              <a:ahLst/>
              <a:cxnLst/>
              <a:rect r="r" b="b" t="t" l="l"/>
              <a:pathLst>
                <a:path h="304800" w="4855944">
                  <a:moveTo>
                    <a:pt x="0" y="0"/>
                  </a:moveTo>
                  <a:lnTo>
                    <a:pt x="4855944" y="0"/>
                  </a:lnTo>
                  <a:lnTo>
                    <a:pt x="4855944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0427" r="0" b="-260427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9525"/>
              <a:ext cx="4855947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Response &amp; Incident Resolution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12341" y="5970999"/>
            <a:ext cx="9315941" cy="2640186"/>
            <a:chOff x="0" y="0"/>
            <a:chExt cx="11785600" cy="334010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11785600" cy="3340100"/>
            </a:xfrm>
            <a:custGeom>
              <a:avLst/>
              <a:gdLst/>
              <a:ahLst/>
              <a:cxnLst/>
              <a:rect r="r" b="b" t="t" l="l"/>
              <a:pathLst>
                <a:path h="3340100" w="11785600">
                  <a:moveTo>
                    <a:pt x="0" y="269240"/>
                  </a:moveTo>
                  <a:cubicBezTo>
                    <a:pt x="0" y="120523"/>
                    <a:pt x="120523" y="0"/>
                    <a:pt x="269240" y="0"/>
                  </a:cubicBezTo>
                  <a:lnTo>
                    <a:pt x="11516360" y="0"/>
                  </a:lnTo>
                  <a:cubicBezTo>
                    <a:pt x="11665077" y="0"/>
                    <a:pt x="11785600" y="120523"/>
                    <a:pt x="11785600" y="269240"/>
                  </a:cubicBezTo>
                  <a:lnTo>
                    <a:pt x="11785600" y="3070860"/>
                  </a:lnTo>
                  <a:cubicBezTo>
                    <a:pt x="11785600" y="3219577"/>
                    <a:pt x="11665077" y="3340100"/>
                    <a:pt x="11516360" y="3340100"/>
                  </a:cubicBezTo>
                  <a:lnTo>
                    <a:pt x="269240" y="3340100"/>
                  </a:lnTo>
                  <a:cubicBezTo>
                    <a:pt x="120523" y="3340100"/>
                    <a:pt x="0" y="3219577"/>
                    <a:pt x="0" y="3070860"/>
                  </a:cubicBezTo>
                  <a:close/>
                </a:path>
              </a:pathLst>
            </a:custGeom>
            <a:solidFill>
              <a:srgbClr val="EAEEEA">
                <a:alpha val="56078"/>
              </a:srgbClr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124" id="124"/>
          <p:cNvGrpSpPr/>
          <p:nvPr/>
        </p:nvGrpSpPr>
        <p:grpSpPr>
          <a:xfrm rot="0">
            <a:off x="1545584" y="6195260"/>
            <a:ext cx="2501554" cy="255841"/>
            <a:chOff x="0" y="0"/>
            <a:chExt cx="2980258" cy="304800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980253" cy="304800"/>
            </a:xfrm>
            <a:custGeom>
              <a:avLst/>
              <a:gdLst/>
              <a:ahLst/>
              <a:cxnLst/>
              <a:rect r="r" b="b" t="t" l="l"/>
              <a:pathLst>
                <a:path h="304800" w="2980253">
                  <a:moveTo>
                    <a:pt x="0" y="0"/>
                  </a:moveTo>
                  <a:lnTo>
                    <a:pt x="2980253" y="0"/>
                  </a:lnTo>
                  <a:lnTo>
                    <a:pt x="2980253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40519" r="0" b="-140519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9525"/>
              <a:ext cx="2980258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218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ARCHITECTURE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1765544" y="6691017"/>
            <a:ext cx="600075" cy="600075"/>
            <a:chOff x="0" y="0"/>
            <a:chExt cx="800100" cy="800100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800100" cy="800100"/>
            </a:xfrm>
            <a:custGeom>
              <a:avLst/>
              <a:gdLst/>
              <a:ahLst/>
              <a:cxnLst/>
              <a:rect r="r" b="b" t="t" l="l"/>
              <a:pathLst>
                <a:path h="800100" w="80010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605028" y="0"/>
                  </a:lnTo>
                  <a:cubicBezTo>
                    <a:pt x="712724" y="0"/>
                    <a:pt x="800100" y="87376"/>
                    <a:pt x="800100" y="195072"/>
                  </a:cubicBezTo>
                  <a:lnTo>
                    <a:pt x="800100" y="605028"/>
                  </a:lnTo>
                  <a:cubicBezTo>
                    <a:pt x="800100" y="712724"/>
                    <a:pt x="712724" y="800100"/>
                    <a:pt x="605028" y="800100"/>
                  </a:cubicBezTo>
                  <a:lnTo>
                    <a:pt x="195072" y="800100"/>
                  </a:lnTo>
                  <a:cubicBezTo>
                    <a:pt x="87376" y="800100"/>
                    <a:pt x="0" y="712724"/>
                    <a:pt x="0" y="605028"/>
                  </a:cubicBezTo>
                  <a:close/>
                </a:path>
              </a:pathLst>
            </a:custGeom>
            <a:solidFill>
              <a:srgbClr val="CBD7D5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919288" y="6844751"/>
            <a:ext cx="292598" cy="292598"/>
            <a:chOff x="0" y="0"/>
            <a:chExt cx="390131" cy="390131"/>
          </a:xfrm>
        </p:grpSpPr>
        <p:sp>
          <p:nvSpPr>
            <p:cNvPr name="Freeform 130" id="130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3" b="3"/>
              </a:stretch>
            </a:blip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11275" y="7358055"/>
            <a:ext cx="1869003" cy="327759"/>
            <a:chOff x="0" y="0"/>
            <a:chExt cx="1955343" cy="342900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1955344" cy="342901"/>
            </a:xfrm>
            <a:custGeom>
              <a:avLst/>
              <a:gdLst/>
              <a:ahLst/>
              <a:cxnLst/>
              <a:rect r="r" b="b" t="t" l="l"/>
              <a:pathLst>
                <a:path h="342901" w="1955344">
                  <a:moveTo>
                    <a:pt x="0" y="0"/>
                  </a:moveTo>
                  <a:lnTo>
                    <a:pt x="1955344" y="0"/>
                  </a:lnTo>
                  <a:lnTo>
                    <a:pt x="1955344" y="342901"/>
                  </a:lnTo>
                  <a:lnTo>
                    <a:pt x="0" y="3429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110" r="0" b="-61110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9525"/>
              <a:ext cx="1955343" cy="3524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Tourist App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2723445" y="6844751"/>
            <a:ext cx="452885" cy="428625"/>
            <a:chOff x="0" y="0"/>
            <a:chExt cx="603847" cy="571500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603845" cy="571501"/>
            </a:xfrm>
            <a:custGeom>
              <a:avLst/>
              <a:gdLst/>
              <a:ahLst/>
              <a:cxnLst/>
              <a:rect r="r" b="b" t="t" l="l"/>
              <a:pathLst>
                <a:path h="571501" w="603845">
                  <a:moveTo>
                    <a:pt x="0" y="0"/>
                  </a:moveTo>
                  <a:lnTo>
                    <a:pt x="603845" y="0"/>
                  </a:lnTo>
                  <a:lnTo>
                    <a:pt x="603845" y="571501"/>
                  </a:lnTo>
                  <a:lnTo>
                    <a:pt x="0" y="5715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1430" t="0" r="-71431" b="0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9525"/>
              <a:ext cx="603847" cy="581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C66A4A"/>
                  </a:solidFill>
                  <a:latin typeface="Arimo"/>
                  <a:ea typeface="Arimo"/>
                  <a:cs typeface="Arimo"/>
                  <a:sym typeface="Arimo"/>
                </a:rPr>
                <a:t>→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3561159" y="6691017"/>
            <a:ext cx="600075" cy="600075"/>
            <a:chOff x="0" y="0"/>
            <a:chExt cx="800100" cy="800100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800100" cy="800100"/>
            </a:xfrm>
            <a:custGeom>
              <a:avLst/>
              <a:gdLst/>
              <a:ahLst/>
              <a:cxnLst/>
              <a:rect r="r" b="b" t="t" l="l"/>
              <a:pathLst>
                <a:path h="800100" w="80010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605028" y="0"/>
                  </a:lnTo>
                  <a:cubicBezTo>
                    <a:pt x="712724" y="0"/>
                    <a:pt x="800100" y="87376"/>
                    <a:pt x="800100" y="195072"/>
                  </a:cubicBezTo>
                  <a:lnTo>
                    <a:pt x="800100" y="605028"/>
                  </a:lnTo>
                  <a:cubicBezTo>
                    <a:pt x="800100" y="712724"/>
                    <a:pt x="712724" y="800100"/>
                    <a:pt x="605028" y="800100"/>
                  </a:cubicBezTo>
                  <a:lnTo>
                    <a:pt x="195072" y="800100"/>
                  </a:lnTo>
                  <a:cubicBezTo>
                    <a:pt x="87376" y="800100"/>
                    <a:pt x="0" y="712724"/>
                    <a:pt x="0" y="605028"/>
                  </a:cubicBezTo>
                  <a:close/>
                </a:path>
              </a:pathLst>
            </a:custGeom>
            <a:solidFill>
              <a:srgbClr val="CBD7D5"/>
            </a:solidFill>
          </p:spPr>
        </p:sp>
      </p:grpSp>
      <p:grpSp>
        <p:nvGrpSpPr>
          <p:cNvPr name="Group 139" id="139"/>
          <p:cNvGrpSpPr/>
          <p:nvPr/>
        </p:nvGrpSpPr>
        <p:grpSpPr>
          <a:xfrm rot="0">
            <a:off x="3714902" y="6844751"/>
            <a:ext cx="292598" cy="292598"/>
            <a:chOff x="0" y="0"/>
            <a:chExt cx="390131" cy="390131"/>
          </a:xfrm>
        </p:grpSpPr>
        <p:sp>
          <p:nvSpPr>
            <p:cNvPr name="Freeform 140" id="140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3" b="3"/>
              </a:stretch>
            </a:blip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2834316" y="7415651"/>
            <a:ext cx="1761173" cy="257175"/>
            <a:chOff x="0" y="0"/>
            <a:chExt cx="2348230" cy="342900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348229" cy="342901"/>
            </a:xfrm>
            <a:custGeom>
              <a:avLst/>
              <a:gdLst/>
              <a:ahLst/>
              <a:cxnLst/>
              <a:rect r="r" b="b" t="t" l="l"/>
              <a:pathLst>
                <a:path h="342901" w="2348229">
                  <a:moveTo>
                    <a:pt x="0" y="0"/>
                  </a:moveTo>
                  <a:lnTo>
                    <a:pt x="2348229" y="0"/>
                  </a:lnTo>
                  <a:lnTo>
                    <a:pt x="2348229" y="342901"/>
                  </a:lnTo>
                  <a:lnTo>
                    <a:pt x="0" y="3429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3436" r="0" b="-83435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9525"/>
              <a:ext cx="2348230" cy="3524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Backend / API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4740735" y="6867716"/>
            <a:ext cx="452885" cy="428625"/>
            <a:chOff x="0" y="0"/>
            <a:chExt cx="603847" cy="571500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603845" cy="571501"/>
            </a:xfrm>
            <a:custGeom>
              <a:avLst/>
              <a:gdLst/>
              <a:ahLst/>
              <a:cxnLst/>
              <a:rect r="r" b="b" t="t" l="l"/>
              <a:pathLst>
                <a:path h="571501" w="603845">
                  <a:moveTo>
                    <a:pt x="0" y="0"/>
                  </a:moveTo>
                  <a:lnTo>
                    <a:pt x="603845" y="0"/>
                  </a:lnTo>
                  <a:lnTo>
                    <a:pt x="603845" y="571501"/>
                  </a:lnTo>
                  <a:lnTo>
                    <a:pt x="0" y="5715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1430" t="0" r="-71431" b="0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9525"/>
              <a:ext cx="603847" cy="581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C66A4A"/>
                  </a:solidFill>
                  <a:latin typeface="Arimo"/>
                  <a:ea typeface="Arimo"/>
                  <a:cs typeface="Arimo"/>
                  <a:sym typeface="Arimo"/>
                </a:rPr>
                <a:t>→</a:t>
              </a:r>
            </a:p>
          </p:txBody>
        </p:sp>
      </p:grpSp>
      <p:grpSp>
        <p:nvGrpSpPr>
          <p:cNvPr name="Group 147" id="147"/>
          <p:cNvGrpSpPr/>
          <p:nvPr/>
        </p:nvGrpSpPr>
        <p:grpSpPr>
          <a:xfrm rot="0">
            <a:off x="5891508" y="6691017"/>
            <a:ext cx="600075" cy="600075"/>
            <a:chOff x="0" y="0"/>
            <a:chExt cx="800100" cy="800100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800100" cy="800100"/>
            </a:xfrm>
            <a:custGeom>
              <a:avLst/>
              <a:gdLst/>
              <a:ahLst/>
              <a:cxnLst/>
              <a:rect r="r" b="b" t="t" l="l"/>
              <a:pathLst>
                <a:path h="800100" w="80010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605028" y="0"/>
                  </a:lnTo>
                  <a:cubicBezTo>
                    <a:pt x="712724" y="0"/>
                    <a:pt x="800100" y="87376"/>
                    <a:pt x="800100" y="195072"/>
                  </a:cubicBezTo>
                  <a:lnTo>
                    <a:pt x="800100" y="605028"/>
                  </a:lnTo>
                  <a:cubicBezTo>
                    <a:pt x="800100" y="712724"/>
                    <a:pt x="712724" y="800100"/>
                    <a:pt x="605028" y="800100"/>
                  </a:cubicBezTo>
                  <a:lnTo>
                    <a:pt x="195072" y="800100"/>
                  </a:lnTo>
                  <a:cubicBezTo>
                    <a:pt x="87376" y="800100"/>
                    <a:pt x="0" y="712724"/>
                    <a:pt x="0" y="605028"/>
                  </a:cubicBezTo>
                  <a:close/>
                </a:path>
              </a:pathLst>
            </a:custGeom>
            <a:solidFill>
              <a:srgbClr val="CBD7D5"/>
            </a:solidFill>
          </p:spPr>
        </p:sp>
      </p:grpSp>
      <p:grpSp>
        <p:nvGrpSpPr>
          <p:cNvPr name="Group 149" id="149"/>
          <p:cNvGrpSpPr/>
          <p:nvPr/>
        </p:nvGrpSpPr>
        <p:grpSpPr>
          <a:xfrm rot="0">
            <a:off x="6045251" y="6844751"/>
            <a:ext cx="292598" cy="292598"/>
            <a:chOff x="0" y="0"/>
            <a:chExt cx="390131" cy="390131"/>
          </a:xfrm>
        </p:grpSpPr>
        <p:sp>
          <p:nvSpPr>
            <p:cNvPr name="Freeform 150" id="150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3" b="3"/>
              </a:stretch>
            </a:blipFill>
          </p:spPr>
        </p:sp>
      </p:grpSp>
      <p:grpSp>
        <p:nvGrpSpPr>
          <p:cNvPr name="Group 151" id="151"/>
          <p:cNvGrpSpPr/>
          <p:nvPr/>
        </p:nvGrpSpPr>
        <p:grpSpPr>
          <a:xfrm rot="0">
            <a:off x="4296873" y="7329522"/>
            <a:ext cx="4081953" cy="367437"/>
            <a:chOff x="0" y="0"/>
            <a:chExt cx="3809365" cy="342900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809365" cy="342901"/>
            </a:xfrm>
            <a:custGeom>
              <a:avLst/>
              <a:gdLst/>
              <a:ahLst/>
              <a:cxnLst/>
              <a:rect r="r" b="b" t="t" l="l"/>
              <a:pathLst>
                <a:path h="342901" w="3809365">
                  <a:moveTo>
                    <a:pt x="0" y="0"/>
                  </a:moveTo>
                  <a:lnTo>
                    <a:pt x="3809365" y="0"/>
                  </a:lnTo>
                  <a:lnTo>
                    <a:pt x="3809365" y="342901"/>
                  </a:lnTo>
                  <a:lnTo>
                    <a:pt x="0" y="3429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6463" r="0" b="-166463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9525"/>
              <a:ext cx="3809365" cy="3524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Database + Risk Engine</a:t>
              </a:r>
            </a:p>
          </p:txBody>
        </p:sp>
      </p:grpSp>
      <p:grpSp>
        <p:nvGrpSpPr>
          <p:cNvPr name="Group 154" id="154"/>
          <p:cNvGrpSpPr/>
          <p:nvPr/>
        </p:nvGrpSpPr>
        <p:grpSpPr>
          <a:xfrm rot="0">
            <a:off x="7456770" y="6860038"/>
            <a:ext cx="452885" cy="428625"/>
            <a:chOff x="0" y="0"/>
            <a:chExt cx="603847" cy="571500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603845" cy="571501"/>
            </a:xfrm>
            <a:custGeom>
              <a:avLst/>
              <a:gdLst/>
              <a:ahLst/>
              <a:cxnLst/>
              <a:rect r="r" b="b" t="t" l="l"/>
              <a:pathLst>
                <a:path h="571501" w="603845">
                  <a:moveTo>
                    <a:pt x="0" y="0"/>
                  </a:moveTo>
                  <a:lnTo>
                    <a:pt x="603845" y="0"/>
                  </a:lnTo>
                  <a:lnTo>
                    <a:pt x="603845" y="571501"/>
                  </a:lnTo>
                  <a:lnTo>
                    <a:pt x="0" y="5715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1430" t="0" r="-71431" b="0"/>
              </a:stretch>
            </a:blipFill>
          </p:spPr>
        </p:sp>
        <p:sp>
          <p:nvSpPr>
            <p:cNvPr name="TextBox 156" id="156"/>
            <p:cNvSpPr txBox="true"/>
            <p:nvPr/>
          </p:nvSpPr>
          <p:spPr>
            <a:xfrm>
              <a:off x="0" y="-9525"/>
              <a:ext cx="603847" cy="581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C66A4A"/>
                  </a:solidFill>
                  <a:latin typeface="Arimo"/>
                  <a:ea typeface="Arimo"/>
                  <a:cs typeface="Arimo"/>
                  <a:sym typeface="Arimo"/>
                </a:rPr>
                <a:t>→</a:t>
              </a:r>
            </a:p>
          </p:txBody>
        </p:sp>
      </p:grpSp>
      <p:grpSp>
        <p:nvGrpSpPr>
          <p:cNvPr name="Group 157" id="157"/>
          <p:cNvGrpSpPr/>
          <p:nvPr/>
        </p:nvGrpSpPr>
        <p:grpSpPr>
          <a:xfrm rot="0">
            <a:off x="8567738" y="6691017"/>
            <a:ext cx="600075" cy="600075"/>
            <a:chOff x="0" y="0"/>
            <a:chExt cx="800100" cy="800100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800100" cy="800100"/>
            </a:xfrm>
            <a:custGeom>
              <a:avLst/>
              <a:gdLst/>
              <a:ahLst/>
              <a:cxnLst/>
              <a:rect r="r" b="b" t="t" l="l"/>
              <a:pathLst>
                <a:path h="800100" w="80010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605028" y="0"/>
                  </a:lnTo>
                  <a:cubicBezTo>
                    <a:pt x="712724" y="0"/>
                    <a:pt x="800100" y="87376"/>
                    <a:pt x="800100" y="195072"/>
                  </a:cubicBezTo>
                  <a:lnTo>
                    <a:pt x="800100" y="605028"/>
                  </a:lnTo>
                  <a:cubicBezTo>
                    <a:pt x="800100" y="712724"/>
                    <a:pt x="712724" y="800100"/>
                    <a:pt x="605028" y="800100"/>
                  </a:cubicBezTo>
                  <a:lnTo>
                    <a:pt x="195072" y="800100"/>
                  </a:lnTo>
                  <a:cubicBezTo>
                    <a:pt x="87376" y="800100"/>
                    <a:pt x="0" y="712724"/>
                    <a:pt x="0" y="605028"/>
                  </a:cubicBezTo>
                  <a:close/>
                </a:path>
              </a:pathLst>
            </a:custGeom>
            <a:solidFill>
              <a:srgbClr val="CBD7D5"/>
            </a:solidFill>
          </p:spPr>
        </p:sp>
      </p:grpSp>
      <p:grpSp>
        <p:nvGrpSpPr>
          <p:cNvPr name="Group 159" id="159"/>
          <p:cNvGrpSpPr/>
          <p:nvPr/>
        </p:nvGrpSpPr>
        <p:grpSpPr>
          <a:xfrm rot="0">
            <a:off x="8721481" y="6844751"/>
            <a:ext cx="292598" cy="292598"/>
            <a:chOff x="0" y="0"/>
            <a:chExt cx="390131" cy="390131"/>
          </a:xfrm>
        </p:grpSpPr>
        <p:sp>
          <p:nvSpPr>
            <p:cNvPr name="Freeform 160" id="160" descr="preencoded.png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0"/>
                  </a:moveTo>
                  <a:lnTo>
                    <a:pt x="390144" y="0"/>
                  </a:lnTo>
                  <a:lnTo>
                    <a:pt x="390144" y="390144"/>
                  </a:lnTo>
                  <a:lnTo>
                    <a:pt x="0" y="390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3" b="3"/>
              </a:stretch>
            </a:blipFill>
          </p:spPr>
        </p:sp>
      </p:grpSp>
      <p:grpSp>
        <p:nvGrpSpPr>
          <p:cNvPr name="Group 161" id="161"/>
          <p:cNvGrpSpPr/>
          <p:nvPr/>
        </p:nvGrpSpPr>
        <p:grpSpPr>
          <a:xfrm rot="0">
            <a:off x="6818518" y="7310142"/>
            <a:ext cx="4098524" cy="423583"/>
            <a:chOff x="0" y="0"/>
            <a:chExt cx="3547529" cy="366638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3547528" cy="366639"/>
            </a:xfrm>
            <a:custGeom>
              <a:avLst/>
              <a:gdLst/>
              <a:ahLst/>
              <a:cxnLst/>
              <a:rect r="r" b="b" t="t" l="l"/>
              <a:pathLst>
                <a:path h="366639" w="3547528">
                  <a:moveTo>
                    <a:pt x="0" y="0"/>
                  </a:moveTo>
                  <a:lnTo>
                    <a:pt x="3547528" y="0"/>
                  </a:lnTo>
                  <a:lnTo>
                    <a:pt x="3547528" y="366639"/>
                  </a:lnTo>
                  <a:lnTo>
                    <a:pt x="0" y="36663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41770" r="0" b="-135295"/>
              </a:stretch>
            </a:blipFill>
          </p:spPr>
        </p:sp>
        <p:sp>
          <p:nvSpPr>
            <p:cNvPr name="TextBox 163" id="163"/>
            <p:cNvSpPr txBox="true"/>
            <p:nvPr/>
          </p:nvSpPr>
          <p:spPr>
            <a:xfrm>
              <a:off x="0" y="-9525"/>
              <a:ext cx="3547529" cy="3761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24313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Alert System</a:t>
              </a:r>
            </a:p>
          </p:txBody>
        </p:sp>
      </p:grpSp>
      <p:grpSp>
        <p:nvGrpSpPr>
          <p:cNvPr name="Group 164" id="164"/>
          <p:cNvGrpSpPr/>
          <p:nvPr/>
        </p:nvGrpSpPr>
        <p:grpSpPr>
          <a:xfrm rot="0">
            <a:off x="1050898" y="7870184"/>
            <a:ext cx="9681220" cy="696297"/>
            <a:chOff x="0" y="0"/>
            <a:chExt cx="12908293" cy="928395"/>
          </a:xfrm>
        </p:grpSpPr>
        <p:sp>
          <p:nvSpPr>
            <p:cNvPr name="Freeform 165" id="165"/>
            <p:cNvSpPr/>
            <p:nvPr/>
          </p:nvSpPr>
          <p:spPr>
            <a:xfrm flipH="false" flipV="false" rot="0">
              <a:off x="0" y="0"/>
              <a:ext cx="12908293" cy="928392"/>
            </a:xfrm>
            <a:custGeom>
              <a:avLst/>
              <a:gdLst/>
              <a:ahLst/>
              <a:cxnLst/>
              <a:rect r="r" b="b" t="t" l="l"/>
              <a:pathLst>
                <a:path h="928392" w="12908293">
                  <a:moveTo>
                    <a:pt x="0" y="0"/>
                  </a:moveTo>
                  <a:lnTo>
                    <a:pt x="12908293" y="0"/>
                  </a:lnTo>
                  <a:lnTo>
                    <a:pt x="12908293" y="928392"/>
                  </a:lnTo>
                  <a:lnTo>
                    <a:pt x="0" y="9283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0918" r="0" b="-220918"/>
              </a:stretch>
            </a:blipFill>
          </p:spPr>
        </p:sp>
        <p:sp>
          <p:nvSpPr>
            <p:cNvPr name="TextBox 166" id="166"/>
            <p:cNvSpPr txBox="true"/>
            <p:nvPr/>
          </p:nvSpPr>
          <p:spPr>
            <a:xfrm>
              <a:off x="0" y="-19050"/>
              <a:ext cx="12908293" cy="947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52636A"/>
                  </a:solidFill>
                  <a:latin typeface="Arimo"/>
                  <a:ea typeface="Arimo"/>
                  <a:cs typeface="Arimo"/>
                  <a:sym typeface="Arimo"/>
                </a:rPr>
                <a:t>Location + Time + Movement + Nearby Incidents </a:t>
              </a:r>
              <a:r>
                <a:rPr lang="en-US" sz="1800">
                  <a:solidFill>
                    <a:srgbClr val="C66A4A"/>
                  </a:solidFill>
                  <a:latin typeface="Arimo"/>
                  <a:ea typeface="Arimo"/>
                  <a:cs typeface="Arimo"/>
                  <a:sym typeface="Arimo"/>
                </a:rPr>
                <a:t>→</a:t>
              </a:r>
              <a:r>
                <a:rPr lang="en-US" sz="1800">
                  <a:solidFill>
                    <a:srgbClr val="52636A"/>
                  </a:solidFill>
                  <a:latin typeface="Arimo"/>
                  <a:ea typeface="Arimo"/>
                  <a:cs typeface="Arimo"/>
                  <a:sym typeface="Arimo"/>
                </a:rPr>
                <a:t> Risk Score </a:t>
              </a:r>
              <a:r>
                <a:rPr lang="en-US" sz="1800">
                  <a:solidFill>
                    <a:srgbClr val="C66A4A"/>
                  </a:solidFill>
                  <a:latin typeface="Arimo"/>
                  <a:ea typeface="Arimo"/>
                  <a:cs typeface="Arimo"/>
                  <a:sym typeface="Arimo"/>
                </a:rPr>
                <a:t>→</a:t>
              </a:r>
              <a:r>
                <a:rPr lang="en-US" sz="1800">
                  <a:solidFill>
                    <a:srgbClr val="698D77"/>
                  </a:solidFill>
                  <a:latin typeface="Arimo"/>
                  <a:ea typeface="Arimo"/>
                  <a:cs typeface="Arimo"/>
                  <a:sym typeface="Arimo"/>
                </a:rPr>
                <a:t>LOW</a:t>
              </a:r>
              <a:r>
                <a:rPr lang="en-US" sz="1800">
                  <a:solidFill>
                    <a:srgbClr val="52636A"/>
                  </a:solidFill>
                  <a:latin typeface="Arimo"/>
                  <a:ea typeface="Arimo"/>
                  <a:cs typeface="Arimo"/>
                  <a:sym typeface="Arimo"/>
                </a:rPr>
                <a:t> / </a:t>
              </a:r>
              <a:r>
                <a:rPr lang="en-US" sz="1800">
                  <a:solidFill>
                    <a:srgbClr val="C66A4A"/>
                  </a:solidFill>
                  <a:latin typeface="Arimo"/>
                  <a:ea typeface="Arimo"/>
                  <a:cs typeface="Arimo"/>
                  <a:sym typeface="Arimo"/>
                </a:rPr>
                <a:t>MEDIUM</a:t>
              </a:r>
              <a:r>
                <a:rPr lang="en-US" sz="1800">
                  <a:solidFill>
                    <a:srgbClr val="52636A"/>
                  </a:solidFill>
                  <a:latin typeface="Arimo"/>
                  <a:ea typeface="Arimo"/>
                  <a:cs typeface="Arimo"/>
                  <a:sym typeface="Arimo"/>
                </a:rPr>
                <a:t> / </a:t>
              </a:r>
              <a:r>
                <a:rPr lang="en-US" sz="1800">
                  <a:solidFill>
                    <a:srgbClr val="B96E61"/>
                  </a:solidFill>
                  <a:latin typeface="Arimo"/>
                  <a:ea typeface="Arimo"/>
                  <a:cs typeface="Arimo"/>
                  <a:sym typeface="Arimo"/>
                </a:rPr>
                <a:t>HIGH</a:t>
              </a:r>
            </a:p>
          </p:txBody>
        </p:sp>
      </p:grpSp>
      <p:grpSp>
        <p:nvGrpSpPr>
          <p:cNvPr name="Group 167" id="167"/>
          <p:cNvGrpSpPr/>
          <p:nvPr/>
        </p:nvGrpSpPr>
        <p:grpSpPr>
          <a:xfrm rot="0">
            <a:off x="10452106" y="5938085"/>
            <a:ext cx="7513110" cy="2760297"/>
            <a:chOff x="0" y="0"/>
            <a:chExt cx="10017481" cy="3680396"/>
          </a:xfrm>
        </p:grpSpPr>
        <p:sp>
          <p:nvSpPr>
            <p:cNvPr name="Freeform 168" id="168"/>
            <p:cNvSpPr/>
            <p:nvPr/>
          </p:nvSpPr>
          <p:spPr>
            <a:xfrm flipH="false" flipV="false" rot="0">
              <a:off x="0" y="0"/>
              <a:ext cx="10017506" cy="3680333"/>
            </a:xfrm>
            <a:custGeom>
              <a:avLst/>
              <a:gdLst/>
              <a:ahLst/>
              <a:cxnLst/>
              <a:rect r="r" b="b" t="t" l="l"/>
              <a:pathLst>
                <a:path h="3680333" w="10017506">
                  <a:moveTo>
                    <a:pt x="0" y="296672"/>
                  </a:moveTo>
                  <a:cubicBezTo>
                    <a:pt x="0" y="132842"/>
                    <a:pt x="132842" y="0"/>
                    <a:pt x="296672" y="0"/>
                  </a:cubicBezTo>
                  <a:lnTo>
                    <a:pt x="9720834" y="0"/>
                  </a:lnTo>
                  <a:cubicBezTo>
                    <a:pt x="9884664" y="0"/>
                    <a:pt x="10017506" y="132842"/>
                    <a:pt x="10017506" y="296672"/>
                  </a:cubicBezTo>
                  <a:lnTo>
                    <a:pt x="10017506" y="3383661"/>
                  </a:lnTo>
                  <a:cubicBezTo>
                    <a:pt x="10017506" y="3547491"/>
                    <a:pt x="9884664" y="3680333"/>
                    <a:pt x="9720834" y="3680333"/>
                  </a:cubicBezTo>
                  <a:lnTo>
                    <a:pt x="296672" y="3680333"/>
                  </a:lnTo>
                  <a:cubicBezTo>
                    <a:pt x="132842" y="3680460"/>
                    <a:pt x="0" y="3547618"/>
                    <a:pt x="0" y="3383661"/>
                  </a:cubicBezTo>
                  <a:close/>
                </a:path>
              </a:pathLst>
            </a:custGeom>
            <a:solidFill>
              <a:srgbClr val="EAEEEA">
                <a:alpha val="56078"/>
              </a:srgbClr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169" id="169"/>
          <p:cNvGrpSpPr/>
          <p:nvPr/>
        </p:nvGrpSpPr>
        <p:grpSpPr>
          <a:xfrm rot="0">
            <a:off x="10720226" y="6134462"/>
            <a:ext cx="3495989" cy="293265"/>
            <a:chOff x="0" y="0"/>
            <a:chExt cx="4661319" cy="391020"/>
          </a:xfrm>
        </p:grpSpPr>
        <p:sp>
          <p:nvSpPr>
            <p:cNvPr name="Freeform 170" id="170"/>
            <p:cNvSpPr/>
            <p:nvPr/>
          </p:nvSpPr>
          <p:spPr>
            <a:xfrm flipH="false" flipV="false" rot="0">
              <a:off x="0" y="0"/>
              <a:ext cx="4661317" cy="391024"/>
            </a:xfrm>
            <a:custGeom>
              <a:avLst/>
              <a:gdLst/>
              <a:ahLst/>
              <a:cxnLst/>
              <a:rect r="r" b="b" t="t" l="l"/>
              <a:pathLst>
                <a:path h="391024" w="4661317">
                  <a:moveTo>
                    <a:pt x="0" y="0"/>
                  </a:moveTo>
                  <a:lnTo>
                    <a:pt x="4661317" y="0"/>
                  </a:lnTo>
                  <a:lnTo>
                    <a:pt x="4661317" y="391024"/>
                  </a:lnTo>
                  <a:lnTo>
                    <a:pt x="0" y="39102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2277" r="0" b="-182276"/>
              </a:stretch>
            </a:blipFill>
          </p:spPr>
        </p:sp>
        <p:sp>
          <p:nvSpPr>
            <p:cNvPr name="TextBox 171" id="171"/>
            <p:cNvSpPr txBox="true"/>
            <p:nvPr/>
          </p:nvSpPr>
          <p:spPr>
            <a:xfrm>
              <a:off x="0" y="-9525"/>
              <a:ext cx="4661319" cy="400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2"/>
                </a:lnSpc>
              </a:pPr>
              <a:r>
                <a:rPr lang="en-US" b="true" sz="2060" spc="217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TECHNOLOGIES USED</a:t>
              </a:r>
            </a:p>
          </p:txBody>
        </p:sp>
      </p:grpSp>
      <p:grpSp>
        <p:nvGrpSpPr>
          <p:cNvPr name="Group 172" id="172"/>
          <p:cNvGrpSpPr/>
          <p:nvPr/>
        </p:nvGrpSpPr>
        <p:grpSpPr>
          <a:xfrm rot="0">
            <a:off x="10658155" y="6526939"/>
            <a:ext cx="4863170" cy="411977"/>
            <a:chOff x="0" y="0"/>
            <a:chExt cx="5425199" cy="459589"/>
          </a:xfrm>
        </p:grpSpPr>
        <p:sp>
          <p:nvSpPr>
            <p:cNvPr name="Freeform 173" id="173"/>
            <p:cNvSpPr/>
            <p:nvPr/>
          </p:nvSpPr>
          <p:spPr>
            <a:xfrm flipH="false" flipV="false" rot="0">
              <a:off x="0" y="0"/>
              <a:ext cx="5425200" cy="459593"/>
            </a:xfrm>
            <a:custGeom>
              <a:avLst/>
              <a:gdLst/>
              <a:ahLst/>
              <a:cxnLst/>
              <a:rect r="r" b="b" t="t" l="l"/>
              <a:pathLst>
                <a:path h="459593" w="5425200">
                  <a:moveTo>
                    <a:pt x="0" y="0"/>
                  </a:moveTo>
                  <a:lnTo>
                    <a:pt x="5425200" y="0"/>
                  </a:lnTo>
                  <a:lnTo>
                    <a:pt x="5425200" y="459593"/>
                  </a:lnTo>
                  <a:lnTo>
                    <a:pt x="0" y="45959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7468" r="0" b="-172548"/>
              </a:stretch>
            </a:blipFill>
          </p:spPr>
        </p:sp>
        <p:sp>
          <p:nvSpPr>
            <p:cNvPr name="TextBox 174" id="174"/>
            <p:cNvSpPr txBox="true"/>
            <p:nvPr/>
          </p:nvSpPr>
          <p:spPr>
            <a:xfrm>
              <a:off x="0" y="-9525"/>
              <a:ext cx="5425199" cy="469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2"/>
                </a:lnSpc>
              </a:pPr>
              <a:r>
                <a:rPr lang="en-US" sz="206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Frontend:</a:t>
              </a:r>
              <a:r>
                <a:rPr lang="en-US" sz="2060">
                  <a:solidFill>
                    <a:srgbClr val="40525A"/>
                  </a:solidFill>
                  <a:latin typeface="Arimo"/>
                  <a:ea typeface="Arimo"/>
                  <a:cs typeface="Arimo"/>
                  <a:sym typeface="Arimo"/>
                </a:rPr>
                <a:t> HTML/CSS/JS</a:t>
              </a:r>
            </a:p>
          </p:txBody>
        </p:sp>
      </p:grpSp>
      <p:grpSp>
        <p:nvGrpSpPr>
          <p:cNvPr name="Group 175" id="175"/>
          <p:cNvGrpSpPr/>
          <p:nvPr/>
        </p:nvGrpSpPr>
        <p:grpSpPr>
          <a:xfrm rot="0">
            <a:off x="14343278" y="6332628"/>
            <a:ext cx="2951577" cy="716777"/>
            <a:chOff x="0" y="0"/>
            <a:chExt cx="3045044" cy="739475"/>
          </a:xfrm>
        </p:grpSpPr>
        <p:sp>
          <p:nvSpPr>
            <p:cNvPr name="Freeform 176" id="176"/>
            <p:cNvSpPr/>
            <p:nvPr/>
          </p:nvSpPr>
          <p:spPr>
            <a:xfrm flipH="false" flipV="false" rot="0">
              <a:off x="0" y="0"/>
              <a:ext cx="3045044" cy="739479"/>
            </a:xfrm>
            <a:custGeom>
              <a:avLst/>
              <a:gdLst/>
              <a:ahLst/>
              <a:cxnLst/>
              <a:rect r="r" b="b" t="t" l="l"/>
              <a:pathLst>
                <a:path h="739479" w="3045044">
                  <a:moveTo>
                    <a:pt x="0" y="0"/>
                  </a:moveTo>
                  <a:lnTo>
                    <a:pt x="3045044" y="0"/>
                  </a:lnTo>
                  <a:lnTo>
                    <a:pt x="3045044" y="739479"/>
                  </a:lnTo>
                  <a:lnTo>
                    <a:pt x="0" y="73947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2725" r="-73444" b="-65603"/>
              </a:stretch>
            </a:blipFill>
          </p:spPr>
        </p:sp>
        <p:sp>
          <p:nvSpPr>
            <p:cNvPr name="TextBox 177" id="177"/>
            <p:cNvSpPr txBox="true"/>
            <p:nvPr/>
          </p:nvSpPr>
          <p:spPr>
            <a:xfrm>
              <a:off x="0" y="-9525"/>
              <a:ext cx="3045044" cy="749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2"/>
                </a:lnSpc>
              </a:pPr>
              <a:r>
                <a:rPr lang="en-US" sz="206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Backend:</a:t>
              </a:r>
              <a:r>
                <a:rPr lang="en-US" sz="2060">
                  <a:solidFill>
                    <a:srgbClr val="40525A"/>
                  </a:solidFill>
                  <a:latin typeface="Arimo"/>
                  <a:ea typeface="Arimo"/>
                  <a:cs typeface="Arimo"/>
                  <a:sym typeface="Arimo"/>
                </a:rPr>
                <a:t> Python (Node.JS)</a:t>
              </a:r>
            </a:p>
          </p:txBody>
        </p:sp>
      </p:grpSp>
      <p:grpSp>
        <p:nvGrpSpPr>
          <p:cNvPr name="Group 178" id="178"/>
          <p:cNvGrpSpPr/>
          <p:nvPr/>
        </p:nvGrpSpPr>
        <p:grpSpPr>
          <a:xfrm rot="0">
            <a:off x="10658155" y="7034167"/>
            <a:ext cx="2433928" cy="415901"/>
            <a:chOff x="0" y="0"/>
            <a:chExt cx="2986329" cy="510293"/>
          </a:xfrm>
        </p:grpSpPr>
        <p:sp>
          <p:nvSpPr>
            <p:cNvPr name="Freeform 179" id="179"/>
            <p:cNvSpPr/>
            <p:nvPr/>
          </p:nvSpPr>
          <p:spPr>
            <a:xfrm flipH="false" flipV="false" rot="0">
              <a:off x="0" y="0"/>
              <a:ext cx="2986331" cy="510297"/>
            </a:xfrm>
            <a:custGeom>
              <a:avLst/>
              <a:gdLst/>
              <a:ahLst/>
              <a:cxnLst/>
              <a:rect r="r" b="b" t="t" l="l"/>
              <a:pathLst>
                <a:path h="510297" w="2986331">
                  <a:moveTo>
                    <a:pt x="0" y="0"/>
                  </a:moveTo>
                  <a:lnTo>
                    <a:pt x="2986331" y="0"/>
                  </a:lnTo>
                  <a:lnTo>
                    <a:pt x="2986331" y="510297"/>
                  </a:lnTo>
                  <a:lnTo>
                    <a:pt x="0" y="51029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5716" r="0" b="-52342"/>
              </a:stretch>
            </a:blipFill>
          </p:spPr>
        </p:sp>
        <p:sp>
          <p:nvSpPr>
            <p:cNvPr name="TextBox 180" id="180"/>
            <p:cNvSpPr txBox="true"/>
            <p:nvPr/>
          </p:nvSpPr>
          <p:spPr>
            <a:xfrm>
              <a:off x="0" y="-9525"/>
              <a:ext cx="2986329" cy="5198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2"/>
                </a:lnSpc>
              </a:pPr>
              <a:r>
                <a:rPr lang="en-US" sz="206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Database:</a:t>
              </a:r>
              <a:r>
                <a:rPr lang="en-US" sz="2060">
                  <a:solidFill>
                    <a:srgbClr val="40525A"/>
                  </a:solidFill>
                  <a:latin typeface="Arimo"/>
                  <a:ea typeface="Arimo"/>
                  <a:cs typeface="Arimo"/>
                  <a:sym typeface="Arimo"/>
                </a:rPr>
                <a:t> MySQL</a:t>
              </a:r>
            </a:p>
          </p:txBody>
        </p:sp>
      </p:grpSp>
      <p:grpSp>
        <p:nvGrpSpPr>
          <p:cNvPr name="Group 181" id="181"/>
          <p:cNvGrpSpPr/>
          <p:nvPr/>
        </p:nvGrpSpPr>
        <p:grpSpPr>
          <a:xfrm rot="0">
            <a:off x="14331492" y="7091679"/>
            <a:ext cx="4270213" cy="716777"/>
            <a:chOff x="0" y="0"/>
            <a:chExt cx="5107038" cy="857243"/>
          </a:xfrm>
        </p:grpSpPr>
        <p:sp>
          <p:nvSpPr>
            <p:cNvPr name="Freeform 182" id="182"/>
            <p:cNvSpPr/>
            <p:nvPr/>
          </p:nvSpPr>
          <p:spPr>
            <a:xfrm flipH="false" flipV="false" rot="0">
              <a:off x="0" y="0"/>
              <a:ext cx="5107037" cy="857247"/>
            </a:xfrm>
            <a:custGeom>
              <a:avLst/>
              <a:gdLst/>
              <a:ahLst/>
              <a:cxnLst/>
              <a:rect r="r" b="b" t="t" l="l"/>
              <a:pathLst>
                <a:path h="857247" w="5107037">
                  <a:moveTo>
                    <a:pt x="0" y="0"/>
                  </a:moveTo>
                  <a:lnTo>
                    <a:pt x="5107037" y="0"/>
                  </a:lnTo>
                  <a:lnTo>
                    <a:pt x="5107037" y="857247"/>
                  </a:lnTo>
                  <a:lnTo>
                    <a:pt x="0" y="85724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3275" r="0" b="-38888"/>
              </a:stretch>
            </a:blipFill>
          </p:spPr>
        </p:sp>
        <p:sp>
          <p:nvSpPr>
            <p:cNvPr name="TextBox 183" id="183"/>
            <p:cNvSpPr txBox="true"/>
            <p:nvPr/>
          </p:nvSpPr>
          <p:spPr>
            <a:xfrm>
              <a:off x="0" y="-9525"/>
              <a:ext cx="5107038" cy="8667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2"/>
                </a:lnSpc>
              </a:pPr>
              <a:r>
                <a:rPr lang="en-US" sz="206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Maps:</a:t>
              </a:r>
              <a:r>
                <a:rPr lang="en-US" sz="2060">
                  <a:solidFill>
                    <a:srgbClr val="40525A"/>
                  </a:solidFill>
                  <a:latin typeface="Arimo"/>
                  <a:ea typeface="Arimo"/>
                  <a:cs typeface="Arimo"/>
                  <a:sym typeface="Arimo"/>
                </a:rPr>
                <a:t> OpenStreetMap + GoogleMaps</a:t>
              </a:r>
            </a:p>
          </p:txBody>
        </p:sp>
      </p:grpSp>
      <p:grpSp>
        <p:nvGrpSpPr>
          <p:cNvPr name="Group 184" id="184"/>
          <p:cNvGrpSpPr/>
          <p:nvPr/>
        </p:nvGrpSpPr>
        <p:grpSpPr>
          <a:xfrm rot="0">
            <a:off x="10658155" y="7494349"/>
            <a:ext cx="3477926" cy="413040"/>
            <a:chOff x="0" y="0"/>
            <a:chExt cx="5166042" cy="613521"/>
          </a:xfrm>
        </p:grpSpPr>
        <p:sp>
          <p:nvSpPr>
            <p:cNvPr name="Freeform 185" id="185"/>
            <p:cNvSpPr/>
            <p:nvPr/>
          </p:nvSpPr>
          <p:spPr>
            <a:xfrm flipH="false" flipV="false" rot="0">
              <a:off x="0" y="0"/>
              <a:ext cx="5166040" cy="613525"/>
            </a:xfrm>
            <a:custGeom>
              <a:avLst/>
              <a:gdLst/>
              <a:ahLst/>
              <a:cxnLst/>
              <a:rect r="r" b="b" t="t" l="l"/>
              <a:pathLst>
                <a:path h="613525" w="5166040">
                  <a:moveTo>
                    <a:pt x="0" y="0"/>
                  </a:moveTo>
                  <a:lnTo>
                    <a:pt x="5166040" y="0"/>
                  </a:lnTo>
                  <a:lnTo>
                    <a:pt x="5166040" y="613525"/>
                  </a:lnTo>
                  <a:lnTo>
                    <a:pt x="0" y="6135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2202" r="0" b="-95935"/>
              </a:stretch>
            </a:blipFill>
          </p:spPr>
        </p:sp>
        <p:sp>
          <p:nvSpPr>
            <p:cNvPr name="TextBox 186" id="186"/>
            <p:cNvSpPr txBox="true"/>
            <p:nvPr/>
          </p:nvSpPr>
          <p:spPr>
            <a:xfrm>
              <a:off x="0" y="-9525"/>
              <a:ext cx="5166042" cy="62304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2"/>
                </a:lnSpc>
              </a:pPr>
              <a:r>
                <a:rPr lang="en-US" sz="206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Location:</a:t>
              </a:r>
              <a:r>
                <a:rPr lang="en-US" sz="2060">
                  <a:solidFill>
                    <a:srgbClr val="40525A"/>
                  </a:solidFill>
                  <a:latin typeface="Arimo"/>
                  <a:ea typeface="Arimo"/>
                  <a:cs typeface="Arimo"/>
                  <a:sym typeface="Arimo"/>
                </a:rPr>
                <a:t> GPS</a:t>
              </a:r>
            </a:p>
          </p:txBody>
        </p:sp>
      </p:grpSp>
      <p:grpSp>
        <p:nvGrpSpPr>
          <p:cNvPr name="Group 187" id="187"/>
          <p:cNvGrpSpPr/>
          <p:nvPr/>
        </p:nvGrpSpPr>
        <p:grpSpPr>
          <a:xfrm rot="0">
            <a:off x="14343278" y="7907389"/>
            <a:ext cx="3725225" cy="411977"/>
            <a:chOff x="0" y="0"/>
            <a:chExt cx="4508017" cy="498548"/>
          </a:xfrm>
        </p:grpSpPr>
        <p:sp>
          <p:nvSpPr>
            <p:cNvPr name="Freeform 188" id="188"/>
            <p:cNvSpPr/>
            <p:nvPr/>
          </p:nvSpPr>
          <p:spPr>
            <a:xfrm flipH="false" flipV="false" rot="0">
              <a:off x="0" y="0"/>
              <a:ext cx="4508021" cy="498551"/>
            </a:xfrm>
            <a:custGeom>
              <a:avLst/>
              <a:gdLst/>
              <a:ahLst/>
              <a:cxnLst/>
              <a:rect r="r" b="b" t="t" l="l"/>
              <a:pathLst>
                <a:path h="498551" w="4508021">
                  <a:moveTo>
                    <a:pt x="0" y="0"/>
                  </a:moveTo>
                  <a:lnTo>
                    <a:pt x="4508021" y="0"/>
                  </a:lnTo>
                  <a:lnTo>
                    <a:pt x="4508021" y="498551"/>
                  </a:lnTo>
                  <a:lnTo>
                    <a:pt x="0" y="49855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6972" r="0" b="-115403"/>
              </a:stretch>
            </a:blipFill>
          </p:spPr>
        </p:sp>
        <p:sp>
          <p:nvSpPr>
            <p:cNvPr name="TextBox 189" id="189"/>
            <p:cNvSpPr txBox="true"/>
            <p:nvPr/>
          </p:nvSpPr>
          <p:spPr>
            <a:xfrm>
              <a:off x="0" y="-9525"/>
              <a:ext cx="4508017" cy="508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2"/>
                </a:lnSpc>
              </a:pPr>
              <a:r>
                <a:rPr lang="en-US" sz="206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AI:</a:t>
              </a:r>
              <a:r>
                <a:rPr lang="en-US" sz="2060">
                  <a:solidFill>
                    <a:srgbClr val="40525A"/>
                  </a:solidFill>
                  <a:latin typeface="Arimo"/>
                  <a:ea typeface="Arimo"/>
                  <a:cs typeface="Arimo"/>
                  <a:sym typeface="Arimo"/>
                </a:rPr>
                <a:t> Google gemini </a:t>
              </a:r>
            </a:p>
          </p:txBody>
        </p:sp>
      </p:grpSp>
      <p:grpSp>
        <p:nvGrpSpPr>
          <p:cNvPr name="Group 190" id="190"/>
          <p:cNvGrpSpPr/>
          <p:nvPr/>
        </p:nvGrpSpPr>
        <p:grpSpPr>
          <a:xfrm rot="0">
            <a:off x="14343278" y="8295227"/>
            <a:ext cx="2745629" cy="293265"/>
            <a:chOff x="0" y="0"/>
            <a:chExt cx="3660838" cy="391020"/>
          </a:xfrm>
        </p:grpSpPr>
        <p:sp>
          <p:nvSpPr>
            <p:cNvPr name="Freeform 191" id="191"/>
            <p:cNvSpPr/>
            <p:nvPr/>
          </p:nvSpPr>
          <p:spPr>
            <a:xfrm flipH="false" flipV="false" rot="0">
              <a:off x="0" y="0"/>
              <a:ext cx="3660837" cy="391024"/>
            </a:xfrm>
            <a:custGeom>
              <a:avLst/>
              <a:gdLst/>
              <a:ahLst/>
              <a:cxnLst/>
              <a:rect r="r" b="b" t="t" l="l"/>
              <a:pathLst>
                <a:path h="391024" w="3660837">
                  <a:moveTo>
                    <a:pt x="0" y="0"/>
                  </a:moveTo>
                  <a:lnTo>
                    <a:pt x="3660837" y="0"/>
                  </a:lnTo>
                  <a:lnTo>
                    <a:pt x="3660837" y="391024"/>
                  </a:lnTo>
                  <a:lnTo>
                    <a:pt x="0" y="39102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2422" r="0" b="-132422"/>
              </a:stretch>
            </a:blipFill>
          </p:spPr>
        </p:sp>
        <p:sp>
          <p:nvSpPr>
            <p:cNvPr name="TextBox 192" id="192"/>
            <p:cNvSpPr txBox="true"/>
            <p:nvPr/>
          </p:nvSpPr>
          <p:spPr>
            <a:xfrm>
              <a:off x="0" y="-9525"/>
              <a:ext cx="3660838" cy="400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2"/>
                </a:lnSpc>
              </a:pPr>
              <a:r>
                <a:rPr lang="en-US" sz="206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Visualization:</a:t>
              </a:r>
              <a:r>
                <a:rPr lang="en-US" sz="2060">
                  <a:solidFill>
                    <a:srgbClr val="40525A"/>
                  </a:solidFill>
                  <a:latin typeface="Arimo"/>
                  <a:ea typeface="Arimo"/>
                  <a:cs typeface="Arimo"/>
                  <a:sym typeface="Arimo"/>
                </a:rPr>
                <a:t> Chart.js</a:t>
              </a:r>
            </a:p>
          </p:txBody>
        </p:sp>
      </p:grpSp>
      <p:grpSp>
        <p:nvGrpSpPr>
          <p:cNvPr name="Group 193" id="193"/>
          <p:cNvGrpSpPr/>
          <p:nvPr/>
        </p:nvGrpSpPr>
        <p:grpSpPr>
          <a:xfrm rot="0">
            <a:off x="10658155" y="8059233"/>
            <a:ext cx="3353805" cy="471988"/>
            <a:chOff x="0" y="0"/>
            <a:chExt cx="3621683" cy="509687"/>
          </a:xfrm>
        </p:grpSpPr>
        <p:sp>
          <p:nvSpPr>
            <p:cNvPr name="Freeform 194" id="194"/>
            <p:cNvSpPr/>
            <p:nvPr/>
          </p:nvSpPr>
          <p:spPr>
            <a:xfrm flipH="false" flipV="false" rot="0">
              <a:off x="0" y="0"/>
              <a:ext cx="3621682" cy="509691"/>
            </a:xfrm>
            <a:custGeom>
              <a:avLst/>
              <a:gdLst/>
              <a:ahLst/>
              <a:cxnLst/>
              <a:rect r="r" b="b" t="t" l="l"/>
              <a:pathLst>
                <a:path h="509691" w="3621682">
                  <a:moveTo>
                    <a:pt x="0" y="0"/>
                  </a:moveTo>
                  <a:lnTo>
                    <a:pt x="3621682" y="0"/>
                  </a:lnTo>
                  <a:lnTo>
                    <a:pt x="3621682" y="509691"/>
                  </a:lnTo>
                  <a:lnTo>
                    <a:pt x="0" y="5096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044" r="28204" b="-37761"/>
              </a:stretch>
            </a:blipFill>
          </p:spPr>
        </p:sp>
        <p:sp>
          <p:nvSpPr>
            <p:cNvPr name="TextBox 195" id="195"/>
            <p:cNvSpPr txBox="true"/>
            <p:nvPr/>
          </p:nvSpPr>
          <p:spPr>
            <a:xfrm>
              <a:off x="0" y="-9525"/>
              <a:ext cx="3621683" cy="5192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2"/>
                </a:lnSpc>
              </a:pPr>
              <a:r>
                <a:rPr lang="en-US" sz="206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APIs:</a:t>
              </a:r>
              <a:r>
                <a:rPr lang="en-US" sz="2060">
                  <a:solidFill>
                    <a:srgbClr val="40525A"/>
                  </a:solidFill>
                  <a:latin typeface="Arimo"/>
                  <a:ea typeface="Arimo"/>
                  <a:cs typeface="Arimo"/>
                  <a:sym typeface="Arimo"/>
                </a:rPr>
                <a:t> Google gemini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4F1E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280074" y="1150439"/>
            <a:ext cx="15220760" cy="914400"/>
            <a:chOff x="0" y="0"/>
            <a:chExt cx="20294346" cy="1219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294341" cy="1219200"/>
            </a:xfrm>
            <a:custGeom>
              <a:avLst/>
              <a:gdLst/>
              <a:ahLst/>
              <a:cxnLst/>
              <a:rect r="r" b="b" t="t" l="l"/>
              <a:pathLst>
                <a:path h="1219200" w="20294341">
                  <a:moveTo>
                    <a:pt x="0" y="0"/>
                  </a:moveTo>
                  <a:lnTo>
                    <a:pt x="20294341" y="0"/>
                  </a:lnTo>
                  <a:lnTo>
                    <a:pt x="2029434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4340" r="0" b="-27434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20294346" cy="1219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75"/>
                </a:lnSpc>
              </a:pPr>
              <a:r>
                <a:rPr lang="en-US" b="true" sz="5979" spc="-357">
                  <a:solidFill>
                    <a:srgbClr val="24313A"/>
                  </a:solidFill>
                  <a:latin typeface="Inter Bold"/>
                  <a:ea typeface="Inter Bold"/>
                  <a:cs typeface="Inter Bold"/>
                  <a:sym typeface="Inter Bold"/>
                </a:rPr>
                <a:t>Conclusion — Towards Safer Travel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82303" y="2694984"/>
            <a:ext cx="114300" cy="114300"/>
            <a:chOff x="0" y="0"/>
            <a:chExt cx="152400" cy="152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cubicBezTo>
                    <a:pt x="118237" y="0"/>
                    <a:pt x="152400" y="34163"/>
                    <a:pt x="152400" y="76200"/>
                  </a:cubicBezTo>
                  <a:cubicBezTo>
                    <a:pt x="152400" y="118237"/>
                    <a:pt x="118237" y="152400"/>
                    <a:pt x="76200" y="152400"/>
                  </a:cubicBezTo>
                  <a:cubicBezTo>
                    <a:pt x="34163" y="152400"/>
                    <a:pt x="0" y="118237"/>
                    <a:pt x="0" y="76200"/>
                  </a:cubicBezTo>
                  <a:close/>
                </a:path>
              </a:pathLst>
            </a:custGeom>
            <a:solidFill>
              <a:srgbClr val="4B7C7A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545136" y="2605145"/>
            <a:ext cx="4040715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394B54"/>
                </a:solidFill>
                <a:latin typeface="Arimo"/>
                <a:ea typeface="Arimo"/>
                <a:cs typeface="Arimo"/>
                <a:sym typeface="Arimo"/>
              </a:rPr>
              <a:t>Provides quick access to an</a:t>
            </a:r>
          </a:p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394B54"/>
                </a:solidFill>
                <a:latin typeface="Arimo"/>
                <a:ea typeface="Arimo"/>
                <a:cs typeface="Arimo"/>
                <a:sym typeface="Arimo"/>
              </a:rPr>
              <a:t>SOS/emergency mechanism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371948" y="2694984"/>
            <a:ext cx="114300" cy="114300"/>
            <a:chOff x="0" y="0"/>
            <a:chExt cx="152400" cy="152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cubicBezTo>
                    <a:pt x="118237" y="0"/>
                    <a:pt x="152400" y="34163"/>
                    <a:pt x="152400" y="76200"/>
                  </a:cubicBezTo>
                  <a:cubicBezTo>
                    <a:pt x="152400" y="118237"/>
                    <a:pt x="118237" y="152400"/>
                    <a:pt x="76200" y="152400"/>
                  </a:cubicBezTo>
                  <a:cubicBezTo>
                    <a:pt x="34163" y="152400"/>
                    <a:pt x="0" y="118237"/>
                    <a:pt x="0" y="76200"/>
                  </a:cubicBezTo>
                  <a:close/>
                </a:path>
              </a:pathLst>
            </a:custGeom>
            <a:solidFill>
              <a:srgbClr val="4B7C7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634780" y="2605145"/>
            <a:ext cx="372012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394B54"/>
                </a:solidFill>
                <a:latin typeface="Arimo"/>
                <a:ea typeface="Arimo"/>
                <a:cs typeface="Arimo"/>
                <a:sym typeface="Arimo"/>
              </a:rPr>
              <a:t>Enables real-time location</a:t>
            </a:r>
          </a:p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394B54"/>
                </a:solidFill>
                <a:latin typeface="Arimo"/>
                <a:ea typeface="Arimo"/>
                <a:cs typeface="Arimo"/>
                <a:sym typeface="Arimo"/>
              </a:rPr>
              <a:t>sharing during travel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282303" y="3794674"/>
            <a:ext cx="114300" cy="114300"/>
            <a:chOff x="0" y="0"/>
            <a:chExt cx="152400" cy="1524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cubicBezTo>
                    <a:pt x="118237" y="0"/>
                    <a:pt x="152400" y="34163"/>
                    <a:pt x="152400" y="76200"/>
                  </a:cubicBezTo>
                  <a:cubicBezTo>
                    <a:pt x="152400" y="118237"/>
                    <a:pt x="118237" y="152400"/>
                    <a:pt x="76200" y="152400"/>
                  </a:cubicBezTo>
                  <a:cubicBezTo>
                    <a:pt x="34163" y="152400"/>
                    <a:pt x="0" y="118237"/>
                    <a:pt x="0" y="76200"/>
                  </a:cubicBezTo>
                  <a:close/>
                </a:path>
              </a:pathLst>
            </a:custGeom>
            <a:solidFill>
              <a:srgbClr val="C66A4A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545136" y="3704834"/>
            <a:ext cx="4162025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394B54"/>
                </a:solidFill>
                <a:latin typeface="Arimo"/>
                <a:ea typeface="Arimo"/>
                <a:cs typeface="Arimo"/>
                <a:sym typeface="Arimo"/>
              </a:rPr>
              <a:t>Warns users near predefined</a:t>
            </a:r>
          </a:p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394B54"/>
                </a:solidFill>
                <a:latin typeface="Arimo"/>
                <a:ea typeface="Arimo"/>
                <a:cs typeface="Arimo"/>
                <a:sym typeface="Arimo"/>
              </a:rPr>
              <a:t>unsafe/restricted zones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5371948" y="3794674"/>
            <a:ext cx="114300" cy="114300"/>
            <a:chOff x="0" y="0"/>
            <a:chExt cx="152400" cy="152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cubicBezTo>
                    <a:pt x="118237" y="0"/>
                    <a:pt x="152400" y="34163"/>
                    <a:pt x="152400" y="76200"/>
                  </a:cubicBezTo>
                  <a:cubicBezTo>
                    <a:pt x="152400" y="118237"/>
                    <a:pt x="118237" y="152400"/>
                    <a:pt x="76200" y="152400"/>
                  </a:cubicBezTo>
                  <a:cubicBezTo>
                    <a:pt x="34163" y="152400"/>
                    <a:pt x="0" y="118237"/>
                    <a:pt x="0" y="76200"/>
                  </a:cubicBezTo>
                  <a:close/>
                </a:path>
              </a:pathLst>
            </a:custGeom>
            <a:solidFill>
              <a:srgbClr val="C66A4A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5634780" y="3704834"/>
            <a:ext cx="4250446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394B54"/>
                </a:solidFill>
                <a:latin typeface="Arimo"/>
                <a:ea typeface="Arimo"/>
                <a:cs typeface="Arimo"/>
                <a:sym typeface="Arimo"/>
              </a:rPr>
              <a:t>Supports incident reporting</a:t>
            </a:r>
          </a:p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394B54"/>
                </a:solidFill>
                <a:latin typeface="Arimo"/>
                <a:ea typeface="Arimo"/>
                <a:cs typeface="Arimo"/>
                <a:sym typeface="Arimo"/>
              </a:rPr>
              <a:t>and faster authority response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82303" y="4894507"/>
            <a:ext cx="114300" cy="114300"/>
            <a:chOff x="0" y="0"/>
            <a:chExt cx="152400" cy="152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cubicBezTo>
                    <a:pt x="118237" y="0"/>
                    <a:pt x="152400" y="34163"/>
                    <a:pt x="152400" y="76200"/>
                  </a:cubicBezTo>
                  <a:cubicBezTo>
                    <a:pt x="152400" y="118237"/>
                    <a:pt x="118237" y="152400"/>
                    <a:pt x="76200" y="152400"/>
                  </a:cubicBezTo>
                  <a:cubicBezTo>
                    <a:pt x="34163" y="152400"/>
                    <a:pt x="0" y="118237"/>
                    <a:pt x="0" y="76200"/>
                  </a:cubicBezTo>
                  <a:close/>
                </a:path>
              </a:pathLst>
            </a:custGeom>
            <a:solidFill>
              <a:srgbClr val="698D77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545136" y="4804677"/>
            <a:ext cx="8464553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394B54"/>
                </a:solidFill>
                <a:latin typeface="Arimo"/>
                <a:ea typeface="Arimo"/>
                <a:cs typeface="Arimo"/>
                <a:sym typeface="Arimo"/>
              </a:rPr>
              <a:t>Particularly useful for women and girls travelling alone or in</a:t>
            </a:r>
          </a:p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394B54"/>
                </a:solidFill>
                <a:latin typeface="Arimo"/>
                <a:ea typeface="Arimo"/>
                <a:cs typeface="Arimo"/>
                <a:sym typeface="Arimo"/>
              </a:rPr>
              <a:t>unfamiliar areas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755952" y="2643035"/>
            <a:ext cx="7048500" cy="3019425"/>
            <a:chOff x="0" y="0"/>
            <a:chExt cx="9398000" cy="40259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3980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9398000">
                  <a:moveTo>
                    <a:pt x="0" y="293497"/>
                  </a:moveTo>
                  <a:cubicBezTo>
                    <a:pt x="0" y="131445"/>
                    <a:pt x="131445" y="0"/>
                    <a:pt x="293497" y="0"/>
                  </a:cubicBezTo>
                  <a:lnTo>
                    <a:pt x="9104503" y="0"/>
                  </a:lnTo>
                  <a:cubicBezTo>
                    <a:pt x="9266555" y="0"/>
                    <a:pt x="9398000" y="131445"/>
                    <a:pt x="9398000" y="293497"/>
                  </a:cubicBezTo>
                  <a:lnTo>
                    <a:pt x="9398000" y="3732403"/>
                  </a:lnTo>
                  <a:cubicBezTo>
                    <a:pt x="9398000" y="3894455"/>
                    <a:pt x="9266555" y="4025900"/>
                    <a:pt x="9104503" y="4025900"/>
                  </a:cubicBezTo>
                  <a:lnTo>
                    <a:pt x="293497" y="4025900"/>
                  </a:lnTo>
                  <a:cubicBezTo>
                    <a:pt x="131445" y="4025900"/>
                    <a:pt x="0" y="3894455"/>
                    <a:pt x="0" y="3732403"/>
                  </a:cubicBezTo>
                  <a:close/>
                </a:path>
              </a:pathLst>
            </a:custGeom>
            <a:solidFill>
              <a:srgbClr val="E8EDE8">
                <a:alpha val="63922"/>
              </a:srgbClr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8967949" y="2933757"/>
            <a:ext cx="6097934" cy="324135"/>
            <a:chOff x="0" y="0"/>
            <a:chExt cx="6450965" cy="3429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50965" cy="342901"/>
            </a:xfrm>
            <a:custGeom>
              <a:avLst/>
              <a:gdLst/>
              <a:ahLst/>
              <a:cxnLst/>
              <a:rect r="r" b="b" t="t" l="l"/>
              <a:pathLst>
                <a:path h="342901" w="6450965">
                  <a:moveTo>
                    <a:pt x="0" y="0"/>
                  </a:moveTo>
                  <a:lnTo>
                    <a:pt x="6450965" y="0"/>
                  </a:lnTo>
                  <a:lnTo>
                    <a:pt x="6450965" y="342901"/>
                  </a:lnTo>
                  <a:lnTo>
                    <a:pt x="0" y="3429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16570" r="0" b="-316569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50965" cy="3524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 spc="229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 SAFER TRAVEL ENVIRONMENT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76350" y="6272955"/>
            <a:ext cx="15735300" cy="1285875"/>
            <a:chOff x="0" y="0"/>
            <a:chExt cx="20980400" cy="17145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0980400" cy="1714500"/>
            </a:xfrm>
            <a:custGeom>
              <a:avLst/>
              <a:gdLst/>
              <a:ahLst/>
              <a:cxnLst/>
              <a:rect r="r" b="b" t="t" l="l"/>
              <a:pathLst>
                <a:path h="1714500" w="20980400">
                  <a:moveTo>
                    <a:pt x="0" y="294767"/>
                  </a:moveTo>
                  <a:cubicBezTo>
                    <a:pt x="0" y="131953"/>
                    <a:pt x="131953" y="0"/>
                    <a:pt x="294767" y="0"/>
                  </a:cubicBezTo>
                  <a:lnTo>
                    <a:pt x="20685633" y="0"/>
                  </a:lnTo>
                  <a:cubicBezTo>
                    <a:pt x="20848447" y="0"/>
                    <a:pt x="20980400" y="131953"/>
                    <a:pt x="20980400" y="294767"/>
                  </a:cubicBezTo>
                  <a:lnTo>
                    <a:pt x="20980400" y="1419733"/>
                  </a:lnTo>
                  <a:cubicBezTo>
                    <a:pt x="20980400" y="1582547"/>
                    <a:pt x="20848447" y="1714500"/>
                    <a:pt x="20685633" y="1714500"/>
                  </a:cubicBezTo>
                  <a:lnTo>
                    <a:pt x="294767" y="1714500"/>
                  </a:lnTo>
                  <a:cubicBezTo>
                    <a:pt x="131953" y="1714500"/>
                    <a:pt x="0" y="1582547"/>
                    <a:pt x="0" y="1419733"/>
                  </a:cubicBezTo>
                  <a:close/>
                </a:path>
              </a:pathLst>
            </a:custGeom>
            <a:solidFill>
              <a:srgbClr val="E0E8E4">
                <a:alpha val="49020"/>
              </a:srgbClr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5639791" y="6504651"/>
            <a:ext cx="997744" cy="875852"/>
            <a:chOff x="0" y="0"/>
            <a:chExt cx="1330325" cy="116780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330452" cy="1167765"/>
            </a:xfrm>
            <a:custGeom>
              <a:avLst/>
              <a:gdLst/>
              <a:ahLst/>
              <a:cxnLst/>
              <a:rect r="r" b="b" t="t" l="l"/>
              <a:pathLst>
                <a:path h="1167765" w="1330452">
                  <a:moveTo>
                    <a:pt x="0" y="583946"/>
                  </a:moveTo>
                  <a:cubicBezTo>
                    <a:pt x="0" y="261366"/>
                    <a:pt x="297815" y="0"/>
                    <a:pt x="665226" y="0"/>
                  </a:cubicBezTo>
                  <a:cubicBezTo>
                    <a:pt x="1032637" y="0"/>
                    <a:pt x="1330452" y="261366"/>
                    <a:pt x="1330452" y="583946"/>
                  </a:cubicBezTo>
                  <a:cubicBezTo>
                    <a:pt x="1330452" y="906526"/>
                    <a:pt x="1032510" y="1167765"/>
                    <a:pt x="665226" y="1167765"/>
                  </a:cubicBezTo>
                  <a:cubicBezTo>
                    <a:pt x="297942" y="1167765"/>
                    <a:pt x="0" y="906399"/>
                    <a:pt x="0" y="583946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62623" t="0" r="-62613" b="-3"/>
              </a:stretch>
            </a:blipFill>
            <a:ln w="28576" cap="sq">
              <a:solidFill>
                <a:srgbClr val="4B7C7A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5701313" y="6774809"/>
            <a:ext cx="1351388" cy="266700"/>
            <a:chOff x="0" y="0"/>
            <a:chExt cx="1801851" cy="355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801853" cy="355600"/>
            </a:xfrm>
            <a:custGeom>
              <a:avLst/>
              <a:gdLst/>
              <a:ahLst/>
              <a:cxnLst/>
              <a:rect r="r" b="b" t="t" l="l"/>
              <a:pathLst>
                <a:path h="355600" w="1801853">
                  <a:moveTo>
                    <a:pt x="0" y="0"/>
                  </a:moveTo>
                  <a:lnTo>
                    <a:pt x="1801853" y="0"/>
                  </a:lnTo>
                  <a:lnTo>
                    <a:pt x="1801853" y="355600"/>
                  </a:lnTo>
                  <a:lnTo>
                    <a:pt x="0" y="355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8732" r="0" b="-48732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1801851" cy="374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24"/>
                </a:lnSpc>
              </a:pPr>
              <a:r>
                <a:rPr lang="en-US" sz="1520" b="true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MONITOR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748310" y="6660509"/>
            <a:ext cx="512664" cy="495300"/>
            <a:chOff x="0" y="0"/>
            <a:chExt cx="683552" cy="6604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83557" cy="660400"/>
            </a:xfrm>
            <a:custGeom>
              <a:avLst/>
              <a:gdLst/>
              <a:ahLst/>
              <a:cxnLst/>
              <a:rect r="r" b="b" t="t" l="l"/>
              <a:pathLst>
                <a:path h="660400" w="683557">
                  <a:moveTo>
                    <a:pt x="0" y="0"/>
                  </a:moveTo>
                  <a:lnTo>
                    <a:pt x="683557" y="0"/>
                  </a:lnTo>
                  <a:lnTo>
                    <a:pt x="683557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3957" t="0" r="-73956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683552" cy="669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>
                  <a:solidFill>
                    <a:srgbClr val="C66A4A"/>
                  </a:solidFill>
                  <a:latin typeface="Arimo"/>
                  <a:ea typeface="Arimo"/>
                  <a:cs typeface="Arimo"/>
                  <a:sym typeface="Arimo"/>
                </a:rPr>
                <a:t>→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8738187" y="6504651"/>
            <a:ext cx="971512" cy="864660"/>
            <a:chOff x="0" y="0"/>
            <a:chExt cx="1295349" cy="115288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95400" cy="1152906"/>
            </a:xfrm>
            <a:custGeom>
              <a:avLst/>
              <a:gdLst/>
              <a:ahLst/>
              <a:cxnLst/>
              <a:rect r="r" b="b" t="t" l="l"/>
              <a:pathLst>
                <a:path h="1152906" w="1295400">
                  <a:moveTo>
                    <a:pt x="0" y="576453"/>
                  </a:moveTo>
                  <a:cubicBezTo>
                    <a:pt x="0" y="258064"/>
                    <a:pt x="289941" y="0"/>
                    <a:pt x="647700" y="0"/>
                  </a:cubicBezTo>
                  <a:cubicBezTo>
                    <a:pt x="1005459" y="0"/>
                    <a:pt x="1295400" y="258064"/>
                    <a:pt x="1295400" y="576453"/>
                  </a:cubicBezTo>
                  <a:cubicBezTo>
                    <a:pt x="1295400" y="894842"/>
                    <a:pt x="1005332" y="1152906"/>
                    <a:pt x="647700" y="1152906"/>
                  </a:cubicBezTo>
                  <a:cubicBezTo>
                    <a:pt x="290068" y="1152906"/>
                    <a:pt x="0" y="894842"/>
                    <a:pt x="0" y="576453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64189" t="0" r="-64185" b="2"/>
              </a:stretch>
            </a:blipFill>
            <a:ln w="28576" cap="sq">
              <a:solidFill>
                <a:srgbClr val="4B7C7A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7298084" y="6781352"/>
            <a:ext cx="1026538" cy="266700"/>
            <a:chOff x="0" y="0"/>
            <a:chExt cx="1368717" cy="3556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368723" cy="355600"/>
            </a:xfrm>
            <a:custGeom>
              <a:avLst/>
              <a:gdLst/>
              <a:ahLst/>
              <a:cxnLst/>
              <a:rect r="r" b="b" t="t" l="l"/>
              <a:pathLst>
                <a:path h="355600" w="1368723">
                  <a:moveTo>
                    <a:pt x="0" y="0"/>
                  </a:moveTo>
                  <a:lnTo>
                    <a:pt x="1368723" y="0"/>
                  </a:lnTo>
                  <a:lnTo>
                    <a:pt x="1368723" y="355600"/>
                  </a:lnTo>
                  <a:lnTo>
                    <a:pt x="0" y="355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4998" r="0" b="-24998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368717" cy="374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24"/>
                </a:lnSpc>
              </a:pPr>
              <a:r>
                <a:rPr lang="en-US" sz="1520" b="true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DETECT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243287" y="6660509"/>
            <a:ext cx="512664" cy="495300"/>
            <a:chOff x="0" y="0"/>
            <a:chExt cx="683552" cy="660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83557" cy="660400"/>
            </a:xfrm>
            <a:custGeom>
              <a:avLst/>
              <a:gdLst/>
              <a:ahLst/>
              <a:cxnLst/>
              <a:rect r="r" b="b" t="t" l="l"/>
              <a:pathLst>
                <a:path h="660400" w="683557">
                  <a:moveTo>
                    <a:pt x="0" y="0"/>
                  </a:moveTo>
                  <a:lnTo>
                    <a:pt x="683557" y="0"/>
                  </a:lnTo>
                  <a:lnTo>
                    <a:pt x="683557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3957" t="0" r="-73956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683552" cy="669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>
                  <a:solidFill>
                    <a:srgbClr val="C66A4A"/>
                  </a:solidFill>
                  <a:latin typeface="Arimo"/>
                  <a:ea typeface="Arimo"/>
                  <a:cs typeface="Arimo"/>
                  <a:sym typeface="Arimo"/>
                </a:rPr>
                <a:t>→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850811" y="6781352"/>
            <a:ext cx="876595" cy="266700"/>
            <a:chOff x="0" y="0"/>
            <a:chExt cx="1168794" cy="3556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168797" cy="355600"/>
            </a:xfrm>
            <a:custGeom>
              <a:avLst/>
              <a:gdLst/>
              <a:ahLst/>
              <a:cxnLst/>
              <a:rect r="r" b="b" t="t" l="l"/>
              <a:pathLst>
                <a:path h="355600" w="1168797">
                  <a:moveTo>
                    <a:pt x="0" y="0"/>
                  </a:moveTo>
                  <a:lnTo>
                    <a:pt x="1168797" y="0"/>
                  </a:lnTo>
                  <a:lnTo>
                    <a:pt x="1168797" y="355600"/>
                  </a:lnTo>
                  <a:lnTo>
                    <a:pt x="0" y="355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4043" r="0" b="-14043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19050"/>
              <a:ext cx="1168794" cy="374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24"/>
                </a:lnSpc>
              </a:pPr>
              <a:r>
                <a:rPr lang="en-US" sz="1520" b="true">
                  <a:solidFill>
                    <a:srgbClr val="C66A4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ALERT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738274" y="6660509"/>
            <a:ext cx="512664" cy="495300"/>
            <a:chOff x="0" y="0"/>
            <a:chExt cx="683552" cy="6604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83557" cy="660400"/>
            </a:xfrm>
            <a:custGeom>
              <a:avLst/>
              <a:gdLst/>
              <a:ahLst/>
              <a:cxnLst/>
              <a:rect r="r" b="b" t="t" l="l"/>
              <a:pathLst>
                <a:path h="660400" w="683557">
                  <a:moveTo>
                    <a:pt x="0" y="0"/>
                  </a:moveTo>
                  <a:lnTo>
                    <a:pt x="683557" y="0"/>
                  </a:lnTo>
                  <a:lnTo>
                    <a:pt x="683557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3957" t="0" r="-73956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683552" cy="669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>
                  <a:solidFill>
                    <a:srgbClr val="C66A4A"/>
                  </a:solidFill>
                  <a:latin typeface="Arimo"/>
                  <a:ea typeface="Arimo"/>
                  <a:cs typeface="Arimo"/>
                  <a:sym typeface="Arimo"/>
                </a:rPr>
                <a:t>→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0183263" y="6781352"/>
            <a:ext cx="1299343" cy="266700"/>
            <a:chOff x="0" y="0"/>
            <a:chExt cx="1732458" cy="3556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732459" cy="355600"/>
            </a:xfrm>
            <a:custGeom>
              <a:avLst/>
              <a:gdLst/>
              <a:ahLst/>
              <a:cxnLst/>
              <a:rect r="r" b="b" t="t" l="l"/>
              <a:pathLst>
                <a:path h="355600" w="1732459">
                  <a:moveTo>
                    <a:pt x="0" y="0"/>
                  </a:moveTo>
                  <a:lnTo>
                    <a:pt x="1732459" y="0"/>
                  </a:lnTo>
                  <a:lnTo>
                    <a:pt x="1732459" y="355600"/>
                  </a:lnTo>
                  <a:lnTo>
                    <a:pt x="0" y="355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929" r="0" b="-44929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19050"/>
              <a:ext cx="1732458" cy="374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24"/>
                </a:lnSpc>
              </a:pPr>
              <a:r>
                <a:rPr lang="en-US" sz="1520" b="true">
                  <a:solidFill>
                    <a:srgbClr val="4B7C7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RESPOND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1233252" y="6660509"/>
            <a:ext cx="512664" cy="495300"/>
            <a:chOff x="0" y="0"/>
            <a:chExt cx="683552" cy="6604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83557" cy="660400"/>
            </a:xfrm>
            <a:custGeom>
              <a:avLst/>
              <a:gdLst/>
              <a:ahLst/>
              <a:cxnLst/>
              <a:rect r="r" b="b" t="t" l="l"/>
              <a:pathLst>
                <a:path h="660400" w="683557">
                  <a:moveTo>
                    <a:pt x="0" y="0"/>
                  </a:moveTo>
                  <a:lnTo>
                    <a:pt x="683557" y="0"/>
                  </a:lnTo>
                  <a:lnTo>
                    <a:pt x="683557" y="660400"/>
                  </a:lnTo>
                  <a:lnTo>
                    <a:pt x="0" y="660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3957" t="0" r="-73956" b="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9525"/>
              <a:ext cx="683552" cy="669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>
                  <a:solidFill>
                    <a:srgbClr val="C66A4A"/>
                  </a:solidFill>
                  <a:latin typeface="Arimo"/>
                  <a:ea typeface="Arimo"/>
                  <a:cs typeface="Arimo"/>
                  <a:sym typeface="Arimo"/>
                </a:rPr>
                <a:t>→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1778558" y="6580289"/>
            <a:ext cx="1028862" cy="6118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8"/>
              </a:lnSpc>
            </a:pPr>
            <a:r>
              <a:rPr lang="en-US" sz="1520" b="true">
                <a:solidFill>
                  <a:srgbClr val="698D77"/>
                </a:solidFill>
                <a:latin typeface="Arimo Bold"/>
                <a:ea typeface="Arimo Bold"/>
                <a:cs typeface="Arimo Bold"/>
                <a:sym typeface="Arimo Bold"/>
              </a:rPr>
              <a:t>SAFER</a:t>
            </a:r>
          </a:p>
          <a:p>
            <a:pPr algn="l">
              <a:lnSpc>
                <a:spcPts val="2268"/>
              </a:lnSpc>
            </a:pPr>
            <a:r>
              <a:rPr lang="en-US" sz="1520" b="true">
                <a:solidFill>
                  <a:srgbClr val="698D77"/>
                </a:solidFill>
                <a:latin typeface="Arimo Bold"/>
                <a:ea typeface="Arimo Bold"/>
                <a:cs typeface="Arimo Bold"/>
                <a:sym typeface="Arimo Bold"/>
              </a:rPr>
              <a:t>TRAVEL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-674989" y="7954270"/>
            <a:ext cx="19637826" cy="1161455"/>
            <a:chOff x="0" y="0"/>
            <a:chExt cx="26183768" cy="154860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6183769" cy="1548608"/>
            </a:xfrm>
            <a:custGeom>
              <a:avLst/>
              <a:gdLst/>
              <a:ahLst/>
              <a:cxnLst/>
              <a:rect r="r" b="b" t="t" l="l"/>
              <a:pathLst>
                <a:path h="1548608" w="26183769">
                  <a:moveTo>
                    <a:pt x="0" y="0"/>
                  </a:moveTo>
                  <a:lnTo>
                    <a:pt x="26183769" y="0"/>
                  </a:lnTo>
                  <a:lnTo>
                    <a:pt x="26183769" y="1548608"/>
                  </a:lnTo>
                  <a:lnTo>
                    <a:pt x="0" y="15486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13460" r="0" b="-24544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26183768" cy="15486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i="true">
                  <a:solidFill>
                    <a:srgbClr val="A6533B"/>
                  </a:solidFill>
                  <a:latin typeface="Inter Italics"/>
                  <a:ea typeface="Inter Italics"/>
                  <a:cs typeface="Inter Italics"/>
                  <a:sym typeface="Inter Italics"/>
                </a:rPr>
                <a:t>“Safar Shield aims to transform tourist safety from a reactive service into a proactive safety ecosystem.”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7195576" y="6515843"/>
            <a:ext cx="971512" cy="864660"/>
            <a:chOff x="0" y="0"/>
            <a:chExt cx="1295349" cy="1152881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295400" cy="1152906"/>
            </a:xfrm>
            <a:custGeom>
              <a:avLst/>
              <a:gdLst/>
              <a:ahLst/>
              <a:cxnLst/>
              <a:rect r="r" b="b" t="t" l="l"/>
              <a:pathLst>
                <a:path h="1152906" w="1295400">
                  <a:moveTo>
                    <a:pt x="0" y="576453"/>
                  </a:moveTo>
                  <a:cubicBezTo>
                    <a:pt x="0" y="258064"/>
                    <a:pt x="289941" y="0"/>
                    <a:pt x="647700" y="0"/>
                  </a:cubicBezTo>
                  <a:cubicBezTo>
                    <a:pt x="1005459" y="0"/>
                    <a:pt x="1295400" y="258064"/>
                    <a:pt x="1295400" y="576453"/>
                  </a:cubicBezTo>
                  <a:cubicBezTo>
                    <a:pt x="1295400" y="894842"/>
                    <a:pt x="1005332" y="1152906"/>
                    <a:pt x="647700" y="1152906"/>
                  </a:cubicBezTo>
                  <a:cubicBezTo>
                    <a:pt x="290068" y="1152906"/>
                    <a:pt x="0" y="894842"/>
                    <a:pt x="0" y="576453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64189" t="0" r="-64185" b="2"/>
              </a:stretch>
            </a:blipFill>
            <a:ln w="28576" cap="sq">
              <a:solidFill>
                <a:srgbClr val="4B7C7A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0183263" y="6504651"/>
            <a:ext cx="971512" cy="864660"/>
            <a:chOff x="0" y="0"/>
            <a:chExt cx="1295349" cy="1152881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295400" cy="1152906"/>
            </a:xfrm>
            <a:custGeom>
              <a:avLst/>
              <a:gdLst/>
              <a:ahLst/>
              <a:cxnLst/>
              <a:rect r="r" b="b" t="t" l="l"/>
              <a:pathLst>
                <a:path h="1152906" w="1295400">
                  <a:moveTo>
                    <a:pt x="0" y="576453"/>
                  </a:moveTo>
                  <a:cubicBezTo>
                    <a:pt x="0" y="258064"/>
                    <a:pt x="289941" y="0"/>
                    <a:pt x="647700" y="0"/>
                  </a:cubicBezTo>
                  <a:cubicBezTo>
                    <a:pt x="1005459" y="0"/>
                    <a:pt x="1295400" y="258064"/>
                    <a:pt x="1295400" y="576453"/>
                  </a:cubicBezTo>
                  <a:cubicBezTo>
                    <a:pt x="1295400" y="894842"/>
                    <a:pt x="1005332" y="1152906"/>
                    <a:pt x="647700" y="1152906"/>
                  </a:cubicBezTo>
                  <a:cubicBezTo>
                    <a:pt x="290068" y="1152906"/>
                    <a:pt x="0" y="894842"/>
                    <a:pt x="0" y="576453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64189" t="0" r="-64185" b="2"/>
              </a:stretch>
            </a:blipFill>
            <a:ln w="28576" cap="sq">
              <a:solidFill>
                <a:srgbClr val="4B7C7A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624977" y="6515843"/>
            <a:ext cx="971512" cy="864660"/>
            <a:chOff x="0" y="0"/>
            <a:chExt cx="1295349" cy="1152881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1295400" cy="1152906"/>
            </a:xfrm>
            <a:custGeom>
              <a:avLst/>
              <a:gdLst/>
              <a:ahLst/>
              <a:cxnLst/>
              <a:rect r="r" b="b" t="t" l="l"/>
              <a:pathLst>
                <a:path h="1152906" w="1295400">
                  <a:moveTo>
                    <a:pt x="0" y="576453"/>
                  </a:moveTo>
                  <a:cubicBezTo>
                    <a:pt x="0" y="258064"/>
                    <a:pt x="289941" y="0"/>
                    <a:pt x="647700" y="0"/>
                  </a:cubicBezTo>
                  <a:cubicBezTo>
                    <a:pt x="1005459" y="0"/>
                    <a:pt x="1295400" y="258064"/>
                    <a:pt x="1295400" y="576453"/>
                  </a:cubicBezTo>
                  <a:cubicBezTo>
                    <a:pt x="1295400" y="894842"/>
                    <a:pt x="1005332" y="1152906"/>
                    <a:pt x="647700" y="1152906"/>
                  </a:cubicBezTo>
                  <a:cubicBezTo>
                    <a:pt x="290068" y="1152906"/>
                    <a:pt x="0" y="894842"/>
                    <a:pt x="0" y="576453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64189" t="0" r="-64185" b="2"/>
              </a:stretch>
            </a:blipFill>
            <a:ln w="28576" cap="sq">
              <a:solidFill>
                <a:srgbClr val="4B7C7A"/>
              </a:solidFill>
              <a:prstDash val="solid"/>
              <a:miter/>
            </a:ln>
          </p:spPr>
        </p:sp>
      </p:grpSp>
      <p:sp>
        <p:nvSpPr>
          <p:cNvPr name="TextBox 69" id="69"/>
          <p:cNvSpPr txBox="true"/>
          <p:nvPr/>
        </p:nvSpPr>
        <p:spPr>
          <a:xfrm rot="0">
            <a:off x="8893178" y="3667701"/>
            <a:ext cx="7612094" cy="7124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9"/>
              </a:lnSpc>
            </a:pPr>
            <a:r>
              <a:rPr lang="en-US" sz="2199">
                <a:solidFill>
                  <a:srgbClr val="24313A"/>
                </a:solidFill>
                <a:latin typeface="Arimo"/>
                <a:ea typeface="Arimo"/>
                <a:cs typeface="Arimo"/>
                <a:sym typeface="Arimo"/>
              </a:rPr>
              <a:t>Safar Shield can help travellers feel more</a:t>
            </a:r>
          </a:p>
          <a:p>
            <a:pPr algn="l">
              <a:lnSpc>
                <a:spcPts val="2609"/>
              </a:lnSpc>
            </a:pPr>
            <a:r>
              <a:rPr lang="en-US" sz="2199">
                <a:solidFill>
                  <a:srgbClr val="24313A"/>
                </a:solidFill>
                <a:latin typeface="Arimo"/>
                <a:ea typeface="Arimo"/>
                <a:cs typeface="Arimo"/>
                <a:sym typeface="Arimo"/>
              </a:rPr>
              <a:t>confident while exploring unfamiliar locations.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893178" y="4693515"/>
            <a:ext cx="7735338" cy="592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00">
                <a:solidFill>
                  <a:srgbClr val="52636A"/>
                </a:solidFill>
                <a:latin typeface="Arimo"/>
                <a:ea typeface="Arimo"/>
                <a:cs typeface="Arimo"/>
                <a:sym typeface="Arimo"/>
              </a:rPr>
              <a:t>It does not guarantee safety or prevent crimes. It supports informed</a:t>
            </a:r>
          </a:p>
          <a:p>
            <a:pPr algn="l">
              <a:lnSpc>
                <a:spcPts val="2340"/>
              </a:lnSpc>
            </a:pPr>
            <a:r>
              <a:rPr lang="en-US" sz="1800">
                <a:solidFill>
                  <a:srgbClr val="52636A"/>
                </a:solidFill>
                <a:latin typeface="Arimo"/>
                <a:ea typeface="Arimo"/>
                <a:cs typeface="Arimo"/>
                <a:sym typeface="Arimo"/>
              </a:rPr>
              <a:t>travel and emergency response through connected tools.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73091" y="614362"/>
            <a:ext cx="17141828" cy="9058275"/>
            <a:chOff x="0" y="0"/>
            <a:chExt cx="22855771" cy="12077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855682" cy="12077700"/>
            </a:xfrm>
            <a:custGeom>
              <a:avLst/>
              <a:gdLst/>
              <a:ahLst/>
              <a:cxnLst/>
              <a:rect r="r" b="b" t="t" l="l"/>
              <a:pathLst>
                <a:path h="12077700" w="22855682">
                  <a:moveTo>
                    <a:pt x="0" y="2076577"/>
                  </a:moveTo>
                  <a:cubicBezTo>
                    <a:pt x="0" y="929767"/>
                    <a:pt x="929767" y="0"/>
                    <a:pt x="2076577" y="0"/>
                  </a:cubicBezTo>
                  <a:lnTo>
                    <a:pt x="20779105" y="0"/>
                  </a:lnTo>
                  <a:cubicBezTo>
                    <a:pt x="21926043" y="0"/>
                    <a:pt x="22855682" y="929767"/>
                    <a:pt x="22855682" y="2076577"/>
                  </a:cubicBezTo>
                  <a:lnTo>
                    <a:pt x="22855682" y="10001123"/>
                  </a:lnTo>
                  <a:cubicBezTo>
                    <a:pt x="22855682" y="11148060"/>
                    <a:pt x="21925916" y="12077700"/>
                    <a:pt x="20779105" y="12077700"/>
                  </a:cubicBezTo>
                  <a:lnTo>
                    <a:pt x="2076577" y="12077700"/>
                  </a:lnTo>
                  <a:cubicBezTo>
                    <a:pt x="929767" y="12077700"/>
                    <a:pt x="0" y="11147933"/>
                    <a:pt x="0" y="10001123"/>
                  </a:cubicBezTo>
                  <a:close/>
                </a:path>
              </a:pathLst>
            </a:custGeom>
            <a:solidFill>
              <a:srgbClr val="E0E8E4">
                <a:alpha val="49020"/>
              </a:srgbClr>
            </a:solidFill>
            <a:ln w="9526" cap="sq">
              <a:solidFill>
                <a:srgbClr val="B8C7C3"/>
              </a:solidFill>
              <a:prstDash val="solid"/>
              <a:miter/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5476293" y="4265890"/>
            <a:ext cx="11240767" cy="17552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60"/>
              </a:lnSpc>
            </a:pPr>
            <a:r>
              <a:rPr lang="en-US" b="true" sz="10800" spc="-716">
                <a:solidFill>
                  <a:srgbClr val="4B7C7A"/>
                </a:solidFill>
                <a:latin typeface="Inter Bold"/>
                <a:ea typeface="Inter Bold"/>
                <a:cs typeface="Inter Bold"/>
                <a:sym typeface="Inter Bold"/>
              </a:rPr>
              <a:t>THANKYOU!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DAHU3Duq9S4</dc:identifier>
  <dcterms:modified xsi:type="dcterms:W3CDTF">2011-08-01T06:04:30Z</dcterms:modified>
  <cp:revision>1</cp:revision>
  <dc:title>Safar-Shield.pptx</dc:title>
</cp:coreProperties>
</file>