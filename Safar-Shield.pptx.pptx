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</p:sldIdLst>
  <p:sldSz cx="18288000" cy="10287000"/>
  <p:notesSz cx="6858000" cy="9144000"/>
  <p:embeddedFontLst>
    <p:embeddedFont>
      <p:font typeface="Arimo Bold" panose="020B0704020202020204"/>
      <p:bold r:id="rId12"/>
    </p:embeddedFont>
    <p:embeddedFont>
      <p:font typeface="Inter Bold" panose="02000503000000020004"/>
      <p:bold r:id="rId13"/>
    </p:embeddedFont>
    <p:embeddedFont>
      <p:font typeface="Arimo" panose="020B0604020202020204"/>
      <p:regular r:id="rId14"/>
    </p:embeddedFont>
    <p:embeddedFont>
      <p:font typeface="Arimo Italics" panose="020B0604020202090204"/>
      <p:italic r:id="rId15"/>
    </p:embeddedFont>
    <p:embeddedFont>
      <p:font typeface="Canva Sans" panose="020B0503030501040103"/>
      <p:regular r:id="rId16"/>
    </p:embeddedFont>
    <p:embeddedFont>
      <p:font typeface="Inter Italics" panose="02000503000000020004"/>
      <p:italic r:id="rId17"/>
    </p:embeddedFont>
    <p:embeddedFont>
      <p:font typeface="Calibri" panose="020F0502020204030204" charset="0"/>
      <p:regular r:id="rId18"/>
      <p:bold r:id="rId19"/>
      <p:italic r:id="rId20"/>
      <p:boldItalic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howGuides="1"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font" Target="fonts/font10.fntdata"/><Relationship Id="rId20" Type="http://schemas.openxmlformats.org/officeDocument/2006/relationships/font" Target="fonts/font9.fntdata"/><Relationship Id="rId2" Type="http://schemas.openxmlformats.org/officeDocument/2006/relationships/theme" Target="theme/theme1.xml"/><Relationship Id="rId19" Type="http://schemas.openxmlformats.org/officeDocument/2006/relationships/font" Target="fonts/font8.fntdata"/><Relationship Id="rId18" Type="http://schemas.openxmlformats.org/officeDocument/2006/relationships/font" Target="fonts/font7.fntdata"/><Relationship Id="rId17" Type="http://schemas.openxmlformats.org/officeDocument/2006/relationships/font" Target="fonts/font6.fntdata"/><Relationship Id="rId16" Type="http://schemas.openxmlformats.org/officeDocument/2006/relationships/font" Target="fonts/font5.fntdata"/><Relationship Id="rId15" Type="http://schemas.openxmlformats.org/officeDocument/2006/relationships/font" Target="fonts/font4.fntdata"/><Relationship Id="rId14" Type="http://schemas.openxmlformats.org/officeDocument/2006/relationships/font" Target="fonts/font3.fntdata"/><Relationship Id="rId13" Type="http://schemas.openxmlformats.org/officeDocument/2006/relationships/font" Target="fonts/font2.fntdata"/><Relationship Id="rId12" Type="http://schemas.openxmlformats.org/officeDocument/2006/relationships/font" Target="fonts/font1.fntdata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.xml"/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jpeg"/><Relationship Id="rId1" Type="http://schemas.openxmlformats.org/officeDocument/2006/relationships/image" Target="../media/image8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.png"/><Relationship Id="rId8" Type="http://schemas.openxmlformats.org/officeDocument/2006/relationships/image" Target="../media/image14.png"/><Relationship Id="rId7" Type="http://schemas.openxmlformats.org/officeDocument/2006/relationships/image" Target="../media/image13.png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2.jpeg"/><Relationship Id="rId13" Type="http://schemas.openxmlformats.org/officeDocument/2006/relationships/notesSlide" Target="../notesSlides/notesSlide3.xml"/><Relationship Id="rId12" Type="http://schemas.openxmlformats.org/officeDocument/2006/relationships/slideLayout" Target="../slideLayouts/slideLayout7.xml"/><Relationship Id="rId11" Type="http://schemas.openxmlformats.org/officeDocument/2006/relationships/image" Target="../media/image17.png"/><Relationship Id="rId10" Type="http://schemas.openxmlformats.org/officeDocument/2006/relationships/image" Target="../media/image16.png"/><Relationship Id="rId1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jpeg"/><Relationship Id="rId1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4F1EA"/>
            </a:solidFill>
          </p:spPr>
        </p:sp>
      </p:grpSp>
      <p:grpSp>
        <p:nvGrpSpPr>
          <p:cNvPr id="4" name="Group 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 rot="0">
            <a:off x="13527357" y="-1834534"/>
            <a:ext cx="6229350" cy="6229350"/>
            <a:chOff x="0" y="0"/>
            <a:chExt cx="8305800" cy="8305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305800" cy="8305800"/>
            </a:xfrm>
            <a:custGeom>
              <a:avLst/>
              <a:gdLst/>
              <a:ahLst/>
              <a:cxnLst/>
              <a:rect l="l" t="t" r="r" b="b"/>
              <a:pathLst>
                <a:path w="8305800" h="8305800">
                  <a:moveTo>
                    <a:pt x="0" y="4152900"/>
                  </a:moveTo>
                  <a:cubicBezTo>
                    <a:pt x="0" y="1859280"/>
                    <a:pt x="1859280" y="0"/>
                    <a:pt x="4152900" y="0"/>
                  </a:cubicBezTo>
                  <a:cubicBezTo>
                    <a:pt x="6446520" y="0"/>
                    <a:pt x="8305800" y="1859280"/>
                    <a:pt x="8305800" y="4152900"/>
                  </a:cubicBezTo>
                  <a:cubicBezTo>
                    <a:pt x="8305800" y="6446520"/>
                    <a:pt x="6446520" y="8305800"/>
                    <a:pt x="4152900" y="8305800"/>
                  </a:cubicBezTo>
                  <a:cubicBezTo>
                    <a:pt x="1859280" y="8305800"/>
                    <a:pt x="0" y="6446520"/>
                    <a:pt x="0" y="4152900"/>
                  </a:cubicBez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r="-78303"/>
              </a:stretch>
            </a:blipFill>
            <a:ln w="9526" cap="sq">
              <a:solidFill>
                <a:srgbClr val="4E8076"/>
              </a:solidFill>
              <a:prstDash val="solid"/>
              <a:miter/>
            </a:ln>
          </p:spPr>
        </p:sp>
      </p:grpSp>
      <p:grpSp>
        <p:nvGrpSpPr>
          <p:cNvPr id="8" name="Group 8"/>
          <p:cNvGrpSpPr/>
          <p:nvPr/>
        </p:nvGrpSpPr>
        <p:grpSpPr>
          <a:xfrm rot="0">
            <a:off x="4992661" y="-207416"/>
            <a:ext cx="8598391" cy="2008336"/>
            <a:chOff x="0" y="0"/>
            <a:chExt cx="11464522" cy="267778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464527" cy="2677782"/>
            </a:xfrm>
            <a:custGeom>
              <a:avLst/>
              <a:gdLst/>
              <a:ahLst/>
              <a:cxnLst/>
              <a:rect l="l" t="t" r="r" b="b"/>
              <a:pathLst>
                <a:path w="11464527" h="2677782">
                  <a:moveTo>
                    <a:pt x="0" y="0"/>
                  </a:moveTo>
                  <a:lnTo>
                    <a:pt x="11464527" y="0"/>
                  </a:lnTo>
                  <a:lnTo>
                    <a:pt x="11464527" y="2677782"/>
                  </a:lnTo>
                  <a:lnTo>
                    <a:pt x="0" y="267778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3762" r="51568" b="52957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9525"/>
              <a:ext cx="11464522" cy="268730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800"/>
                </a:lnSpc>
              </a:pPr>
              <a:r>
                <a:rPr lang="en-US" sz="4000" b="1" spc="271">
                  <a:solidFill>
                    <a:srgbClr val="4B7C7A"/>
                  </a:solidFill>
                  <a:latin typeface="Arimo Bold" panose="020B0704020202020204"/>
                  <a:ea typeface="Arimo Bold" panose="020B0704020202020204"/>
                  <a:cs typeface="Arimo Bold" panose="020B0704020202020204"/>
                  <a:sym typeface="Arimo Bold" panose="020B0704020202020204"/>
                </a:rPr>
                <a:t>CSE-AI MINI PROJECT · 2026</a:t>
              </a:r>
              <a:endParaRPr lang="en-US" sz="4000" b="1" spc="271">
                <a:solidFill>
                  <a:srgbClr val="4B7C7A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 rot="0">
            <a:off x="4814345" y="3185903"/>
            <a:ext cx="5069043" cy="1302382"/>
            <a:chOff x="0" y="0"/>
            <a:chExt cx="6758724" cy="173650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758722" cy="1736515"/>
            </a:xfrm>
            <a:custGeom>
              <a:avLst/>
              <a:gdLst/>
              <a:ahLst/>
              <a:cxnLst/>
              <a:rect l="l" t="t" r="r" b="b"/>
              <a:pathLst>
                <a:path w="6758722" h="1736515">
                  <a:moveTo>
                    <a:pt x="0" y="0"/>
                  </a:moveTo>
                  <a:lnTo>
                    <a:pt x="6758722" y="0"/>
                  </a:lnTo>
                  <a:lnTo>
                    <a:pt x="6758722" y="1736515"/>
                  </a:lnTo>
                  <a:lnTo>
                    <a:pt x="0" y="173651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5838" b="-25837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0"/>
              <a:ext cx="6758724" cy="173650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2960"/>
                </a:lnSpc>
              </a:pPr>
              <a:r>
                <a:rPr lang="en-US" sz="10800" b="1" spc="-716">
                  <a:solidFill>
                    <a:srgbClr val="24313A"/>
                  </a:solidFill>
                  <a:latin typeface="Inter Bold" panose="02000503000000020004"/>
                  <a:ea typeface="Inter Bold" panose="02000503000000020004"/>
                  <a:cs typeface="Inter Bold" panose="02000503000000020004"/>
                  <a:sym typeface="Inter Bold" panose="02000503000000020004"/>
                </a:rPr>
                <a:t>SAFAR</a:t>
              </a:r>
              <a:endParaRPr lang="en-US" sz="10800" b="1" spc="-716">
                <a:solidFill>
                  <a:srgbClr val="24313A"/>
                </a:solidFill>
                <a:latin typeface="Inter Bold" panose="02000503000000020004"/>
                <a:ea typeface="Inter Bold" panose="02000503000000020004"/>
                <a:cs typeface="Inter Bold" panose="02000503000000020004"/>
                <a:sym typeface="Inter Bold" panose="02000503000000020004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 rot="0">
            <a:off x="4714694" y="4170616"/>
            <a:ext cx="5379025" cy="1477327"/>
            <a:chOff x="0" y="0"/>
            <a:chExt cx="7172033" cy="196977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7172034" cy="1969771"/>
            </a:xfrm>
            <a:custGeom>
              <a:avLst/>
              <a:gdLst/>
              <a:ahLst/>
              <a:cxnLst/>
              <a:rect l="l" t="t" r="r" b="b"/>
              <a:pathLst>
                <a:path w="7172034" h="1969771">
                  <a:moveTo>
                    <a:pt x="0" y="0"/>
                  </a:moveTo>
                  <a:lnTo>
                    <a:pt x="7172034" y="0"/>
                  </a:lnTo>
                  <a:lnTo>
                    <a:pt x="7172034" y="1969771"/>
                  </a:lnTo>
                  <a:lnTo>
                    <a:pt x="0" y="196977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0946" b="-20945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0"/>
              <a:ext cx="7172033" cy="19697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2960"/>
                </a:lnSpc>
              </a:pPr>
              <a:r>
                <a:rPr lang="en-US" sz="10800" b="1" spc="-716">
                  <a:solidFill>
                    <a:srgbClr val="4B7C7A"/>
                  </a:solidFill>
                  <a:latin typeface="Inter Bold" panose="02000503000000020004"/>
                  <a:ea typeface="Inter Bold" panose="02000503000000020004"/>
                  <a:cs typeface="Inter Bold" panose="02000503000000020004"/>
                  <a:sym typeface="Inter Bold" panose="02000503000000020004"/>
                </a:rPr>
                <a:t>SHIELD</a:t>
              </a:r>
              <a:endParaRPr lang="en-US" sz="10800" b="1" spc="-716">
                <a:solidFill>
                  <a:srgbClr val="4B7C7A"/>
                </a:solidFill>
                <a:latin typeface="Inter Bold" panose="02000503000000020004"/>
                <a:ea typeface="Inter Bold" panose="02000503000000020004"/>
                <a:cs typeface="Inter Bold" panose="02000503000000020004"/>
                <a:sym typeface="Inter Bold" panose="02000503000000020004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 rot="0">
            <a:off x="1894389" y="5888907"/>
            <a:ext cx="14538950" cy="514350"/>
            <a:chOff x="0" y="0"/>
            <a:chExt cx="19385267" cy="685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9385262" cy="685800"/>
            </a:xfrm>
            <a:custGeom>
              <a:avLst/>
              <a:gdLst/>
              <a:ahLst/>
              <a:cxnLst/>
              <a:rect l="l" t="t" r="r" b="b"/>
              <a:pathLst>
                <a:path w="19385262" h="685800">
                  <a:moveTo>
                    <a:pt x="0" y="0"/>
                  </a:moveTo>
                  <a:lnTo>
                    <a:pt x="19385262" y="0"/>
                  </a:lnTo>
                  <a:lnTo>
                    <a:pt x="19385262" y="685800"/>
                  </a:lnTo>
                  <a:lnTo>
                    <a:pt x="0" y="685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00776" b="-500776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19050"/>
              <a:ext cx="19385267" cy="7048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550"/>
                </a:lnSpc>
              </a:pPr>
              <a:r>
                <a:rPr lang="en-US" sz="2960">
                  <a:solidFill>
                    <a:srgbClr val="394B54"/>
                  </a:solidFill>
                  <a:latin typeface="Arimo" panose="020B0604020202020204"/>
                  <a:ea typeface="Arimo" panose="020B0604020202020204"/>
                  <a:cs typeface="Arimo" panose="020B0604020202020204"/>
                  <a:sym typeface="Arimo" panose="020B0604020202020204"/>
                </a:rPr>
                <a:t>Smart Tourist Safety Monitoring and Incident Response System</a:t>
              </a:r>
              <a:endParaRPr lang="en-US" sz="2960">
                <a:solidFill>
                  <a:srgbClr val="394B54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 rot="0">
            <a:off x="8151095" y="6243714"/>
            <a:ext cx="7686675" cy="7686675"/>
            <a:chOff x="0" y="0"/>
            <a:chExt cx="10248900" cy="102489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0248900" cy="10248900"/>
            </a:xfrm>
            <a:custGeom>
              <a:avLst/>
              <a:gdLst/>
              <a:ahLst/>
              <a:cxnLst/>
              <a:rect l="l" t="t" r="r" b="b"/>
              <a:pathLst>
                <a:path w="10248900" h="10248900">
                  <a:moveTo>
                    <a:pt x="0" y="5124450"/>
                  </a:moveTo>
                  <a:cubicBezTo>
                    <a:pt x="0" y="2294255"/>
                    <a:pt x="2294255" y="0"/>
                    <a:pt x="5124450" y="0"/>
                  </a:cubicBezTo>
                  <a:cubicBezTo>
                    <a:pt x="7954645" y="0"/>
                    <a:pt x="10248900" y="2294255"/>
                    <a:pt x="10248900" y="5124450"/>
                  </a:cubicBezTo>
                  <a:cubicBezTo>
                    <a:pt x="10248900" y="7954645"/>
                    <a:pt x="7954645" y="10248900"/>
                    <a:pt x="5124450" y="10248900"/>
                  </a:cubicBezTo>
                  <a:cubicBezTo>
                    <a:pt x="2294255" y="10248900"/>
                    <a:pt x="0" y="7954645"/>
                    <a:pt x="0" y="5124450"/>
                  </a:cubicBez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r="-78303"/>
              </a:stretch>
            </a:blipFill>
            <a:ln w="9526" cap="sq">
              <a:solidFill>
                <a:srgbClr val="C46C4E"/>
              </a:solidFill>
              <a:prstDash val="solid"/>
              <a:miter/>
            </a:ln>
          </p:spPr>
        </p:sp>
      </p:grpSp>
      <p:grpSp>
        <p:nvGrpSpPr>
          <p:cNvPr id="22" name="Group 22"/>
          <p:cNvGrpSpPr/>
          <p:nvPr/>
        </p:nvGrpSpPr>
        <p:grpSpPr>
          <a:xfrm rot="0">
            <a:off x="5883716" y="6539579"/>
            <a:ext cx="6796202" cy="742950"/>
            <a:chOff x="0" y="0"/>
            <a:chExt cx="9061602" cy="9906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9061608" cy="990601"/>
            </a:xfrm>
            <a:custGeom>
              <a:avLst/>
              <a:gdLst/>
              <a:ahLst/>
              <a:cxnLst/>
              <a:rect l="l" t="t" r="r" b="b"/>
              <a:pathLst>
                <a:path w="9061608" h="990601">
                  <a:moveTo>
                    <a:pt x="0" y="0"/>
                  </a:moveTo>
                  <a:lnTo>
                    <a:pt x="9061608" y="0"/>
                  </a:lnTo>
                  <a:lnTo>
                    <a:pt x="9061608" y="990601"/>
                  </a:lnTo>
                  <a:lnTo>
                    <a:pt x="0" y="99060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53240" b="-103240"/>
              </a:stretch>
            </a:blipFill>
          </p:spPr>
        </p:sp>
        <p:sp>
          <p:nvSpPr>
            <p:cNvPr id="24" name="TextBox 24"/>
            <p:cNvSpPr txBox="1"/>
            <p:nvPr/>
          </p:nvSpPr>
          <p:spPr>
            <a:xfrm>
              <a:off x="0" y="-28575"/>
              <a:ext cx="9061602" cy="10191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 i="1">
                  <a:solidFill>
                    <a:srgbClr val="A6533B"/>
                  </a:solidFill>
                  <a:latin typeface="Arimo Italics" panose="020B0604020202090204"/>
                  <a:ea typeface="Arimo Italics" panose="020B0604020202090204"/>
                  <a:cs typeface="Arimo Italics" panose="020B0604020202090204"/>
                  <a:sym typeface="Arimo Italics" panose="020B0604020202090204"/>
                </a:rPr>
                <a:t>“Travel Freely. Stay Safe.”</a:t>
              </a:r>
              <a:endParaRPr lang="en-US" sz="3600" i="1">
                <a:solidFill>
                  <a:srgbClr val="A6533B"/>
                </a:solidFill>
                <a:latin typeface="Arimo Italics" panose="020B0604020202090204"/>
                <a:ea typeface="Arimo Italics" panose="020B0604020202090204"/>
                <a:cs typeface="Arimo Italics" panose="020B0604020202090204"/>
                <a:sym typeface="Arimo Italics" panose="020B0604020202090204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 rot="0">
            <a:off x="3099206" y="8034538"/>
            <a:ext cx="12089587" cy="1692669"/>
            <a:chOff x="0" y="0"/>
            <a:chExt cx="16119450" cy="2256892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6119475" cy="2256917"/>
            </a:xfrm>
            <a:custGeom>
              <a:avLst/>
              <a:gdLst/>
              <a:ahLst/>
              <a:cxnLst/>
              <a:rect l="l" t="t" r="r" b="b"/>
              <a:pathLst>
                <a:path w="16119475" h="2256917">
                  <a:moveTo>
                    <a:pt x="0" y="333375"/>
                  </a:moveTo>
                  <a:cubicBezTo>
                    <a:pt x="0" y="149225"/>
                    <a:pt x="149225" y="0"/>
                    <a:pt x="333375" y="0"/>
                  </a:cubicBezTo>
                  <a:lnTo>
                    <a:pt x="15786100" y="0"/>
                  </a:lnTo>
                  <a:cubicBezTo>
                    <a:pt x="15970250" y="0"/>
                    <a:pt x="16119475" y="149225"/>
                    <a:pt x="16119475" y="333375"/>
                  </a:cubicBezTo>
                  <a:lnTo>
                    <a:pt x="16119475" y="1923542"/>
                  </a:lnTo>
                  <a:cubicBezTo>
                    <a:pt x="16119475" y="2107692"/>
                    <a:pt x="15970250" y="2256917"/>
                    <a:pt x="15786100" y="2256917"/>
                  </a:cubicBezTo>
                  <a:lnTo>
                    <a:pt x="333375" y="2256917"/>
                  </a:lnTo>
                  <a:cubicBezTo>
                    <a:pt x="149225" y="2256917"/>
                    <a:pt x="0" y="2107692"/>
                    <a:pt x="0" y="1923542"/>
                  </a:cubicBezTo>
                  <a:close/>
                </a:path>
              </a:pathLst>
            </a:custGeom>
            <a:solidFill>
              <a:srgbClr val="EAEEEA">
                <a:alpha val="49020"/>
              </a:srgbClr>
            </a:solidFill>
            <a:ln w="9526" cap="sq">
              <a:solidFill>
                <a:srgbClr val="B8C7C3"/>
              </a:solidFill>
              <a:prstDash val="solid"/>
              <a:miter/>
            </a:ln>
          </p:spPr>
        </p:sp>
      </p:grpSp>
      <p:grpSp>
        <p:nvGrpSpPr>
          <p:cNvPr id="27" name="Group 27"/>
          <p:cNvGrpSpPr/>
          <p:nvPr/>
        </p:nvGrpSpPr>
        <p:grpSpPr>
          <a:xfrm rot="0">
            <a:off x="6313757" y="7358729"/>
            <a:ext cx="5956200" cy="1274283"/>
            <a:chOff x="0" y="0"/>
            <a:chExt cx="7941599" cy="1699044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7941604" cy="1699036"/>
            </a:xfrm>
            <a:custGeom>
              <a:avLst/>
              <a:gdLst/>
              <a:ahLst/>
              <a:cxnLst/>
              <a:rect l="l" t="t" r="r" b="b"/>
              <a:pathLst>
                <a:path w="7941604" h="1699036">
                  <a:moveTo>
                    <a:pt x="0" y="0"/>
                  </a:moveTo>
                  <a:lnTo>
                    <a:pt x="7941604" y="0"/>
                  </a:lnTo>
                  <a:lnTo>
                    <a:pt x="7941604" y="1699036"/>
                  </a:lnTo>
                  <a:lnTo>
                    <a:pt x="0" y="16990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6978" r="49960" b="45829"/>
              </a:stretch>
            </a:blipFill>
          </p:spPr>
        </p:sp>
        <p:sp>
          <p:nvSpPr>
            <p:cNvPr id="29" name="TextBox 29"/>
            <p:cNvSpPr txBox="1"/>
            <p:nvPr/>
          </p:nvSpPr>
          <p:spPr>
            <a:xfrm>
              <a:off x="0" y="-28575"/>
              <a:ext cx="7941599" cy="172761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 b="1" spc="194">
                  <a:solidFill>
                    <a:srgbClr val="4B7C7A"/>
                  </a:solidFill>
                  <a:latin typeface="Arimo Bold" panose="020B0704020202020204"/>
                  <a:ea typeface="Arimo Bold" panose="020B0704020202020204"/>
                  <a:cs typeface="Arimo Bold" panose="020B0704020202020204"/>
                  <a:sym typeface="Arimo Bold" panose="020B0704020202020204"/>
                </a:rPr>
                <a:t>PROPOSED SOLUTION</a:t>
              </a:r>
              <a:endParaRPr lang="en-US" sz="3600" b="1" spc="194">
                <a:solidFill>
                  <a:srgbClr val="4B7C7A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endParaRPr>
            </a:p>
          </p:txBody>
        </p:sp>
      </p:grpSp>
      <p:grpSp>
        <p:nvGrpSpPr>
          <p:cNvPr id="30" name="Group 30"/>
          <p:cNvGrpSpPr/>
          <p:nvPr/>
        </p:nvGrpSpPr>
        <p:grpSpPr>
          <a:xfrm rot="0">
            <a:off x="3467471" y="8959005"/>
            <a:ext cx="383972" cy="383972"/>
            <a:chOff x="0" y="0"/>
            <a:chExt cx="511962" cy="511962"/>
          </a:xfrm>
        </p:grpSpPr>
        <p:sp>
          <p:nvSpPr>
            <p:cNvPr id="31" name="Freeform 31" descr="preencoded.png"/>
            <p:cNvSpPr/>
            <p:nvPr/>
          </p:nvSpPr>
          <p:spPr>
            <a:xfrm>
              <a:off x="0" y="0"/>
              <a:ext cx="511937" cy="511937"/>
            </a:xfrm>
            <a:custGeom>
              <a:avLst/>
              <a:gdLst/>
              <a:ahLst/>
              <a:cxnLst/>
              <a:rect l="l" t="t" r="r" b="b"/>
              <a:pathLst>
                <a:path w="511937" h="511937">
                  <a:moveTo>
                    <a:pt x="0" y="0"/>
                  </a:moveTo>
                  <a:lnTo>
                    <a:pt x="511937" y="0"/>
                  </a:lnTo>
                  <a:lnTo>
                    <a:pt x="511937" y="511937"/>
                  </a:lnTo>
                  <a:lnTo>
                    <a:pt x="0" y="5119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4" b="-4"/>
              </a:stretch>
            </a:blipFill>
          </p:spPr>
        </p:sp>
      </p:grpSp>
      <p:grpSp>
        <p:nvGrpSpPr>
          <p:cNvPr id="32" name="Group 32"/>
          <p:cNvGrpSpPr/>
          <p:nvPr/>
        </p:nvGrpSpPr>
        <p:grpSpPr>
          <a:xfrm rot="0">
            <a:off x="3841252" y="8988114"/>
            <a:ext cx="2436657" cy="289684"/>
            <a:chOff x="0" y="0"/>
            <a:chExt cx="2884284" cy="3429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2884288" cy="342901"/>
            </a:xfrm>
            <a:custGeom>
              <a:avLst/>
              <a:gdLst/>
              <a:ahLst/>
              <a:cxnLst/>
              <a:rect l="l" t="t" r="r" b="b"/>
              <a:pathLst>
                <a:path w="2884288" h="342901">
                  <a:moveTo>
                    <a:pt x="0" y="0"/>
                  </a:moveTo>
                  <a:lnTo>
                    <a:pt x="2884288" y="0"/>
                  </a:lnTo>
                  <a:lnTo>
                    <a:pt x="2884288" y="342901"/>
                  </a:lnTo>
                  <a:lnTo>
                    <a:pt x="0" y="34290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13896" b="-113896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-19050"/>
              <a:ext cx="2884284" cy="3619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52636A"/>
                  </a:solidFill>
                  <a:latin typeface="Arimo" panose="020B0604020202020204"/>
                  <a:ea typeface="Arimo" panose="020B0604020202020204"/>
                  <a:cs typeface="Arimo" panose="020B0604020202020204"/>
                  <a:sym typeface="Arimo" panose="020B0604020202020204"/>
                </a:rPr>
                <a:t>Real-time location</a:t>
              </a:r>
              <a:endParaRPr lang="en-US" sz="2200">
                <a:solidFill>
                  <a:srgbClr val="52636A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endParaRPr>
            </a:p>
          </p:txBody>
        </p:sp>
      </p:grpSp>
      <p:grpSp>
        <p:nvGrpSpPr>
          <p:cNvPr id="35" name="Group 35"/>
          <p:cNvGrpSpPr/>
          <p:nvPr/>
        </p:nvGrpSpPr>
        <p:grpSpPr>
          <a:xfrm rot="0">
            <a:off x="6277908" y="8959005"/>
            <a:ext cx="383972" cy="383972"/>
            <a:chOff x="0" y="0"/>
            <a:chExt cx="511962" cy="511962"/>
          </a:xfrm>
        </p:grpSpPr>
        <p:sp>
          <p:nvSpPr>
            <p:cNvPr id="36" name="Freeform 36" descr="preencoded.png"/>
            <p:cNvSpPr/>
            <p:nvPr/>
          </p:nvSpPr>
          <p:spPr>
            <a:xfrm>
              <a:off x="0" y="0"/>
              <a:ext cx="511937" cy="511937"/>
            </a:xfrm>
            <a:custGeom>
              <a:avLst/>
              <a:gdLst/>
              <a:ahLst/>
              <a:cxnLst/>
              <a:rect l="l" t="t" r="r" b="b"/>
              <a:pathLst>
                <a:path w="511937" h="511937">
                  <a:moveTo>
                    <a:pt x="0" y="0"/>
                  </a:moveTo>
                  <a:lnTo>
                    <a:pt x="511937" y="0"/>
                  </a:lnTo>
                  <a:lnTo>
                    <a:pt x="511937" y="511937"/>
                  </a:lnTo>
                  <a:lnTo>
                    <a:pt x="0" y="5119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4" b="-4"/>
              </a:stretch>
            </a:blipFill>
          </p:spPr>
        </p:sp>
      </p:grpSp>
      <p:grpSp>
        <p:nvGrpSpPr>
          <p:cNvPr id="37" name="Group 37"/>
          <p:cNvGrpSpPr/>
          <p:nvPr/>
        </p:nvGrpSpPr>
        <p:grpSpPr>
          <a:xfrm rot="0">
            <a:off x="6556086" y="9003495"/>
            <a:ext cx="2457593" cy="297548"/>
            <a:chOff x="0" y="0"/>
            <a:chExt cx="2832176" cy="3429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2832179" cy="342901"/>
            </a:xfrm>
            <a:custGeom>
              <a:avLst/>
              <a:gdLst/>
              <a:ahLst/>
              <a:cxnLst/>
              <a:rect l="l" t="t" r="r" b="b"/>
              <a:pathLst>
                <a:path w="2832179" h="342901">
                  <a:moveTo>
                    <a:pt x="0" y="0"/>
                  </a:moveTo>
                  <a:lnTo>
                    <a:pt x="2832179" y="0"/>
                  </a:lnTo>
                  <a:lnTo>
                    <a:pt x="2832179" y="342901"/>
                  </a:lnTo>
                  <a:lnTo>
                    <a:pt x="0" y="34290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10935" b="-110935"/>
              </a:stretch>
            </a:blipFill>
          </p:spPr>
        </p:sp>
        <p:sp>
          <p:nvSpPr>
            <p:cNvPr id="39" name="TextBox 39"/>
            <p:cNvSpPr txBox="1"/>
            <p:nvPr/>
          </p:nvSpPr>
          <p:spPr>
            <a:xfrm>
              <a:off x="0" y="-19050"/>
              <a:ext cx="2832176" cy="3619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52636A"/>
                  </a:solidFill>
                  <a:latin typeface="Arimo" panose="020B0604020202020204"/>
                  <a:ea typeface="Arimo" panose="020B0604020202020204"/>
                  <a:cs typeface="Arimo" panose="020B0604020202020204"/>
                  <a:sym typeface="Arimo" panose="020B0604020202020204"/>
                </a:rPr>
                <a:t>Geofencing alerts</a:t>
              </a:r>
              <a:endParaRPr lang="en-US" sz="2200">
                <a:solidFill>
                  <a:srgbClr val="52636A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endParaRPr>
            </a:p>
          </p:txBody>
        </p:sp>
      </p:grpSp>
      <p:grpSp>
        <p:nvGrpSpPr>
          <p:cNvPr id="40" name="Group 40"/>
          <p:cNvGrpSpPr/>
          <p:nvPr/>
        </p:nvGrpSpPr>
        <p:grpSpPr>
          <a:xfrm rot="0">
            <a:off x="9291857" y="8959005"/>
            <a:ext cx="345129" cy="383972"/>
            <a:chOff x="0" y="0"/>
            <a:chExt cx="460172" cy="511962"/>
          </a:xfrm>
        </p:grpSpPr>
        <p:sp>
          <p:nvSpPr>
            <p:cNvPr id="41" name="Freeform 41" descr="preencoded.png"/>
            <p:cNvSpPr/>
            <p:nvPr/>
          </p:nvSpPr>
          <p:spPr>
            <a:xfrm>
              <a:off x="0" y="0"/>
              <a:ext cx="460121" cy="511937"/>
            </a:xfrm>
            <a:custGeom>
              <a:avLst/>
              <a:gdLst/>
              <a:ahLst/>
              <a:cxnLst/>
              <a:rect l="l" t="t" r="r" b="b"/>
              <a:pathLst>
                <a:path w="460121" h="511937">
                  <a:moveTo>
                    <a:pt x="0" y="0"/>
                  </a:moveTo>
                  <a:lnTo>
                    <a:pt x="460121" y="0"/>
                  </a:lnTo>
                  <a:lnTo>
                    <a:pt x="460121" y="511937"/>
                  </a:lnTo>
                  <a:lnTo>
                    <a:pt x="0" y="5119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63" r="-77" b="-4"/>
              </a:stretch>
            </a:blipFill>
          </p:spPr>
        </p:sp>
      </p:grpSp>
      <p:sp>
        <p:nvSpPr>
          <p:cNvPr id="42" name="TextBox 42"/>
          <p:cNvSpPr txBox="1"/>
          <p:nvPr/>
        </p:nvSpPr>
        <p:spPr>
          <a:xfrm>
            <a:off x="9753795" y="8726110"/>
            <a:ext cx="2045389" cy="865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00"/>
              </a:lnSpc>
            </a:pPr>
            <a:r>
              <a:rPr lang="en-US" sz="2200">
                <a:solidFill>
                  <a:srgbClr val="52636A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SOS and incident</a:t>
            </a:r>
            <a:endParaRPr lang="en-US" sz="2200">
              <a:solidFill>
                <a:srgbClr val="52636A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  <a:p>
            <a:pPr algn="ctr">
              <a:lnSpc>
                <a:spcPts val="2200"/>
              </a:lnSpc>
            </a:pPr>
            <a:r>
              <a:rPr lang="en-US" sz="2200">
                <a:solidFill>
                  <a:srgbClr val="52636A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reporting</a:t>
            </a:r>
            <a:endParaRPr lang="en-US" sz="2200">
              <a:solidFill>
                <a:srgbClr val="52636A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</p:txBody>
      </p:sp>
      <p:grpSp>
        <p:nvGrpSpPr>
          <p:cNvPr id="43" name="Group 43"/>
          <p:cNvGrpSpPr/>
          <p:nvPr/>
        </p:nvGrpSpPr>
        <p:grpSpPr>
          <a:xfrm rot="0">
            <a:off x="11915994" y="8959005"/>
            <a:ext cx="383972" cy="383972"/>
            <a:chOff x="0" y="0"/>
            <a:chExt cx="511962" cy="511962"/>
          </a:xfrm>
        </p:grpSpPr>
        <p:sp>
          <p:nvSpPr>
            <p:cNvPr id="44" name="Freeform 44" descr="preencoded.png"/>
            <p:cNvSpPr/>
            <p:nvPr/>
          </p:nvSpPr>
          <p:spPr>
            <a:xfrm>
              <a:off x="0" y="0"/>
              <a:ext cx="511937" cy="511937"/>
            </a:xfrm>
            <a:custGeom>
              <a:avLst/>
              <a:gdLst/>
              <a:ahLst/>
              <a:cxnLst/>
              <a:rect l="l" t="t" r="r" b="b"/>
              <a:pathLst>
                <a:path w="511937" h="511937">
                  <a:moveTo>
                    <a:pt x="0" y="0"/>
                  </a:moveTo>
                  <a:lnTo>
                    <a:pt x="511937" y="0"/>
                  </a:lnTo>
                  <a:lnTo>
                    <a:pt x="511937" y="511937"/>
                  </a:lnTo>
                  <a:lnTo>
                    <a:pt x="0" y="5119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-4" b="-4"/>
              </a:stretch>
            </a:blipFill>
          </p:spPr>
        </p:sp>
      </p:grpSp>
      <p:grpSp>
        <p:nvGrpSpPr>
          <p:cNvPr id="45" name="Group 45"/>
          <p:cNvGrpSpPr/>
          <p:nvPr/>
        </p:nvGrpSpPr>
        <p:grpSpPr>
          <a:xfrm rot="0">
            <a:off x="12254713" y="9003495"/>
            <a:ext cx="2631477" cy="274303"/>
            <a:chOff x="0" y="0"/>
            <a:chExt cx="3289554" cy="34290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3289557" cy="342901"/>
            </a:xfrm>
            <a:custGeom>
              <a:avLst/>
              <a:gdLst/>
              <a:ahLst/>
              <a:cxnLst/>
              <a:rect l="l" t="t" r="r" b="b"/>
              <a:pathLst>
                <a:path w="3289557" h="342901">
                  <a:moveTo>
                    <a:pt x="0" y="0"/>
                  </a:moveTo>
                  <a:lnTo>
                    <a:pt x="3289557" y="0"/>
                  </a:lnTo>
                  <a:lnTo>
                    <a:pt x="3289557" y="342901"/>
                  </a:lnTo>
                  <a:lnTo>
                    <a:pt x="0" y="34290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6925" b="-136925"/>
              </a:stretch>
            </a:blipFill>
          </p:spPr>
        </p:sp>
        <p:sp>
          <p:nvSpPr>
            <p:cNvPr id="47" name="TextBox 47"/>
            <p:cNvSpPr txBox="1"/>
            <p:nvPr/>
          </p:nvSpPr>
          <p:spPr>
            <a:xfrm>
              <a:off x="0" y="-19050"/>
              <a:ext cx="3289554" cy="3619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52636A"/>
                  </a:solidFill>
                  <a:latin typeface="Arimo" panose="020B0604020202020204"/>
                  <a:ea typeface="Arimo" panose="020B0604020202020204"/>
                  <a:cs typeface="Arimo" panose="020B0604020202020204"/>
                  <a:sym typeface="Arimo" panose="020B0604020202020204"/>
                </a:rPr>
                <a:t>Authority dashboard</a:t>
              </a:r>
              <a:endParaRPr lang="en-US" sz="2200">
                <a:solidFill>
                  <a:srgbClr val="52636A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endParaRPr>
            </a:p>
          </p:txBody>
        </p:sp>
      </p:grpSp>
      <p:grpSp>
        <p:nvGrpSpPr>
          <p:cNvPr id="48" name="Group 48"/>
          <p:cNvGrpSpPr/>
          <p:nvPr/>
        </p:nvGrpSpPr>
        <p:grpSpPr>
          <a:xfrm rot="0">
            <a:off x="10093719" y="2639120"/>
            <a:ext cx="2947159" cy="2898838"/>
            <a:chOff x="0" y="0"/>
            <a:chExt cx="3929545" cy="3865118"/>
          </a:xfrm>
        </p:grpSpPr>
        <p:sp>
          <p:nvSpPr>
            <p:cNvPr id="49" name="Freeform 49" descr="smartphone illustration with floating app icons, Smartphone With Apps, Digital Phone Illustration, Mobile App Icons PNG Image and Clipart"/>
            <p:cNvSpPr/>
            <p:nvPr/>
          </p:nvSpPr>
          <p:spPr>
            <a:xfrm>
              <a:off x="0" y="0"/>
              <a:ext cx="3929507" cy="3865118"/>
            </a:xfrm>
            <a:custGeom>
              <a:avLst/>
              <a:gdLst/>
              <a:ahLst/>
              <a:cxnLst/>
              <a:rect l="l" t="t" r="r" b="b"/>
              <a:pathLst>
                <a:path w="3929507" h="3865118">
                  <a:moveTo>
                    <a:pt x="0" y="0"/>
                  </a:moveTo>
                  <a:lnTo>
                    <a:pt x="3929507" y="0"/>
                  </a:lnTo>
                  <a:lnTo>
                    <a:pt x="3929507" y="3865118"/>
                  </a:lnTo>
                  <a:lnTo>
                    <a:pt x="0" y="38651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sp>
        <p:nvSpPr>
          <p:cNvPr id="50" name="TextBox 50"/>
          <p:cNvSpPr txBox="1"/>
          <p:nvPr/>
        </p:nvSpPr>
        <p:spPr>
          <a:xfrm>
            <a:off x="6187440" y="1642377"/>
            <a:ext cx="2557167" cy="675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i="1">
                <a:solidFill>
                  <a:srgbClr val="A6533B"/>
                </a:solidFill>
                <a:latin typeface="Arimo Italics" panose="020B0604020202090204"/>
                <a:ea typeface="Arimo Italics" panose="020B0604020202090204"/>
                <a:cs typeface="Arimo Italics" panose="020B0604020202090204"/>
                <a:sym typeface="Arimo Italics" panose="020B0604020202090204"/>
              </a:rPr>
              <a:t>Members :</a:t>
            </a:r>
            <a:r>
              <a:rPr lang="en-US" sz="3600">
                <a:solidFill>
                  <a:srgbClr val="000000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 </a:t>
            </a:r>
            <a:endParaRPr lang="en-US" sz="3600">
              <a:solidFill>
                <a:srgbClr val="000000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</p:txBody>
      </p:sp>
      <p:sp>
        <p:nvSpPr>
          <p:cNvPr id="51" name="TextBox 51"/>
          <p:cNvSpPr txBox="1"/>
          <p:nvPr/>
        </p:nvSpPr>
        <p:spPr>
          <a:xfrm>
            <a:off x="8927487" y="1332281"/>
            <a:ext cx="2988507" cy="1276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800" i="1">
                <a:solidFill>
                  <a:srgbClr val="A6533B"/>
                </a:solidFill>
                <a:latin typeface="Arimo Italics" panose="020B0604020202090204"/>
                <a:ea typeface="Arimo Italics" panose="020B0604020202090204"/>
                <a:cs typeface="Arimo Italics" panose="020B0604020202090204"/>
                <a:sym typeface="Arimo Italics" panose="020B0604020202090204"/>
              </a:rPr>
              <a:t>1) Gauri</a:t>
            </a:r>
            <a:endParaRPr lang="en-US" sz="2800" i="1">
              <a:solidFill>
                <a:srgbClr val="A6533B"/>
              </a:solidFill>
              <a:latin typeface="Arimo Italics" panose="020B0604020202090204"/>
              <a:ea typeface="Arimo Italics" panose="020B0604020202090204"/>
              <a:cs typeface="Arimo Italics" panose="020B0604020202090204"/>
              <a:sym typeface="Arimo Italics" panose="020B0604020202090204"/>
            </a:endParaRPr>
          </a:p>
          <a:p>
            <a:pPr algn="l">
              <a:lnSpc>
                <a:spcPts val="3360"/>
              </a:lnSpc>
            </a:pPr>
            <a:r>
              <a:rPr lang="en-US" sz="2800" i="1">
                <a:solidFill>
                  <a:srgbClr val="A6533B"/>
                </a:solidFill>
                <a:latin typeface="Arimo Italics" panose="020B0604020202090204"/>
                <a:ea typeface="Arimo Italics" panose="020B0604020202090204"/>
                <a:cs typeface="Arimo Italics" panose="020B0604020202090204"/>
                <a:sym typeface="Arimo Italics" panose="020B0604020202090204"/>
              </a:rPr>
              <a:t>2) Afnan Zia</a:t>
            </a:r>
            <a:endParaRPr lang="en-US" sz="2800" i="1">
              <a:solidFill>
                <a:srgbClr val="A6533B"/>
              </a:solidFill>
              <a:latin typeface="Arimo Italics" panose="020B0604020202090204"/>
              <a:ea typeface="Arimo Italics" panose="020B0604020202090204"/>
              <a:cs typeface="Arimo Italics" panose="020B0604020202090204"/>
              <a:sym typeface="Arimo Italics" panose="020B0604020202090204"/>
            </a:endParaRPr>
          </a:p>
          <a:p>
            <a:pPr algn="l">
              <a:lnSpc>
                <a:spcPts val="3360"/>
              </a:lnSpc>
            </a:pPr>
            <a:r>
              <a:rPr lang="en-US" sz="2800" i="1">
                <a:solidFill>
                  <a:srgbClr val="A6533B"/>
                </a:solidFill>
                <a:latin typeface="Arimo Italics" panose="020B0604020202090204"/>
                <a:ea typeface="Arimo Italics" panose="020B0604020202090204"/>
                <a:cs typeface="Arimo Italics" panose="020B0604020202090204"/>
                <a:sym typeface="Arimo Italics" panose="020B0604020202090204"/>
              </a:rPr>
              <a:t>3) Azhar Shahzad</a:t>
            </a:r>
            <a:endParaRPr lang="en-US" sz="2800" i="1">
              <a:solidFill>
                <a:srgbClr val="A6533B"/>
              </a:solidFill>
              <a:latin typeface="Arimo Italics" panose="020B0604020202090204"/>
              <a:ea typeface="Arimo Italics" panose="020B0604020202090204"/>
              <a:cs typeface="Arimo Italics" panose="020B0604020202090204"/>
              <a:sym typeface="Arimo Italics" panose="020B060402020209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4F1EA"/>
            </a:solidFill>
          </p:spPr>
        </p:sp>
      </p:grpSp>
      <p:grpSp>
        <p:nvGrpSpPr>
          <p:cNvPr id="4" name="Group 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 rot="0">
            <a:off x="925314" y="1099690"/>
            <a:ext cx="7381475" cy="885825"/>
            <a:chOff x="0" y="0"/>
            <a:chExt cx="9841967" cy="11811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841965" cy="1181101"/>
            </a:xfrm>
            <a:custGeom>
              <a:avLst/>
              <a:gdLst/>
              <a:ahLst/>
              <a:cxnLst/>
              <a:rect l="l" t="t" r="r" b="b"/>
              <a:pathLst>
                <a:path w="9841965" h="1181101">
                  <a:moveTo>
                    <a:pt x="0" y="0"/>
                  </a:moveTo>
                  <a:lnTo>
                    <a:pt x="9841965" y="0"/>
                  </a:lnTo>
                  <a:lnTo>
                    <a:pt x="9841965" y="1181101"/>
                  </a:lnTo>
                  <a:lnTo>
                    <a:pt x="0" y="118110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12366" b="-112366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9525"/>
              <a:ext cx="9841967" cy="11906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910"/>
                </a:lnSpc>
              </a:pPr>
              <a:r>
                <a:rPr lang="en-US" sz="5760" b="1" spc="-287">
                  <a:solidFill>
                    <a:srgbClr val="24313A"/>
                  </a:solidFill>
                  <a:latin typeface="Inter Bold" panose="02000503000000020004"/>
                  <a:ea typeface="Inter Bold" panose="02000503000000020004"/>
                  <a:cs typeface="Inter Bold" panose="02000503000000020004"/>
                  <a:sym typeface="Inter Bold" panose="02000503000000020004"/>
                </a:rPr>
                <a:t>Literature Review</a:t>
              </a:r>
              <a:endParaRPr lang="en-US" sz="5760" b="1" spc="-287">
                <a:solidFill>
                  <a:srgbClr val="24313A"/>
                </a:solidFill>
                <a:latin typeface="Inter Bold" panose="02000503000000020004"/>
                <a:ea typeface="Inter Bold" panose="02000503000000020004"/>
                <a:cs typeface="Inter Bold" panose="02000503000000020004"/>
                <a:sym typeface="Inter Bold" panose="02000503000000020004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 rot="0">
            <a:off x="693872" y="4128640"/>
            <a:ext cx="16948623" cy="4076700"/>
            <a:chOff x="0" y="0"/>
            <a:chExt cx="22598164" cy="54356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598126" cy="5435600"/>
            </a:xfrm>
            <a:custGeom>
              <a:avLst/>
              <a:gdLst/>
              <a:ahLst/>
              <a:cxnLst/>
              <a:rect l="l" t="t" r="r" b="b"/>
              <a:pathLst>
                <a:path w="22598126" h="5435600">
                  <a:moveTo>
                    <a:pt x="0" y="268859"/>
                  </a:moveTo>
                  <a:cubicBezTo>
                    <a:pt x="0" y="120396"/>
                    <a:pt x="120396" y="0"/>
                    <a:pt x="268859" y="0"/>
                  </a:cubicBezTo>
                  <a:lnTo>
                    <a:pt x="22329267" y="0"/>
                  </a:lnTo>
                  <a:cubicBezTo>
                    <a:pt x="22477730" y="0"/>
                    <a:pt x="22598126" y="120396"/>
                    <a:pt x="22598126" y="268859"/>
                  </a:cubicBezTo>
                  <a:lnTo>
                    <a:pt x="22598126" y="5166741"/>
                  </a:lnTo>
                  <a:cubicBezTo>
                    <a:pt x="22598126" y="5315204"/>
                    <a:pt x="22477730" y="5435600"/>
                    <a:pt x="22329267" y="5435600"/>
                  </a:cubicBezTo>
                  <a:lnTo>
                    <a:pt x="268859" y="5435600"/>
                  </a:lnTo>
                  <a:cubicBezTo>
                    <a:pt x="120396" y="5435600"/>
                    <a:pt x="0" y="5315204"/>
                    <a:pt x="0" y="5166741"/>
                  </a:cubicBezTo>
                  <a:close/>
                </a:path>
              </a:pathLst>
            </a:custGeom>
            <a:solidFill>
              <a:srgbClr val="E9EFE9">
                <a:alpha val="72157"/>
              </a:srgbClr>
            </a:solidFill>
            <a:ln w="9526" cap="sq">
              <a:solidFill>
                <a:srgbClr val="9FB3AD"/>
              </a:solidFill>
              <a:prstDash val="solid"/>
              <a:miter/>
            </a:ln>
          </p:spPr>
        </p:sp>
      </p:grpSp>
      <p:grpSp>
        <p:nvGrpSpPr>
          <p:cNvPr id="11" name="Group 11"/>
          <p:cNvGrpSpPr/>
          <p:nvPr/>
        </p:nvGrpSpPr>
        <p:grpSpPr>
          <a:xfrm rot="0">
            <a:off x="693872" y="3261865"/>
            <a:ext cx="16898498" cy="581025"/>
            <a:chOff x="0" y="0"/>
            <a:chExt cx="22531330" cy="7747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2531330" cy="774700"/>
            </a:xfrm>
            <a:custGeom>
              <a:avLst/>
              <a:gdLst/>
              <a:ahLst/>
              <a:cxnLst/>
              <a:rect l="l" t="t" r="r" b="b"/>
              <a:pathLst>
                <a:path w="22531330" h="774700">
                  <a:moveTo>
                    <a:pt x="0" y="0"/>
                  </a:moveTo>
                  <a:lnTo>
                    <a:pt x="22531330" y="0"/>
                  </a:lnTo>
                  <a:lnTo>
                    <a:pt x="22531330" y="774700"/>
                  </a:lnTo>
                  <a:lnTo>
                    <a:pt x="0" y="774700"/>
                  </a:lnTo>
                  <a:close/>
                </a:path>
              </a:pathLst>
            </a:custGeom>
            <a:solidFill>
              <a:srgbClr val="D5DFDB"/>
            </a:solidFill>
          </p:spPr>
        </p:sp>
      </p:grpSp>
      <p:grpSp>
        <p:nvGrpSpPr>
          <p:cNvPr id="13" name="Group 13"/>
          <p:cNvGrpSpPr/>
          <p:nvPr/>
        </p:nvGrpSpPr>
        <p:grpSpPr>
          <a:xfrm rot="0">
            <a:off x="1078825" y="4278100"/>
            <a:ext cx="3264909" cy="478148"/>
            <a:chOff x="0" y="0"/>
            <a:chExt cx="3559645" cy="52131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559651" cy="521313"/>
            </a:xfrm>
            <a:custGeom>
              <a:avLst/>
              <a:gdLst/>
              <a:ahLst/>
              <a:cxnLst/>
              <a:rect l="l" t="t" r="r" b="b"/>
              <a:pathLst>
                <a:path w="3559651" h="521313">
                  <a:moveTo>
                    <a:pt x="0" y="0"/>
                  </a:moveTo>
                  <a:lnTo>
                    <a:pt x="3559651" y="0"/>
                  </a:lnTo>
                  <a:lnTo>
                    <a:pt x="3559651" y="521313"/>
                  </a:lnTo>
                  <a:lnTo>
                    <a:pt x="0" y="52131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0160" b="-65936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-9525"/>
              <a:ext cx="3559645" cy="5308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 spc="176">
                  <a:solidFill>
                    <a:srgbClr val="4B7C7A"/>
                  </a:solidFill>
                  <a:latin typeface="Arimo Bold" panose="020B0704020202020204"/>
                  <a:ea typeface="Arimo Bold" panose="020B0704020202020204"/>
                  <a:cs typeface="Arimo Bold" panose="020B0704020202020204"/>
                  <a:sym typeface="Arimo Bold" panose="020B0704020202020204"/>
                </a:rPr>
                <a:t>Author</a:t>
              </a:r>
              <a:endParaRPr lang="en-US" sz="2000" b="1" spc="176">
                <a:solidFill>
                  <a:srgbClr val="4B7C7A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 rot="0">
            <a:off x="4274244" y="4278100"/>
            <a:ext cx="2220506" cy="539503"/>
            <a:chOff x="0" y="0"/>
            <a:chExt cx="2025764" cy="49218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025768" cy="492189"/>
            </a:xfrm>
            <a:custGeom>
              <a:avLst/>
              <a:gdLst/>
              <a:ahLst/>
              <a:cxnLst/>
              <a:rect l="l" t="t" r="r" b="b"/>
              <a:pathLst>
                <a:path w="2025768" h="492189">
                  <a:moveTo>
                    <a:pt x="0" y="0"/>
                  </a:moveTo>
                  <a:lnTo>
                    <a:pt x="2025768" y="0"/>
                  </a:lnTo>
                  <a:lnTo>
                    <a:pt x="2025768" y="492189"/>
                  </a:lnTo>
                  <a:lnTo>
                    <a:pt x="0" y="49218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5362" b="-15031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-9525"/>
              <a:ext cx="2025764" cy="50171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 spc="176">
                  <a:solidFill>
                    <a:srgbClr val="4B7C7A"/>
                  </a:solidFill>
                  <a:latin typeface="Arimo Bold" panose="020B0704020202020204"/>
                  <a:ea typeface="Arimo Bold" panose="020B0704020202020204"/>
                  <a:cs typeface="Arimo Bold" panose="020B0704020202020204"/>
                  <a:sym typeface="Arimo Bold" panose="020B0704020202020204"/>
                </a:rPr>
                <a:t>Year</a:t>
              </a:r>
              <a:endParaRPr lang="en-US" sz="2000" b="1" spc="176">
                <a:solidFill>
                  <a:srgbClr val="4B7C7A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 rot="0">
            <a:off x="6273056" y="4221405"/>
            <a:ext cx="2320377" cy="652893"/>
            <a:chOff x="0" y="0"/>
            <a:chExt cx="2477478" cy="69709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477472" cy="697098"/>
            </a:xfrm>
            <a:custGeom>
              <a:avLst/>
              <a:gdLst/>
              <a:ahLst/>
              <a:cxnLst/>
              <a:rect l="l" t="t" r="r" b="b"/>
              <a:pathLst>
                <a:path w="2477472" h="697098">
                  <a:moveTo>
                    <a:pt x="0" y="0"/>
                  </a:moveTo>
                  <a:lnTo>
                    <a:pt x="2477472" y="0"/>
                  </a:lnTo>
                  <a:lnTo>
                    <a:pt x="2477472" y="697098"/>
                  </a:lnTo>
                  <a:lnTo>
                    <a:pt x="0" y="69709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4654" b="6155"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0" y="-9525"/>
              <a:ext cx="2477478" cy="70662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 spc="176">
                  <a:solidFill>
                    <a:srgbClr val="4B7C7A"/>
                  </a:solidFill>
                  <a:latin typeface="Arimo Bold" panose="020B0704020202020204"/>
                  <a:ea typeface="Arimo Bold" panose="020B0704020202020204"/>
                  <a:cs typeface="Arimo Bold" panose="020B0704020202020204"/>
                  <a:sym typeface="Arimo Bold" panose="020B0704020202020204"/>
                </a:rPr>
                <a:t>Study</a:t>
              </a:r>
              <a:endParaRPr lang="en-US" sz="2000" b="1" spc="176">
                <a:solidFill>
                  <a:srgbClr val="4B7C7A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 rot="0">
            <a:off x="1100241" y="8367265"/>
            <a:ext cx="15735300" cy="1543050"/>
            <a:chOff x="0" y="0"/>
            <a:chExt cx="20980400" cy="20574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0980400" cy="2057400"/>
            </a:xfrm>
            <a:custGeom>
              <a:avLst/>
              <a:gdLst/>
              <a:ahLst/>
              <a:cxnLst/>
              <a:rect l="l" t="t" r="r" b="b"/>
              <a:pathLst>
                <a:path w="20980400" h="2057400">
                  <a:moveTo>
                    <a:pt x="0" y="269875"/>
                  </a:moveTo>
                  <a:cubicBezTo>
                    <a:pt x="0" y="120777"/>
                    <a:pt x="120777" y="0"/>
                    <a:pt x="269875" y="0"/>
                  </a:cubicBezTo>
                  <a:lnTo>
                    <a:pt x="20710525" y="0"/>
                  </a:lnTo>
                  <a:cubicBezTo>
                    <a:pt x="20859623" y="0"/>
                    <a:pt x="20980400" y="120777"/>
                    <a:pt x="20980400" y="269875"/>
                  </a:cubicBezTo>
                  <a:lnTo>
                    <a:pt x="20980400" y="1787525"/>
                  </a:lnTo>
                  <a:cubicBezTo>
                    <a:pt x="20980400" y="1936623"/>
                    <a:pt x="20859623" y="2057400"/>
                    <a:pt x="20710525" y="2057400"/>
                  </a:cubicBezTo>
                  <a:lnTo>
                    <a:pt x="269875" y="2057400"/>
                  </a:lnTo>
                  <a:cubicBezTo>
                    <a:pt x="120777" y="2057400"/>
                    <a:pt x="0" y="1936623"/>
                    <a:pt x="0" y="1787525"/>
                  </a:cubicBezTo>
                  <a:close/>
                </a:path>
              </a:pathLst>
            </a:custGeom>
            <a:solidFill>
              <a:srgbClr val="F1E3D8">
                <a:alpha val="63922"/>
              </a:srgbClr>
            </a:solidFill>
            <a:ln w="9526" cap="sq">
              <a:solidFill>
                <a:srgbClr val="C56A4A"/>
              </a:solidFill>
              <a:prstDash val="solid"/>
              <a:miter/>
            </a:ln>
          </p:spPr>
        </p:sp>
      </p:grpSp>
      <p:grpSp>
        <p:nvGrpSpPr>
          <p:cNvPr id="24" name="Group 24"/>
          <p:cNvGrpSpPr/>
          <p:nvPr/>
        </p:nvGrpSpPr>
        <p:grpSpPr>
          <a:xfrm rot="0">
            <a:off x="1280074" y="8606276"/>
            <a:ext cx="114300" cy="114300"/>
            <a:chOff x="0" y="0"/>
            <a:chExt cx="152400" cy="1524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cubicBezTo>
                    <a:pt x="152400" y="118237"/>
                    <a:pt x="118237" y="152400"/>
                    <a:pt x="76200" y="152400"/>
                  </a:cubicBezTo>
                  <a:cubicBezTo>
                    <a:pt x="34163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C66A4A"/>
            </a:solidFill>
          </p:spPr>
        </p:sp>
      </p:grpSp>
      <p:grpSp>
        <p:nvGrpSpPr>
          <p:cNvPr id="26" name="Group 26"/>
          <p:cNvGrpSpPr/>
          <p:nvPr/>
        </p:nvGrpSpPr>
        <p:grpSpPr>
          <a:xfrm rot="0">
            <a:off x="1533677" y="8529037"/>
            <a:ext cx="2377011" cy="266700"/>
            <a:chOff x="0" y="0"/>
            <a:chExt cx="3169348" cy="3556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3169344" cy="355600"/>
            </a:xfrm>
            <a:custGeom>
              <a:avLst/>
              <a:gdLst/>
              <a:ahLst/>
              <a:cxnLst/>
              <a:rect l="l" t="t" r="r" b="b"/>
              <a:pathLst>
                <a:path w="3169344" h="355600">
                  <a:moveTo>
                    <a:pt x="0" y="0"/>
                  </a:moveTo>
                  <a:lnTo>
                    <a:pt x="3169344" y="0"/>
                  </a:lnTo>
                  <a:lnTo>
                    <a:pt x="3169344" y="355600"/>
                  </a:lnTo>
                  <a:lnTo>
                    <a:pt x="0" y="355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23663" b="-123663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-9525"/>
              <a:ext cx="3169348" cy="3651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 spc="212">
                  <a:solidFill>
                    <a:srgbClr val="C66A4A"/>
                  </a:solidFill>
                  <a:latin typeface="Arimo Bold" panose="020B0704020202020204"/>
                  <a:ea typeface="Arimo Bold" panose="020B0704020202020204"/>
                  <a:cs typeface="Arimo Bold" panose="020B0704020202020204"/>
                  <a:sym typeface="Arimo Bold" panose="020B0704020202020204"/>
                </a:rPr>
                <a:t>RESEARCH GAP</a:t>
              </a:r>
              <a:endParaRPr lang="en-US" sz="2000" b="1" spc="212">
                <a:solidFill>
                  <a:srgbClr val="C66A4A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endParaRP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337224" y="8957662"/>
            <a:ext cx="18914221" cy="7237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940">
                <a:solidFill>
                  <a:srgbClr val="5B3F31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“A dedicated tourist-safety system combining real-time location detection, geofencing, risk monitoring, safety alerts, SOS and</a:t>
            </a:r>
            <a:endParaRPr lang="en-US" sz="1940">
              <a:solidFill>
                <a:srgbClr val="5B3F31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  <a:p>
            <a:pPr algn="l">
              <a:lnSpc>
                <a:spcPts val="2625"/>
              </a:lnSpc>
            </a:pPr>
            <a:r>
              <a:rPr lang="en-US" sz="1940">
                <a:solidFill>
                  <a:srgbClr val="5B3F31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incident response can provide a more focused and proactive safety solution for travellers.”</a:t>
            </a:r>
            <a:endParaRPr lang="en-US" sz="1940">
              <a:solidFill>
                <a:srgbClr val="5B3F31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384728" y="7767190"/>
            <a:ext cx="16948623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80"/>
              </a:lnSpc>
            </a:pPr>
          </a:p>
        </p:txBody>
      </p:sp>
      <p:sp>
        <p:nvSpPr>
          <p:cNvPr id="31" name="TextBox 31"/>
          <p:cNvSpPr txBox="1"/>
          <p:nvPr/>
        </p:nvSpPr>
        <p:spPr>
          <a:xfrm>
            <a:off x="743998" y="4779503"/>
            <a:ext cx="2724377" cy="873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0"/>
              </a:lnSpc>
            </a:pPr>
            <a:r>
              <a:rPr lang="en-US" sz="1660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Gonzá</a:t>
            </a:r>
            <a:r>
              <a:rPr lang="en-US" sz="1660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lez-Reverté, Díaz-Luque, Gomis-López &amp; Morales-Pérez</a:t>
            </a:r>
            <a:endParaRPr lang="en-US" sz="1660">
              <a:solidFill>
                <a:srgbClr val="000000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925314" y="5988838"/>
            <a:ext cx="2892719" cy="8795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5"/>
              </a:lnSpc>
            </a:pPr>
            <a:r>
              <a:rPr lang="en-US" sz="1670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Pr</a:t>
            </a:r>
            <a:r>
              <a:rPr lang="en-US" sz="1670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eethi Warrier, Aliza Shaikh, Sanika Patil, Divyal Vighe &amp; Yash Sawant</a:t>
            </a:r>
            <a:endParaRPr lang="en-US" sz="1670">
              <a:solidFill>
                <a:srgbClr val="000000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743998" y="7278002"/>
            <a:ext cx="2907058" cy="552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5"/>
              </a:lnSpc>
            </a:pPr>
            <a:r>
              <a:rPr lang="en-US" sz="1600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G. V.</a:t>
            </a:r>
            <a:r>
              <a:rPr lang="en-US" sz="1600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 Sonawane, Ashwini Gaidhani &amp; Vaishnavi Patil</a:t>
            </a:r>
            <a:endParaRPr lang="en-US" sz="1600">
              <a:solidFill>
                <a:srgbClr val="000000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3269816" y="5009846"/>
            <a:ext cx="2692471" cy="276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5"/>
              </a:lnSpc>
            </a:pPr>
            <a:r>
              <a:rPr lang="en-US" sz="1640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2018</a:t>
            </a:r>
            <a:endParaRPr lang="en-US" sz="1640">
              <a:solidFill>
                <a:srgbClr val="000000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3269816" y="6295316"/>
            <a:ext cx="2692471" cy="276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5"/>
              </a:lnSpc>
            </a:pPr>
            <a:r>
              <a:rPr lang="en-US" sz="1640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2026</a:t>
            </a:r>
            <a:endParaRPr lang="en-US" sz="1640">
              <a:solidFill>
                <a:srgbClr val="000000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3269816" y="7452156"/>
            <a:ext cx="2692471" cy="276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5"/>
              </a:lnSpc>
            </a:pPr>
            <a:r>
              <a:rPr lang="en-US" sz="1640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2026</a:t>
            </a:r>
            <a:endParaRPr lang="en-US" sz="1640">
              <a:solidFill>
                <a:srgbClr val="000000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5803415" y="4890050"/>
            <a:ext cx="2395078" cy="10205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40"/>
              </a:lnSpc>
            </a:pPr>
            <a:r>
              <a:rPr lang="en-US" sz="1455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Tourists’ </a:t>
            </a:r>
            <a:r>
              <a:rPr lang="en-US" sz="1455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Risk Perception and the Use of Mobile Devices in Beach Tourism Destinations</a:t>
            </a:r>
            <a:endParaRPr lang="en-US" sz="1455">
              <a:solidFill>
                <a:srgbClr val="000000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5803415" y="6177940"/>
            <a:ext cx="2395078" cy="7633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40"/>
              </a:lnSpc>
            </a:pPr>
            <a:r>
              <a:rPr lang="en-US" sz="1455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Saf</a:t>
            </a:r>
            <a:r>
              <a:rPr lang="en-US" sz="1455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e Days: Tourist Safety and Incident Response System</a:t>
            </a:r>
            <a:endParaRPr lang="en-US" sz="1455">
              <a:solidFill>
                <a:srgbClr val="000000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5803415" y="7208568"/>
            <a:ext cx="2395078" cy="7633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40"/>
              </a:lnSpc>
            </a:pPr>
            <a:r>
              <a:rPr lang="en-US" sz="1455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Smart Tou</a:t>
            </a:r>
            <a:r>
              <a:rPr lang="en-US" sz="1455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rist Safety Monitoring and Incident Response System</a:t>
            </a:r>
            <a:endParaRPr lang="en-US" sz="1455">
              <a:solidFill>
                <a:srgbClr val="000000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</p:txBody>
      </p:sp>
      <p:grpSp>
        <p:nvGrpSpPr>
          <p:cNvPr id="40" name="Group 40"/>
          <p:cNvGrpSpPr/>
          <p:nvPr/>
        </p:nvGrpSpPr>
        <p:grpSpPr>
          <a:xfrm rot="0">
            <a:off x="9539146" y="4221405"/>
            <a:ext cx="2320377" cy="652893"/>
            <a:chOff x="0" y="0"/>
            <a:chExt cx="2477478" cy="697097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2477472" cy="697098"/>
            </a:xfrm>
            <a:custGeom>
              <a:avLst/>
              <a:gdLst/>
              <a:ahLst/>
              <a:cxnLst/>
              <a:rect l="l" t="t" r="r" b="b"/>
              <a:pathLst>
                <a:path w="2477472" h="697098">
                  <a:moveTo>
                    <a:pt x="0" y="0"/>
                  </a:moveTo>
                  <a:lnTo>
                    <a:pt x="2477472" y="0"/>
                  </a:lnTo>
                  <a:lnTo>
                    <a:pt x="2477472" y="697098"/>
                  </a:lnTo>
                  <a:lnTo>
                    <a:pt x="0" y="69709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4654" b="6155"/>
              </a:stretch>
            </a:blipFill>
          </p:spPr>
        </p:sp>
        <p:sp>
          <p:nvSpPr>
            <p:cNvPr id="42" name="TextBox 42"/>
            <p:cNvSpPr txBox="1"/>
            <p:nvPr/>
          </p:nvSpPr>
          <p:spPr>
            <a:xfrm>
              <a:off x="0" y="-9525"/>
              <a:ext cx="2477478" cy="70662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 spc="176">
                  <a:solidFill>
                    <a:srgbClr val="4B7C7A"/>
                  </a:solidFill>
                  <a:latin typeface="Arimo Bold" panose="020B0704020202020204"/>
                  <a:ea typeface="Arimo Bold" panose="020B0704020202020204"/>
                  <a:cs typeface="Arimo Bold" panose="020B0704020202020204"/>
                  <a:sym typeface="Arimo Bold" panose="020B0704020202020204"/>
                </a:rPr>
                <a:t>Objective</a:t>
              </a:r>
              <a:endParaRPr lang="en-US" sz="2000" b="1" spc="176">
                <a:solidFill>
                  <a:srgbClr val="4B7C7A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endParaRPr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9194125" y="5009846"/>
            <a:ext cx="2671524" cy="5611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75"/>
              </a:lnSpc>
            </a:pPr>
            <a:r>
              <a:rPr lang="en-US" sz="1625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Mobile technology, tourist risk perception</a:t>
            </a:r>
            <a:endParaRPr lang="en-US" sz="1625">
              <a:solidFill>
                <a:srgbClr val="000000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9018016" y="6047671"/>
            <a:ext cx="2695414" cy="8554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5"/>
              </a:lnSpc>
            </a:pPr>
            <a:r>
              <a:rPr lang="en-US" sz="1640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Real-time geolocation, dynamic geofencing, SOS, dashboard</a:t>
            </a:r>
            <a:endParaRPr lang="en-US" sz="1640">
              <a:solidFill>
                <a:srgbClr val="000000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</p:txBody>
      </p:sp>
      <p:sp>
        <p:nvSpPr>
          <p:cNvPr id="45" name="TextBox 45"/>
          <p:cNvSpPr txBox="1"/>
          <p:nvPr/>
        </p:nvSpPr>
        <p:spPr>
          <a:xfrm>
            <a:off x="9257264" y="7167339"/>
            <a:ext cx="2545246" cy="809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70"/>
              </a:lnSpc>
            </a:pPr>
            <a:r>
              <a:rPr lang="en-US" sz="1550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Mobile </a:t>
            </a:r>
            <a:r>
              <a:rPr lang="en-US" sz="1550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computing, cloud infrastructure, geolocation, AI</a:t>
            </a:r>
            <a:endParaRPr lang="en-US" sz="1550">
              <a:solidFill>
                <a:srgbClr val="000000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</p:txBody>
      </p:sp>
      <p:grpSp>
        <p:nvGrpSpPr>
          <p:cNvPr id="46" name="Group 46"/>
          <p:cNvGrpSpPr/>
          <p:nvPr/>
        </p:nvGrpSpPr>
        <p:grpSpPr>
          <a:xfrm rot="0">
            <a:off x="13793098" y="4144877"/>
            <a:ext cx="2320377" cy="652893"/>
            <a:chOff x="0" y="0"/>
            <a:chExt cx="2477478" cy="697097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2477472" cy="697098"/>
            </a:xfrm>
            <a:custGeom>
              <a:avLst/>
              <a:gdLst/>
              <a:ahLst/>
              <a:cxnLst/>
              <a:rect l="l" t="t" r="r" b="b"/>
              <a:pathLst>
                <a:path w="2477472" h="697098">
                  <a:moveTo>
                    <a:pt x="0" y="0"/>
                  </a:moveTo>
                  <a:lnTo>
                    <a:pt x="2477472" y="0"/>
                  </a:lnTo>
                  <a:lnTo>
                    <a:pt x="2477472" y="697098"/>
                  </a:lnTo>
                  <a:lnTo>
                    <a:pt x="0" y="69709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4654" b="6155"/>
              </a:stretch>
            </a:blipFill>
          </p:spPr>
        </p:sp>
        <p:sp>
          <p:nvSpPr>
            <p:cNvPr id="48" name="TextBox 48"/>
            <p:cNvSpPr txBox="1"/>
            <p:nvPr/>
          </p:nvSpPr>
          <p:spPr>
            <a:xfrm>
              <a:off x="0" y="-9525"/>
              <a:ext cx="2477478" cy="70662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 spc="176">
                  <a:solidFill>
                    <a:srgbClr val="4B7C7A"/>
                  </a:solidFill>
                  <a:latin typeface="Arimo Bold" panose="020B0704020202020204"/>
                  <a:ea typeface="Arimo Bold" panose="020B0704020202020204"/>
                  <a:cs typeface="Arimo Bold" panose="020B0704020202020204"/>
                  <a:sym typeface="Arimo Bold" panose="020B0704020202020204"/>
                </a:rPr>
                <a:t>Key Finding</a:t>
              </a:r>
              <a:endParaRPr lang="en-US" sz="2000" b="1" spc="176">
                <a:solidFill>
                  <a:srgbClr val="4B7C7A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endParaRPr>
            </a:p>
          </p:txBody>
        </p:sp>
      </p:grpSp>
      <p:sp>
        <p:nvSpPr>
          <p:cNvPr id="49" name="TextBox 49"/>
          <p:cNvSpPr txBox="1"/>
          <p:nvPr/>
        </p:nvSpPr>
        <p:spPr>
          <a:xfrm>
            <a:off x="12731461" y="4974729"/>
            <a:ext cx="4443651" cy="851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85"/>
              </a:lnSpc>
            </a:pPr>
            <a:r>
              <a:rPr lang="en-US" sz="1630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Shows that m</a:t>
            </a:r>
            <a:r>
              <a:rPr lang="en-US" sz="1630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obile technology can influence how tourists perceive and manage safety risks. </a:t>
            </a:r>
            <a:endParaRPr lang="en-US" sz="1630">
              <a:solidFill>
                <a:srgbClr val="000000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</p:txBody>
      </p:sp>
      <p:sp>
        <p:nvSpPr>
          <p:cNvPr id="50" name="TextBox 50"/>
          <p:cNvSpPr txBox="1"/>
          <p:nvPr/>
        </p:nvSpPr>
        <p:spPr>
          <a:xfrm>
            <a:off x="12554098" y="6047671"/>
            <a:ext cx="4798376" cy="851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85"/>
              </a:lnSpc>
            </a:pPr>
            <a:r>
              <a:rPr lang="en-US" sz="1630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Very closely related t</a:t>
            </a:r>
            <a:r>
              <a:rPr lang="en-US" sz="1630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o SafarShield. It demonstrates the usefulness of geofencing and real-time location monitoring for tourist safety. </a:t>
            </a:r>
            <a:endParaRPr lang="en-US" sz="1630">
              <a:solidFill>
                <a:srgbClr val="000000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</p:txBody>
      </p:sp>
      <p:sp>
        <p:nvSpPr>
          <p:cNvPr id="51" name="TextBox 51"/>
          <p:cNvSpPr txBox="1"/>
          <p:nvPr/>
        </p:nvSpPr>
        <p:spPr>
          <a:xfrm>
            <a:off x="12376736" y="7120612"/>
            <a:ext cx="4798376" cy="851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85"/>
              </a:lnSpc>
            </a:pPr>
            <a:r>
              <a:rPr lang="en-US" sz="1630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Combines geolocation, cloud techn</a:t>
            </a:r>
            <a:r>
              <a:rPr lang="en-US" sz="1630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ologies and AI for tourist safety, showing the potential of an integrated approach. </a:t>
            </a:r>
            <a:endParaRPr lang="en-US" sz="1630">
              <a:solidFill>
                <a:srgbClr val="000000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4F1EA"/>
            </a:solidFill>
          </p:spPr>
        </p:sp>
      </p:grpSp>
      <p:grpSp>
        <p:nvGrpSpPr>
          <p:cNvPr id="4" name="Group 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 rot="0">
            <a:off x="1280074" y="1058618"/>
            <a:ext cx="13511393" cy="847725"/>
            <a:chOff x="0" y="0"/>
            <a:chExt cx="18015191" cy="11303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8015189" cy="1130299"/>
            </a:xfrm>
            <a:custGeom>
              <a:avLst/>
              <a:gdLst/>
              <a:ahLst/>
              <a:cxnLst/>
              <a:rect l="l" t="t" r="r" b="b"/>
              <a:pathLst>
                <a:path w="18015189" h="1130299">
                  <a:moveTo>
                    <a:pt x="0" y="0"/>
                  </a:moveTo>
                  <a:lnTo>
                    <a:pt x="18015189" y="0"/>
                  </a:lnTo>
                  <a:lnTo>
                    <a:pt x="18015189" y="1130299"/>
                  </a:lnTo>
                  <a:lnTo>
                    <a:pt x="0" y="113029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60560" b="-260561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9525"/>
              <a:ext cx="18015191" cy="11207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575"/>
                </a:lnSpc>
              </a:pPr>
              <a:r>
                <a:rPr lang="en-US" sz="5480" b="1" spc="-274">
                  <a:solidFill>
                    <a:srgbClr val="24313A"/>
                  </a:solidFill>
                  <a:latin typeface="Inter Bold" panose="02000503000000020004"/>
                  <a:ea typeface="Inter Bold" panose="02000503000000020004"/>
                  <a:cs typeface="Inter Bold" panose="02000503000000020004"/>
                  <a:sym typeface="Inter Bold" panose="02000503000000020004"/>
                </a:rPr>
                <a:t>Methodology &amp; System Workflow</a:t>
              </a:r>
              <a:endParaRPr lang="en-US" sz="5480" b="1" spc="-274">
                <a:solidFill>
                  <a:srgbClr val="24313A"/>
                </a:solidFill>
                <a:latin typeface="Inter Bold" panose="02000503000000020004"/>
                <a:ea typeface="Inter Bold" panose="02000503000000020004"/>
                <a:cs typeface="Inter Bold" panose="02000503000000020004"/>
                <a:sym typeface="Inter Bold" panose="02000503000000020004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 rot="0">
            <a:off x="1050898" y="2440059"/>
            <a:ext cx="15941902" cy="3231326"/>
            <a:chOff x="0" y="0"/>
            <a:chExt cx="22018565" cy="446302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018566" cy="4463028"/>
            </a:xfrm>
            <a:custGeom>
              <a:avLst/>
              <a:gdLst/>
              <a:ahLst/>
              <a:cxnLst/>
              <a:rect l="l" t="t" r="r" b="b"/>
              <a:pathLst>
                <a:path w="22018566" h="4463028">
                  <a:moveTo>
                    <a:pt x="0" y="266273"/>
                  </a:moveTo>
                  <a:cubicBezTo>
                    <a:pt x="0" y="119182"/>
                    <a:pt x="126354" y="0"/>
                    <a:pt x="282296" y="0"/>
                  </a:cubicBezTo>
                  <a:lnTo>
                    <a:pt x="21736269" y="0"/>
                  </a:lnTo>
                  <a:cubicBezTo>
                    <a:pt x="21892211" y="0"/>
                    <a:pt x="22018566" y="119182"/>
                    <a:pt x="22018566" y="266273"/>
                  </a:cubicBezTo>
                  <a:lnTo>
                    <a:pt x="22018566" y="4196755"/>
                  </a:lnTo>
                  <a:cubicBezTo>
                    <a:pt x="22018566" y="4343847"/>
                    <a:pt x="21892211" y="4463028"/>
                    <a:pt x="21736269" y="4463028"/>
                  </a:cubicBezTo>
                  <a:lnTo>
                    <a:pt x="282296" y="4463028"/>
                  </a:lnTo>
                  <a:cubicBezTo>
                    <a:pt x="126354" y="4463028"/>
                    <a:pt x="0" y="4343846"/>
                    <a:pt x="0" y="4196755"/>
                  </a:cubicBezTo>
                  <a:close/>
                </a:path>
              </a:pathLst>
            </a:custGeom>
            <a:solidFill>
              <a:srgbClr val="E8EDE8">
                <a:alpha val="63922"/>
              </a:srgbClr>
            </a:solidFill>
            <a:ln w="9526" cap="sq">
              <a:solidFill>
                <a:srgbClr val="B8C7C3"/>
              </a:solidFill>
              <a:prstDash val="solid"/>
              <a:miter/>
            </a:ln>
          </p:spPr>
        </p:sp>
      </p:grpSp>
      <p:grpSp>
        <p:nvGrpSpPr>
          <p:cNvPr id="11" name="Group 11"/>
          <p:cNvGrpSpPr/>
          <p:nvPr/>
        </p:nvGrpSpPr>
        <p:grpSpPr>
          <a:xfrm rot="0">
            <a:off x="1508970" y="2534292"/>
            <a:ext cx="4828880" cy="274240"/>
            <a:chOff x="0" y="0"/>
            <a:chExt cx="5366982" cy="304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366981" cy="304800"/>
            </a:xfrm>
            <a:custGeom>
              <a:avLst/>
              <a:gdLst/>
              <a:ahLst/>
              <a:cxnLst/>
              <a:rect l="l" t="t" r="r" b="b"/>
              <a:pathLst>
                <a:path w="5366981" h="304800">
                  <a:moveTo>
                    <a:pt x="0" y="0"/>
                  </a:moveTo>
                  <a:lnTo>
                    <a:pt x="5366981" y="0"/>
                  </a:lnTo>
                  <a:lnTo>
                    <a:pt x="5366981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93096" b="-293096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9525"/>
              <a:ext cx="5366982" cy="3143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 spc="218">
                  <a:solidFill>
                    <a:srgbClr val="4B7C7A"/>
                  </a:solidFill>
                  <a:latin typeface="Arimo Bold" panose="020B0704020202020204"/>
                  <a:ea typeface="Arimo Bold" panose="020B0704020202020204"/>
                  <a:cs typeface="Arimo Bold" panose="020B0704020202020204"/>
                  <a:sym typeface="Arimo Bold" panose="020B0704020202020204"/>
                </a:rPr>
                <a:t>SAFETY DECISION PIPELINE</a:t>
              </a:r>
              <a:endParaRPr lang="en-US" sz="2100" b="1" spc="218">
                <a:solidFill>
                  <a:srgbClr val="4B7C7A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 rot="0">
            <a:off x="1503607" y="2968447"/>
            <a:ext cx="4991100" cy="742950"/>
            <a:chOff x="0" y="0"/>
            <a:chExt cx="6654800" cy="9906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654800" cy="990600"/>
            </a:xfrm>
            <a:custGeom>
              <a:avLst/>
              <a:gdLst/>
              <a:ahLst/>
              <a:cxnLst/>
              <a:rect l="l" t="t" r="r" b="b"/>
              <a:pathLst>
                <a:path w="6654800" h="990600">
                  <a:moveTo>
                    <a:pt x="0" y="160528"/>
                  </a:moveTo>
                  <a:cubicBezTo>
                    <a:pt x="0" y="71882"/>
                    <a:pt x="71882" y="0"/>
                    <a:pt x="160528" y="0"/>
                  </a:cubicBezTo>
                  <a:lnTo>
                    <a:pt x="6494272" y="0"/>
                  </a:lnTo>
                  <a:cubicBezTo>
                    <a:pt x="6582918" y="0"/>
                    <a:pt x="6654800" y="71882"/>
                    <a:pt x="6654800" y="160528"/>
                  </a:cubicBezTo>
                  <a:lnTo>
                    <a:pt x="6654800" y="830072"/>
                  </a:lnTo>
                  <a:cubicBezTo>
                    <a:pt x="6654800" y="918718"/>
                    <a:pt x="6582918" y="990600"/>
                    <a:pt x="6494272" y="990600"/>
                  </a:cubicBezTo>
                  <a:lnTo>
                    <a:pt x="160528" y="990600"/>
                  </a:lnTo>
                  <a:cubicBezTo>
                    <a:pt x="71882" y="990600"/>
                    <a:pt x="0" y="918718"/>
                    <a:pt x="0" y="830072"/>
                  </a:cubicBezTo>
                  <a:close/>
                </a:path>
              </a:pathLst>
            </a:custGeom>
            <a:solidFill>
              <a:srgbClr val="DFE8E4"/>
            </a:solidFill>
            <a:ln w="9526" cap="sq">
              <a:solidFill>
                <a:srgbClr val="B8C7C3"/>
              </a:solidFill>
              <a:prstDash val="solid"/>
              <a:miter/>
            </a:ln>
          </p:spPr>
        </p:sp>
      </p:grpSp>
      <p:grpSp>
        <p:nvGrpSpPr>
          <p:cNvPr id="16" name="Group 16"/>
          <p:cNvGrpSpPr/>
          <p:nvPr/>
        </p:nvGrpSpPr>
        <p:grpSpPr>
          <a:xfrm rot="0">
            <a:off x="1655559" y="3227337"/>
            <a:ext cx="337376" cy="209550"/>
            <a:chOff x="0" y="0"/>
            <a:chExt cx="449834" cy="2794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49837" cy="279400"/>
            </a:xfrm>
            <a:custGeom>
              <a:avLst/>
              <a:gdLst/>
              <a:ahLst/>
              <a:cxnLst/>
              <a:rect l="l" t="t" r="r" b="b"/>
              <a:pathLst>
                <a:path w="449837" h="279400">
                  <a:moveTo>
                    <a:pt x="0" y="0"/>
                  </a:moveTo>
                  <a:lnTo>
                    <a:pt x="449837" y="0"/>
                  </a:lnTo>
                  <a:lnTo>
                    <a:pt x="449837" y="279400"/>
                  </a:lnTo>
                  <a:lnTo>
                    <a:pt x="0" y="279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9691" r="-29690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-9525"/>
              <a:ext cx="449834" cy="288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>
                  <a:solidFill>
                    <a:srgbClr val="C66A4A"/>
                  </a:solidFill>
                  <a:latin typeface="Arimo Bold" panose="020B0704020202020204"/>
                  <a:ea typeface="Arimo Bold" panose="020B0704020202020204"/>
                  <a:cs typeface="Arimo Bold" panose="020B0704020202020204"/>
                  <a:sym typeface="Arimo Bold" panose="020B0704020202020204"/>
                </a:rPr>
                <a:t>01</a:t>
              </a:r>
              <a:endParaRPr lang="en-US" sz="2000" b="1">
                <a:solidFill>
                  <a:srgbClr val="C66A4A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 rot="0">
            <a:off x="1945777" y="3111256"/>
            <a:ext cx="457200" cy="457200"/>
            <a:chOff x="0" y="0"/>
            <a:chExt cx="609600" cy="6096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cubicBezTo>
                    <a:pt x="473075" y="0"/>
                    <a:pt x="609600" y="136525"/>
                    <a:pt x="609600" y="304800"/>
                  </a:cubicBezTo>
                  <a:cubicBezTo>
                    <a:pt x="609600" y="473075"/>
                    <a:pt x="473075" y="609600"/>
                    <a:pt x="304800" y="609600"/>
                  </a:cubicBezTo>
                  <a:cubicBezTo>
                    <a:pt x="136525" y="609600"/>
                    <a:pt x="0" y="473075"/>
                    <a:pt x="0" y="304800"/>
                  </a:cubicBezTo>
                  <a:close/>
                </a:path>
              </a:pathLst>
            </a:custGeom>
            <a:solidFill>
              <a:srgbClr val="D5DFDB"/>
            </a:solidFill>
          </p:spPr>
        </p:sp>
      </p:grpSp>
      <p:grpSp>
        <p:nvGrpSpPr>
          <p:cNvPr id="21" name="Group 21"/>
          <p:cNvGrpSpPr/>
          <p:nvPr/>
        </p:nvGrpSpPr>
        <p:grpSpPr>
          <a:xfrm rot="0">
            <a:off x="2028082" y="3193552"/>
            <a:ext cx="292598" cy="292598"/>
            <a:chOff x="0" y="0"/>
            <a:chExt cx="390131" cy="390131"/>
          </a:xfrm>
        </p:grpSpPr>
        <p:sp>
          <p:nvSpPr>
            <p:cNvPr id="22" name="Freeform 22" descr="preencoded.png"/>
            <p:cNvSpPr/>
            <p:nvPr/>
          </p:nvSpPr>
          <p:spPr>
            <a:xfrm>
              <a:off x="0" y="0"/>
              <a:ext cx="390144" cy="390144"/>
            </a:xfrm>
            <a:custGeom>
              <a:avLst/>
              <a:gdLst/>
              <a:ahLst/>
              <a:cxnLst/>
              <a:rect l="l" t="t" r="r" b="b"/>
              <a:pathLst>
                <a:path w="390144" h="390144">
                  <a:moveTo>
                    <a:pt x="0" y="0"/>
                  </a:moveTo>
                  <a:lnTo>
                    <a:pt x="390144" y="0"/>
                  </a:lnTo>
                  <a:lnTo>
                    <a:pt x="390144" y="390144"/>
                  </a:lnTo>
                  <a:lnTo>
                    <a:pt x="0" y="3901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3" b="3"/>
              </a:stretch>
            </a:blipFill>
          </p:spPr>
        </p:sp>
      </p:grpSp>
      <p:grpSp>
        <p:nvGrpSpPr>
          <p:cNvPr id="23" name="Group 23"/>
          <p:cNvGrpSpPr/>
          <p:nvPr/>
        </p:nvGrpSpPr>
        <p:grpSpPr>
          <a:xfrm rot="0">
            <a:off x="2521591" y="3168262"/>
            <a:ext cx="2820225" cy="277112"/>
            <a:chOff x="0" y="0"/>
            <a:chExt cx="3102013" cy="304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3102016" cy="304800"/>
            </a:xfrm>
            <a:custGeom>
              <a:avLst/>
              <a:gdLst/>
              <a:ahLst/>
              <a:cxnLst/>
              <a:rect l="l" t="t" r="r" b="b"/>
              <a:pathLst>
                <a:path w="3102016" h="304800">
                  <a:moveTo>
                    <a:pt x="0" y="0"/>
                  </a:moveTo>
                  <a:lnTo>
                    <a:pt x="3102016" y="0"/>
                  </a:lnTo>
                  <a:lnTo>
                    <a:pt x="3102016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48303" b="-148303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0" y="-9525"/>
              <a:ext cx="3102013" cy="3143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24313A"/>
                  </a:solidFill>
                  <a:latin typeface="Arimo Bold" panose="020B0704020202020204"/>
                  <a:ea typeface="Arimo Bold" panose="020B0704020202020204"/>
                  <a:cs typeface="Arimo Bold" panose="020B0704020202020204"/>
                  <a:sym typeface="Arimo Bold" panose="020B0704020202020204"/>
                </a:rPr>
                <a:t>Tourist Registration</a:t>
              </a:r>
              <a:endParaRPr lang="en-US" sz="2100" b="1">
                <a:solidFill>
                  <a:srgbClr val="24313A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 rot="0">
            <a:off x="6648450" y="2968447"/>
            <a:ext cx="4991100" cy="742950"/>
            <a:chOff x="0" y="0"/>
            <a:chExt cx="6654800" cy="9906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6654800" cy="990600"/>
            </a:xfrm>
            <a:custGeom>
              <a:avLst/>
              <a:gdLst/>
              <a:ahLst/>
              <a:cxnLst/>
              <a:rect l="l" t="t" r="r" b="b"/>
              <a:pathLst>
                <a:path w="6654800" h="990600">
                  <a:moveTo>
                    <a:pt x="0" y="160528"/>
                  </a:moveTo>
                  <a:cubicBezTo>
                    <a:pt x="0" y="71882"/>
                    <a:pt x="71882" y="0"/>
                    <a:pt x="160528" y="0"/>
                  </a:cubicBezTo>
                  <a:lnTo>
                    <a:pt x="6494272" y="0"/>
                  </a:lnTo>
                  <a:cubicBezTo>
                    <a:pt x="6582918" y="0"/>
                    <a:pt x="6654800" y="71882"/>
                    <a:pt x="6654800" y="160528"/>
                  </a:cubicBezTo>
                  <a:lnTo>
                    <a:pt x="6654800" y="830072"/>
                  </a:lnTo>
                  <a:cubicBezTo>
                    <a:pt x="6654800" y="918718"/>
                    <a:pt x="6582918" y="990600"/>
                    <a:pt x="6494272" y="990600"/>
                  </a:cubicBezTo>
                  <a:lnTo>
                    <a:pt x="160528" y="990600"/>
                  </a:lnTo>
                  <a:cubicBezTo>
                    <a:pt x="71882" y="990600"/>
                    <a:pt x="0" y="918718"/>
                    <a:pt x="0" y="830072"/>
                  </a:cubicBezTo>
                  <a:close/>
                </a:path>
              </a:pathLst>
            </a:custGeom>
            <a:solidFill>
              <a:srgbClr val="DFE8E4"/>
            </a:solidFill>
            <a:ln w="9526" cap="sq">
              <a:solidFill>
                <a:srgbClr val="B8C7C3"/>
              </a:solidFill>
              <a:prstDash val="solid"/>
              <a:miter/>
            </a:ln>
          </p:spPr>
        </p:sp>
      </p:grpSp>
      <p:grpSp>
        <p:nvGrpSpPr>
          <p:cNvPr id="28" name="Group 28"/>
          <p:cNvGrpSpPr/>
          <p:nvPr/>
        </p:nvGrpSpPr>
        <p:grpSpPr>
          <a:xfrm rot="0">
            <a:off x="6800402" y="3227337"/>
            <a:ext cx="337376" cy="209550"/>
            <a:chOff x="0" y="0"/>
            <a:chExt cx="449834" cy="2794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449837" cy="279400"/>
            </a:xfrm>
            <a:custGeom>
              <a:avLst/>
              <a:gdLst/>
              <a:ahLst/>
              <a:cxnLst/>
              <a:rect l="l" t="t" r="r" b="b"/>
              <a:pathLst>
                <a:path w="449837" h="279400">
                  <a:moveTo>
                    <a:pt x="0" y="0"/>
                  </a:moveTo>
                  <a:lnTo>
                    <a:pt x="449837" y="0"/>
                  </a:lnTo>
                  <a:lnTo>
                    <a:pt x="449837" y="279400"/>
                  </a:lnTo>
                  <a:lnTo>
                    <a:pt x="0" y="279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9691" r="-29690"/>
              </a:stretch>
            </a:blipFill>
          </p:spPr>
        </p:sp>
        <p:sp>
          <p:nvSpPr>
            <p:cNvPr id="30" name="TextBox 30"/>
            <p:cNvSpPr txBox="1"/>
            <p:nvPr/>
          </p:nvSpPr>
          <p:spPr>
            <a:xfrm>
              <a:off x="0" y="-9525"/>
              <a:ext cx="449834" cy="288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>
                  <a:solidFill>
                    <a:srgbClr val="C66A4A"/>
                  </a:solidFill>
                  <a:latin typeface="Arimo Bold" panose="020B0704020202020204"/>
                  <a:ea typeface="Arimo Bold" panose="020B0704020202020204"/>
                  <a:cs typeface="Arimo Bold" panose="020B0704020202020204"/>
                  <a:sym typeface="Arimo Bold" panose="020B0704020202020204"/>
                </a:rPr>
                <a:t>02</a:t>
              </a:r>
              <a:endParaRPr lang="en-US" sz="2000" b="1">
                <a:solidFill>
                  <a:srgbClr val="C66A4A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 rot="0">
            <a:off x="7090620" y="3111256"/>
            <a:ext cx="457200" cy="457200"/>
            <a:chOff x="0" y="0"/>
            <a:chExt cx="609600" cy="6096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cubicBezTo>
                    <a:pt x="473075" y="0"/>
                    <a:pt x="609600" y="136525"/>
                    <a:pt x="609600" y="304800"/>
                  </a:cubicBezTo>
                  <a:cubicBezTo>
                    <a:pt x="609600" y="473075"/>
                    <a:pt x="473075" y="609600"/>
                    <a:pt x="304800" y="609600"/>
                  </a:cubicBezTo>
                  <a:cubicBezTo>
                    <a:pt x="136525" y="609600"/>
                    <a:pt x="0" y="473075"/>
                    <a:pt x="0" y="304800"/>
                  </a:cubicBezTo>
                  <a:close/>
                </a:path>
              </a:pathLst>
            </a:custGeom>
            <a:solidFill>
              <a:srgbClr val="D5DFDB"/>
            </a:solidFill>
          </p:spPr>
        </p:sp>
      </p:grpSp>
      <p:grpSp>
        <p:nvGrpSpPr>
          <p:cNvPr id="33" name="Group 33"/>
          <p:cNvGrpSpPr/>
          <p:nvPr/>
        </p:nvGrpSpPr>
        <p:grpSpPr>
          <a:xfrm rot="0">
            <a:off x="7172916" y="3193552"/>
            <a:ext cx="292598" cy="292598"/>
            <a:chOff x="0" y="0"/>
            <a:chExt cx="390131" cy="390131"/>
          </a:xfrm>
        </p:grpSpPr>
        <p:sp>
          <p:nvSpPr>
            <p:cNvPr id="34" name="Freeform 34" descr="preencoded.png"/>
            <p:cNvSpPr/>
            <p:nvPr/>
          </p:nvSpPr>
          <p:spPr>
            <a:xfrm>
              <a:off x="0" y="0"/>
              <a:ext cx="390144" cy="390144"/>
            </a:xfrm>
            <a:custGeom>
              <a:avLst/>
              <a:gdLst/>
              <a:ahLst/>
              <a:cxnLst/>
              <a:rect l="l" t="t" r="r" b="b"/>
              <a:pathLst>
                <a:path w="390144" h="390144">
                  <a:moveTo>
                    <a:pt x="0" y="0"/>
                  </a:moveTo>
                  <a:lnTo>
                    <a:pt x="390144" y="0"/>
                  </a:lnTo>
                  <a:lnTo>
                    <a:pt x="390144" y="390144"/>
                  </a:lnTo>
                  <a:lnTo>
                    <a:pt x="0" y="3901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3" b="3"/>
              </a:stretch>
            </a:blipFill>
          </p:spPr>
        </p:sp>
      </p:grpSp>
      <p:grpSp>
        <p:nvGrpSpPr>
          <p:cNvPr id="35" name="Group 35"/>
          <p:cNvGrpSpPr/>
          <p:nvPr/>
        </p:nvGrpSpPr>
        <p:grpSpPr>
          <a:xfrm rot="0">
            <a:off x="7666434" y="3141801"/>
            <a:ext cx="3056125" cy="303572"/>
            <a:chOff x="0" y="0"/>
            <a:chExt cx="3068485" cy="304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3068480" cy="304800"/>
            </a:xfrm>
            <a:custGeom>
              <a:avLst/>
              <a:gdLst/>
              <a:ahLst/>
              <a:cxnLst/>
              <a:rect l="l" t="t" r="r" b="b"/>
              <a:pathLst>
                <a:path w="3068480" h="304800">
                  <a:moveTo>
                    <a:pt x="0" y="0"/>
                  </a:moveTo>
                  <a:lnTo>
                    <a:pt x="3068480" y="0"/>
                  </a:lnTo>
                  <a:lnTo>
                    <a:pt x="306848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46159" b="-146159"/>
              </a:stretch>
            </a:blipFill>
          </p:spPr>
        </p:sp>
        <p:sp>
          <p:nvSpPr>
            <p:cNvPr id="37" name="TextBox 37"/>
            <p:cNvSpPr txBox="1"/>
            <p:nvPr/>
          </p:nvSpPr>
          <p:spPr>
            <a:xfrm>
              <a:off x="0" y="-9525"/>
              <a:ext cx="3068485" cy="3143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24313A"/>
                  </a:solidFill>
                  <a:latin typeface="Arimo Bold" panose="020B0704020202020204"/>
                  <a:ea typeface="Arimo Bold" panose="020B0704020202020204"/>
                  <a:cs typeface="Arimo Bold" panose="020B0704020202020204"/>
                  <a:sym typeface="Arimo Bold" panose="020B0704020202020204"/>
                </a:rPr>
                <a:t>GPS / Location Data</a:t>
              </a:r>
              <a:endParaRPr lang="en-US" sz="2100" b="1">
                <a:solidFill>
                  <a:srgbClr val="24313A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endParaRPr>
            </a:p>
          </p:txBody>
        </p:sp>
      </p:grpSp>
      <p:grpSp>
        <p:nvGrpSpPr>
          <p:cNvPr id="38" name="Group 38"/>
          <p:cNvGrpSpPr/>
          <p:nvPr/>
        </p:nvGrpSpPr>
        <p:grpSpPr>
          <a:xfrm rot="0">
            <a:off x="11793293" y="2968447"/>
            <a:ext cx="4991100" cy="742950"/>
            <a:chOff x="0" y="0"/>
            <a:chExt cx="6654800" cy="99060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6654800" cy="990600"/>
            </a:xfrm>
            <a:custGeom>
              <a:avLst/>
              <a:gdLst/>
              <a:ahLst/>
              <a:cxnLst/>
              <a:rect l="l" t="t" r="r" b="b"/>
              <a:pathLst>
                <a:path w="6654800" h="990600">
                  <a:moveTo>
                    <a:pt x="0" y="160528"/>
                  </a:moveTo>
                  <a:cubicBezTo>
                    <a:pt x="0" y="71882"/>
                    <a:pt x="71882" y="0"/>
                    <a:pt x="160528" y="0"/>
                  </a:cubicBezTo>
                  <a:lnTo>
                    <a:pt x="6494272" y="0"/>
                  </a:lnTo>
                  <a:cubicBezTo>
                    <a:pt x="6582918" y="0"/>
                    <a:pt x="6654800" y="71882"/>
                    <a:pt x="6654800" y="160528"/>
                  </a:cubicBezTo>
                  <a:lnTo>
                    <a:pt x="6654800" y="830072"/>
                  </a:lnTo>
                  <a:cubicBezTo>
                    <a:pt x="6654800" y="918718"/>
                    <a:pt x="6582918" y="990600"/>
                    <a:pt x="6494272" y="990600"/>
                  </a:cubicBezTo>
                  <a:lnTo>
                    <a:pt x="160528" y="990600"/>
                  </a:lnTo>
                  <a:cubicBezTo>
                    <a:pt x="71882" y="990600"/>
                    <a:pt x="0" y="918718"/>
                    <a:pt x="0" y="830072"/>
                  </a:cubicBezTo>
                  <a:close/>
                </a:path>
              </a:pathLst>
            </a:custGeom>
            <a:solidFill>
              <a:srgbClr val="DFE8E4"/>
            </a:solidFill>
            <a:ln w="9526" cap="sq">
              <a:solidFill>
                <a:srgbClr val="B8C7C3"/>
              </a:solidFill>
              <a:prstDash val="solid"/>
              <a:miter/>
            </a:ln>
          </p:spPr>
        </p:sp>
      </p:grpSp>
      <p:grpSp>
        <p:nvGrpSpPr>
          <p:cNvPr id="40" name="Group 40"/>
          <p:cNvGrpSpPr/>
          <p:nvPr/>
        </p:nvGrpSpPr>
        <p:grpSpPr>
          <a:xfrm rot="0">
            <a:off x="11945245" y="3227337"/>
            <a:ext cx="337376" cy="209550"/>
            <a:chOff x="0" y="0"/>
            <a:chExt cx="449834" cy="27940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449837" cy="279400"/>
            </a:xfrm>
            <a:custGeom>
              <a:avLst/>
              <a:gdLst/>
              <a:ahLst/>
              <a:cxnLst/>
              <a:rect l="l" t="t" r="r" b="b"/>
              <a:pathLst>
                <a:path w="449837" h="279400">
                  <a:moveTo>
                    <a:pt x="0" y="0"/>
                  </a:moveTo>
                  <a:lnTo>
                    <a:pt x="449837" y="0"/>
                  </a:lnTo>
                  <a:lnTo>
                    <a:pt x="449837" y="279400"/>
                  </a:lnTo>
                  <a:lnTo>
                    <a:pt x="0" y="279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9691" r="-29690"/>
              </a:stretch>
            </a:blipFill>
          </p:spPr>
        </p:sp>
        <p:sp>
          <p:nvSpPr>
            <p:cNvPr id="42" name="TextBox 42"/>
            <p:cNvSpPr txBox="1"/>
            <p:nvPr/>
          </p:nvSpPr>
          <p:spPr>
            <a:xfrm>
              <a:off x="0" y="-9525"/>
              <a:ext cx="449834" cy="288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>
                  <a:solidFill>
                    <a:srgbClr val="C66A4A"/>
                  </a:solidFill>
                  <a:latin typeface="Arimo Bold" panose="020B0704020202020204"/>
                  <a:ea typeface="Arimo Bold" panose="020B0704020202020204"/>
                  <a:cs typeface="Arimo Bold" panose="020B0704020202020204"/>
                  <a:sym typeface="Arimo Bold" panose="020B0704020202020204"/>
                </a:rPr>
                <a:t>03</a:t>
              </a:r>
              <a:endParaRPr lang="en-US" sz="2000" b="1">
                <a:solidFill>
                  <a:srgbClr val="C66A4A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endParaRPr>
            </a:p>
          </p:txBody>
        </p:sp>
      </p:grpSp>
      <p:grpSp>
        <p:nvGrpSpPr>
          <p:cNvPr id="43" name="Group 43"/>
          <p:cNvGrpSpPr/>
          <p:nvPr/>
        </p:nvGrpSpPr>
        <p:grpSpPr>
          <a:xfrm rot="0">
            <a:off x="12235463" y="3111256"/>
            <a:ext cx="457200" cy="457200"/>
            <a:chOff x="0" y="0"/>
            <a:chExt cx="609600" cy="60960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cubicBezTo>
                    <a:pt x="473075" y="0"/>
                    <a:pt x="609600" y="136525"/>
                    <a:pt x="609600" y="304800"/>
                  </a:cubicBezTo>
                  <a:cubicBezTo>
                    <a:pt x="609600" y="473075"/>
                    <a:pt x="473075" y="609600"/>
                    <a:pt x="304800" y="609600"/>
                  </a:cubicBezTo>
                  <a:cubicBezTo>
                    <a:pt x="136525" y="609600"/>
                    <a:pt x="0" y="473075"/>
                    <a:pt x="0" y="304800"/>
                  </a:cubicBezTo>
                  <a:close/>
                </a:path>
              </a:pathLst>
            </a:custGeom>
            <a:solidFill>
              <a:srgbClr val="D5DFDB"/>
            </a:solidFill>
          </p:spPr>
        </p:sp>
      </p:grpSp>
      <p:grpSp>
        <p:nvGrpSpPr>
          <p:cNvPr id="45" name="Group 45"/>
          <p:cNvGrpSpPr/>
          <p:nvPr/>
        </p:nvGrpSpPr>
        <p:grpSpPr>
          <a:xfrm rot="0">
            <a:off x="12317759" y="3193552"/>
            <a:ext cx="292598" cy="292598"/>
            <a:chOff x="0" y="0"/>
            <a:chExt cx="390131" cy="390131"/>
          </a:xfrm>
        </p:grpSpPr>
        <p:sp>
          <p:nvSpPr>
            <p:cNvPr id="46" name="Freeform 46" descr="preencoded.png"/>
            <p:cNvSpPr/>
            <p:nvPr/>
          </p:nvSpPr>
          <p:spPr>
            <a:xfrm>
              <a:off x="0" y="0"/>
              <a:ext cx="390144" cy="390144"/>
            </a:xfrm>
            <a:custGeom>
              <a:avLst/>
              <a:gdLst/>
              <a:ahLst/>
              <a:cxnLst/>
              <a:rect l="l" t="t" r="r" b="b"/>
              <a:pathLst>
                <a:path w="390144" h="390144">
                  <a:moveTo>
                    <a:pt x="0" y="0"/>
                  </a:moveTo>
                  <a:lnTo>
                    <a:pt x="390144" y="0"/>
                  </a:lnTo>
                  <a:lnTo>
                    <a:pt x="390144" y="390144"/>
                  </a:lnTo>
                  <a:lnTo>
                    <a:pt x="0" y="3901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3" b="3"/>
              </a:stretch>
            </a:blipFill>
          </p:spPr>
        </p:sp>
      </p:grpSp>
      <p:grpSp>
        <p:nvGrpSpPr>
          <p:cNvPr id="47" name="Group 47"/>
          <p:cNvGrpSpPr/>
          <p:nvPr/>
        </p:nvGrpSpPr>
        <p:grpSpPr>
          <a:xfrm rot="0">
            <a:off x="12811277" y="3168262"/>
            <a:ext cx="2308468" cy="277112"/>
            <a:chOff x="0" y="0"/>
            <a:chExt cx="2539124" cy="30480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2539128" cy="304800"/>
            </a:xfrm>
            <a:custGeom>
              <a:avLst/>
              <a:gdLst/>
              <a:ahLst/>
              <a:cxnLst/>
              <a:rect l="l" t="t" r="r" b="b"/>
              <a:pathLst>
                <a:path w="2539128" h="304800">
                  <a:moveTo>
                    <a:pt x="0" y="0"/>
                  </a:moveTo>
                  <a:lnTo>
                    <a:pt x="2539128" y="0"/>
                  </a:lnTo>
                  <a:lnTo>
                    <a:pt x="2539128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12319" b="-112319"/>
              </a:stretch>
            </a:blipFill>
          </p:spPr>
        </p:sp>
        <p:sp>
          <p:nvSpPr>
            <p:cNvPr id="49" name="TextBox 49"/>
            <p:cNvSpPr txBox="1"/>
            <p:nvPr/>
          </p:nvSpPr>
          <p:spPr>
            <a:xfrm>
              <a:off x="0" y="-9525"/>
              <a:ext cx="2539124" cy="3143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24313A"/>
                  </a:solidFill>
                  <a:latin typeface="Arimo Bold" panose="020B0704020202020204"/>
                  <a:ea typeface="Arimo Bold" panose="020B0704020202020204"/>
                  <a:cs typeface="Arimo Bold" panose="020B0704020202020204"/>
                  <a:sym typeface="Arimo Bold" panose="020B0704020202020204"/>
                </a:rPr>
                <a:t>Data Processing</a:t>
              </a:r>
              <a:endParaRPr lang="en-US" sz="2100" b="1">
                <a:solidFill>
                  <a:srgbClr val="24313A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endParaRPr>
            </a:p>
          </p:txBody>
        </p:sp>
      </p:grpSp>
      <p:grpSp>
        <p:nvGrpSpPr>
          <p:cNvPr id="50" name="Group 50"/>
          <p:cNvGrpSpPr/>
          <p:nvPr/>
        </p:nvGrpSpPr>
        <p:grpSpPr>
          <a:xfrm rot="0">
            <a:off x="1503607" y="3863207"/>
            <a:ext cx="4991100" cy="742950"/>
            <a:chOff x="0" y="0"/>
            <a:chExt cx="6654800" cy="99060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6654800" cy="990600"/>
            </a:xfrm>
            <a:custGeom>
              <a:avLst/>
              <a:gdLst/>
              <a:ahLst/>
              <a:cxnLst/>
              <a:rect l="l" t="t" r="r" b="b"/>
              <a:pathLst>
                <a:path w="6654800" h="990600">
                  <a:moveTo>
                    <a:pt x="0" y="160528"/>
                  </a:moveTo>
                  <a:cubicBezTo>
                    <a:pt x="0" y="71882"/>
                    <a:pt x="71882" y="0"/>
                    <a:pt x="160528" y="0"/>
                  </a:cubicBezTo>
                  <a:lnTo>
                    <a:pt x="6494272" y="0"/>
                  </a:lnTo>
                  <a:cubicBezTo>
                    <a:pt x="6582918" y="0"/>
                    <a:pt x="6654800" y="71882"/>
                    <a:pt x="6654800" y="160528"/>
                  </a:cubicBezTo>
                  <a:lnTo>
                    <a:pt x="6654800" y="830072"/>
                  </a:lnTo>
                  <a:cubicBezTo>
                    <a:pt x="6654800" y="918718"/>
                    <a:pt x="6582918" y="990600"/>
                    <a:pt x="6494272" y="990600"/>
                  </a:cubicBezTo>
                  <a:lnTo>
                    <a:pt x="160528" y="990600"/>
                  </a:lnTo>
                  <a:cubicBezTo>
                    <a:pt x="71882" y="990600"/>
                    <a:pt x="0" y="918718"/>
                    <a:pt x="0" y="830072"/>
                  </a:cubicBezTo>
                  <a:close/>
                </a:path>
              </a:pathLst>
            </a:custGeom>
            <a:solidFill>
              <a:srgbClr val="DFE8E4"/>
            </a:solidFill>
            <a:ln w="9526" cap="sq">
              <a:solidFill>
                <a:srgbClr val="B8C7C3"/>
              </a:solidFill>
              <a:prstDash val="solid"/>
              <a:miter/>
            </a:ln>
          </p:spPr>
        </p:sp>
      </p:grpSp>
      <p:grpSp>
        <p:nvGrpSpPr>
          <p:cNvPr id="52" name="Group 52"/>
          <p:cNvGrpSpPr/>
          <p:nvPr/>
        </p:nvGrpSpPr>
        <p:grpSpPr>
          <a:xfrm rot="0">
            <a:off x="1655559" y="4122096"/>
            <a:ext cx="337376" cy="209550"/>
            <a:chOff x="0" y="0"/>
            <a:chExt cx="449834" cy="27940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449837" cy="279400"/>
            </a:xfrm>
            <a:custGeom>
              <a:avLst/>
              <a:gdLst/>
              <a:ahLst/>
              <a:cxnLst/>
              <a:rect l="l" t="t" r="r" b="b"/>
              <a:pathLst>
                <a:path w="449837" h="279400">
                  <a:moveTo>
                    <a:pt x="0" y="0"/>
                  </a:moveTo>
                  <a:lnTo>
                    <a:pt x="449837" y="0"/>
                  </a:lnTo>
                  <a:lnTo>
                    <a:pt x="449837" y="279400"/>
                  </a:lnTo>
                  <a:lnTo>
                    <a:pt x="0" y="279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9691" r="-29690"/>
              </a:stretch>
            </a:blipFill>
          </p:spPr>
        </p:sp>
        <p:sp>
          <p:nvSpPr>
            <p:cNvPr id="54" name="TextBox 54"/>
            <p:cNvSpPr txBox="1"/>
            <p:nvPr/>
          </p:nvSpPr>
          <p:spPr>
            <a:xfrm>
              <a:off x="0" y="-9525"/>
              <a:ext cx="449834" cy="288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>
                  <a:solidFill>
                    <a:srgbClr val="C66A4A"/>
                  </a:solidFill>
                  <a:latin typeface="Arimo Bold" panose="020B0704020202020204"/>
                  <a:ea typeface="Arimo Bold" panose="020B0704020202020204"/>
                  <a:cs typeface="Arimo Bold" panose="020B0704020202020204"/>
                  <a:sym typeface="Arimo Bold" panose="020B0704020202020204"/>
                </a:rPr>
                <a:t>04</a:t>
              </a:r>
              <a:endParaRPr lang="en-US" sz="2000" b="1">
                <a:solidFill>
                  <a:srgbClr val="C66A4A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endParaRPr>
            </a:p>
          </p:txBody>
        </p:sp>
      </p:grpSp>
      <p:grpSp>
        <p:nvGrpSpPr>
          <p:cNvPr id="55" name="Group 55"/>
          <p:cNvGrpSpPr/>
          <p:nvPr/>
        </p:nvGrpSpPr>
        <p:grpSpPr>
          <a:xfrm rot="0">
            <a:off x="1945777" y="4006005"/>
            <a:ext cx="457200" cy="457200"/>
            <a:chOff x="0" y="0"/>
            <a:chExt cx="609600" cy="609600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cubicBezTo>
                    <a:pt x="473075" y="0"/>
                    <a:pt x="609600" y="136525"/>
                    <a:pt x="609600" y="304800"/>
                  </a:cubicBezTo>
                  <a:cubicBezTo>
                    <a:pt x="609600" y="473075"/>
                    <a:pt x="473075" y="609600"/>
                    <a:pt x="304800" y="609600"/>
                  </a:cubicBezTo>
                  <a:cubicBezTo>
                    <a:pt x="136525" y="609600"/>
                    <a:pt x="0" y="473075"/>
                    <a:pt x="0" y="304800"/>
                  </a:cubicBezTo>
                  <a:close/>
                </a:path>
              </a:pathLst>
            </a:custGeom>
            <a:solidFill>
              <a:srgbClr val="D5DFDB"/>
            </a:solidFill>
          </p:spPr>
        </p:sp>
      </p:grpSp>
      <p:grpSp>
        <p:nvGrpSpPr>
          <p:cNvPr id="57" name="Group 57"/>
          <p:cNvGrpSpPr/>
          <p:nvPr/>
        </p:nvGrpSpPr>
        <p:grpSpPr>
          <a:xfrm rot="0">
            <a:off x="2028082" y="4088311"/>
            <a:ext cx="292598" cy="292598"/>
            <a:chOff x="0" y="0"/>
            <a:chExt cx="390131" cy="390131"/>
          </a:xfrm>
        </p:grpSpPr>
        <p:sp>
          <p:nvSpPr>
            <p:cNvPr id="58" name="Freeform 58" descr="preencoded.png"/>
            <p:cNvSpPr/>
            <p:nvPr/>
          </p:nvSpPr>
          <p:spPr>
            <a:xfrm>
              <a:off x="0" y="0"/>
              <a:ext cx="390144" cy="390144"/>
            </a:xfrm>
            <a:custGeom>
              <a:avLst/>
              <a:gdLst/>
              <a:ahLst/>
              <a:cxnLst/>
              <a:rect l="l" t="t" r="r" b="b"/>
              <a:pathLst>
                <a:path w="390144" h="390144">
                  <a:moveTo>
                    <a:pt x="0" y="0"/>
                  </a:moveTo>
                  <a:lnTo>
                    <a:pt x="390144" y="0"/>
                  </a:lnTo>
                  <a:lnTo>
                    <a:pt x="390144" y="390144"/>
                  </a:lnTo>
                  <a:lnTo>
                    <a:pt x="0" y="3901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3" b="3"/>
              </a:stretch>
            </a:blipFill>
          </p:spPr>
        </p:sp>
      </p:grpSp>
      <p:grpSp>
        <p:nvGrpSpPr>
          <p:cNvPr id="59" name="Group 59"/>
          <p:cNvGrpSpPr/>
          <p:nvPr/>
        </p:nvGrpSpPr>
        <p:grpSpPr>
          <a:xfrm rot="0">
            <a:off x="2521591" y="4006005"/>
            <a:ext cx="2020133" cy="334118"/>
            <a:chOff x="0" y="0"/>
            <a:chExt cx="1842872" cy="304800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1842869" cy="304800"/>
            </a:xfrm>
            <a:custGeom>
              <a:avLst/>
              <a:gdLst/>
              <a:ahLst/>
              <a:cxnLst/>
              <a:rect l="l" t="t" r="r" b="b"/>
              <a:pathLst>
                <a:path w="1842869" h="304800">
                  <a:moveTo>
                    <a:pt x="0" y="0"/>
                  </a:moveTo>
                  <a:lnTo>
                    <a:pt x="1842869" y="0"/>
                  </a:lnTo>
                  <a:lnTo>
                    <a:pt x="1842869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67809" b="-67809"/>
              </a:stretch>
            </a:blipFill>
          </p:spPr>
        </p:sp>
        <p:sp>
          <p:nvSpPr>
            <p:cNvPr id="61" name="TextBox 61"/>
            <p:cNvSpPr txBox="1"/>
            <p:nvPr/>
          </p:nvSpPr>
          <p:spPr>
            <a:xfrm>
              <a:off x="0" y="-9525"/>
              <a:ext cx="1842872" cy="3143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24313A"/>
                  </a:solidFill>
                  <a:latin typeface="Arimo Bold" panose="020B0704020202020204"/>
                  <a:ea typeface="Arimo Bold" panose="020B0704020202020204"/>
                  <a:cs typeface="Arimo Bold" panose="020B0704020202020204"/>
                  <a:sym typeface="Arimo Bold" panose="020B0704020202020204"/>
                </a:rPr>
                <a:t>Geofencing</a:t>
              </a:r>
              <a:endParaRPr lang="en-US" sz="2100" b="1">
                <a:solidFill>
                  <a:srgbClr val="24313A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endParaRPr>
            </a:p>
          </p:txBody>
        </p:sp>
      </p:grpSp>
      <p:grpSp>
        <p:nvGrpSpPr>
          <p:cNvPr id="62" name="Group 62"/>
          <p:cNvGrpSpPr/>
          <p:nvPr/>
        </p:nvGrpSpPr>
        <p:grpSpPr>
          <a:xfrm rot="0">
            <a:off x="6648450" y="3863207"/>
            <a:ext cx="4991100" cy="742950"/>
            <a:chOff x="0" y="0"/>
            <a:chExt cx="6654800" cy="990600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6654800" cy="990600"/>
            </a:xfrm>
            <a:custGeom>
              <a:avLst/>
              <a:gdLst/>
              <a:ahLst/>
              <a:cxnLst/>
              <a:rect l="l" t="t" r="r" b="b"/>
              <a:pathLst>
                <a:path w="6654800" h="990600">
                  <a:moveTo>
                    <a:pt x="0" y="160528"/>
                  </a:moveTo>
                  <a:cubicBezTo>
                    <a:pt x="0" y="71882"/>
                    <a:pt x="71882" y="0"/>
                    <a:pt x="160528" y="0"/>
                  </a:cubicBezTo>
                  <a:lnTo>
                    <a:pt x="6494272" y="0"/>
                  </a:lnTo>
                  <a:cubicBezTo>
                    <a:pt x="6582918" y="0"/>
                    <a:pt x="6654800" y="71882"/>
                    <a:pt x="6654800" y="160528"/>
                  </a:cubicBezTo>
                  <a:lnTo>
                    <a:pt x="6654800" y="830072"/>
                  </a:lnTo>
                  <a:cubicBezTo>
                    <a:pt x="6654800" y="918718"/>
                    <a:pt x="6582918" y="990600"/>
                    <a:pt x="6494272" y="990600"/>
                  </a:cubicBezTo>
                  <a:lnTo>
                    <a:pt x="160528" y="990600"/>
                  </a:lnTo>
                  <a:cubicBezTo>
                    <a:pt x="71882" y="990600"/>
                    <a:pt x="0" y="918718"/>
                    <a:pt x="0" y="830072"/>
                  </a:cubicBezTo>
                  <a:close/>
                </a:path>
              </a:pathLst>
            </a:custGeom>
            <a:solidFill>
              <a:srgbClr val="DFE8E4"/>
            </a:solidFill>
            <a:ln w="9526" cap="sq">
              <a:solidFill>
                <a:srgbClr val="B8C7C3"/>
              </a:solidFill>
              <a:prstDash val="solid"/>
              <a:miter/>
            </a:ln>
          </p:spPr>
        </p:sp>
      </p:grpSp>
      <p:grpSp>
        <p:nvGrpSpPr>
          <p:cNvPr id="64" name="Group 64"/>
          <p:cNvGrpSpPr/>
          <p:nvPr/>
        </p:nvGrpSpPr>
        <p:grpSpPr>
          <a:xfrm rot="0">
            <a:off x="6800402" y="4122096"/>
            <a:ext cx="337376" cy="209550"/>
            <a:chOff x="0" y="0"/>
            <a:chExt cx="449834" cy="279400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449837" cy="279400"/>
            </a:xfrm>
            <a:custGeom>
              <a:avLst/>
              <a:gdLst/>
              <a:ahLst/>
              <a:cxnLst/>
              <a:rect l="l" t="t" r="r" b="b"/>
              <a:pathLst>
                <a:path w="449837" h="279400">
                  <a:moveTo>
                    <a:pt x="0" y="0"/>
                  </a:moveTo>
                  <a:lnTo>
                    <a:pt x="449837" y="0"/>
                  </a:lnTo>
                  <a:lnTo>
                    <a:pt x="449837" y="279400"/>
                  </a:lnTo>
                  <a:lnTo>
                    <a:pt x="0" y="279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9691" r="-29690"/>
              </a:stretch>
            </a:blipFill>
          </p:spPr>
        </p:sp>
        <p:sp>
          <p:nvSpPr>
            <p:cNvPr id="66" name="TextBox 66"/>
            <p:cNvSpPr txBox="1"/>
            <p:nvPr/>
          </p:nvSpPr>
          <p:spPr>
            <a:xfrm>
              <a:off x="0" y="-9525"/>
              <a:ext cx="449834" cy="288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>
                  <a:solidFill>
                    <a:srgbClr val="C66A4A"/>
                  </a:solidFill>
                  <a:latin typeface="Arimo Bold" panose="020B0704020202020204"/>
                  <a:ea typeface="Arimo Bold" panose="020B0704020202020204"/>
                  <a:cs typeface="Arimo Bold" panose="020B0704020202020204"/>
                  <a:sym typeface="Arimo Bold" panose="020B0704020202020204"/>
                </a:rPr>
                <a:t>05</a:t>
              </a:r>
              <a:endParaRPr lang="en-US" sz="2000" b="1">
                <a:solidFill>
                  <a:srgbClr val="C66A4A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endParaRPr>
            </a:p>
          </p:txBody>
        </p:sp>
      </p:grpSp>
      <p:grpSp>
        <p:nvGrpSpPr>
          <p:cNvPr id="67" name="Group 67"/>
          <p:cNvGrpSpPr/>
          <p:nvPr/>
        </p:nvGrpSpPr>
        <p:grpSpPr>
          <a:xfrm rot="0">
            <a:off x="7090620" y="4006005"/>
            <a:ext cx="457200" cy="457200"/>
            <a:chOff x="0" y="0"/>
            <a:chExt cx="609600" cy="609600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cubicBezTo>
                    <a:pt x="473075" y="0"/>
                    <a:pt x="609600" y="136525"/>
                    <a:pt x="609600" y="304800"/>
                  </a:cubicBezTo>
                  <a:cubicBezTo>
                    <a:pt x="609600" y="473075"/>
                    <a:pt x="473075" y="609600"/>
                    <a:pt x="304800" y="609600"/>
                  </a:cubicBezTo>
                  <a:cubicBezTo>
                    <a:pt x="136525" y="609600"/>
                    <a:pt x="0" y="473075"/>
                    <a:pt x="0" y="304800"/>
                  </a:cubicBezTo>
                  <a:close/>
                </a:path>
              </a:pathLst>
            </a:custGeom>
            <a:solidFill>
              <a:srgbClr val="D5DFDB"/>
            </a:solidFill>
          </p:spPr>
        </p:sp>
      </p:grpSp>
      <p:grpSp>
        <p:nvGrpSpPr>
          <p:cNvPr id="69" name="Group 69"/>
          <p:cNvGrpSpPr/>
          <p:nvPr/>
        </p:nvGrpSpPr>
        <p:grpSpPr>
          <a:xfrm rot="0">
            <a:off x="7172916" y="4088311"/>
            <a:ext cx="292598" cy="292598"/>
            <a:chOff x="0" y="0"/>
            <a:chExt cx="390131" cy="390131"/>
          </a:xfrm>
        </p:grpSpPr>
        <p:sp>
          <p:nvSpPr>
            <p:cNvPr id="70" name="Freeform 70" descr="preencoded.png"/>
            <p:cNvSpPr/>
            <p:nvPr/>
          </p:nvSpPr>
          <p:spPr>
            <a:xfrm>
              <a:off x="0" y="0"/>
              <a:ext cx="390144" cy="390144"/>
            </a:xfrm>
            <a:custGeom>
              <a:avLst/>
              <a:gdLst/>
              <a:ahLst/>
              <a:cxnLst/>
              <a:rect l="l" t="t" r="r" b="b"/>
              <a:pathLst>
                <a:path w="390144" h="390144">
                  <a:moveTo>
                    <a:pt x="0" y="0"/>
                  </a:moveTo>
                  <a:lnTo>
                    <a:pt x="390144" y="0"/>
                  </a:lnTo>
                  <a:lnTo>
                    <a:pt x="390144" y="390144"/>
                  </a:lnTo>
                  <a:lnTo>
                    <a:pt x="0" y="3901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r="3" b="3"/>
              </a:stretch>
            </a:blipFill>
          </p:spPr>
        </p:sp>
      </p:grpSp>
      <p:grpSp>
        <p:nvGrpSpPr>
          <p:cNvPr id="71" name="Group 71"/>
          <p:cNvGrpSpPr/>
          <p:nvPr/>
        </p:nvGrpSpPr>
        <p:grpSpPr>
          <a:xfrm rot="0">
            <a:off x="7666434" y="4054681"/>
            <a:ext cx="2449859" cy="285443"/>
            <a:chOff x="0" y="0"/>
            <a:chExt cx="2615997" cy="304800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2616003" cy="304800"/>
            </a:xfrm>
            <a:custGeom>
              <a:avLst/>
              <a:gdLst/>
              <a:ahLst/>
              <a:cxnLst/>
              <a:rect l="l" t="t" r="r" b="b"/>
              <a:pathLst>
                <a:path w="2616003" h="304800">
                  <a:moveTo>
                    <a:pt x="0" y="0"/>
                  </a:moveTo>
                  <a:lnTo>
                    <a:pt x="2616003" y="0"/>
                  </a:lnTo>
                  <a:lnTo>
                    <a:pt x="2616003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17233" b="-117233"/>
              </a:stretch>
            </a:blipFill>
          </p:spPr>
        </p:sp>
        <p:sp>
          <p:nvSpPr>
            <p:cNvPr id="73" name="TextBox 73"/>
            <p:cNvSpPr txBox="1"/>
            <p:nvPr/>
          </p:nvSpPr>
          <p:spPr>
            <a:xfrm>
              <a:off x="0" y="-9525"/>
              <a:ext cx="2615997" cy="3143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24313A"/>
                  </a:solidFill>
                  <a:latin typeface="Arimo Bold" panose="020B0704020202020204"/>
                  <a:ea typeface="Arimo Bold" panose="020B0704020202020204"/>
                  <a:cs typeface="Arimo Bold" panose="020B0704020202020204"/>
                  <a:sym typeface="Arimo Bold" panose="020B0704020202020204"/>
                </a:rPr>
                <a:t>Risk Assessment</a:t>
              </a:r>
              <a:endParaRPr lang="en-US" sz="2100" b="1">
                <a:solidFill>
                  <a:srgbClr val="24313A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endParaRPr>
            </a:p>
          </p:txBody>
        </p:sp>
      </p:grpSp>
      <p:grpSp>
        <p:nvGrpSpPr>
          <p:cNvPr id="74" name="Group 74"/>
          <p:cNvGrpSpPr/>
          <p:nvPr/>
        </p:nvGrpSpPr>
        <p:grpSpPr>
          <a:xfrm rot="0">
            <a:off x="11793293" y="3863207"/>
            <a:ext cx="4991100" cy="742950"/>
            <a:chOff x="0" y="0"/>
            <a:chExt cx="6654800" cy="990600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6654800" cy="990600"/>
            </a:xfrm>
            <a:custGeom>
              <a:avLst/>
              <a:gdLst/>
              <a:ahLst/>
              <a:cxnLst/>
              <a:rect l="l" t="t" r="r" b="b"/>
              <a:pathLst>
                <a:path w="6654800" h="990600">
                  <a:moveTo>
                    <a:pt x="0" y="160528"/>
                  </a:moveTo>
                  <a:cubicBezTo>
                    <a:pt x="0" y="71882"/>
                    <a:pt x="71882" y="0"/>
                    <a:pt x="160528" y="0"/>
                  </a:cubicBezTo>
                  <a:lnTo>
                    <a:pt x="6494272" y="0"/>
                  </a:lnTo>
                  <a:cubicBezTo>
                    <a:pt x="6582918" y="0"/>
                    <a:pt x="6654800" y="71882"/>
                    <a:pt x="6654800" y="160528"/>
                  </a:cubicBezTo>
                  <a:lnTo>
                    <a:pt x="6654800" y="830072"/>
                  </a:lnTo>
                  <a:cubicBezTo>
                    <a:pt x="6654800" y="918718"/>
                    <a:pt x="6582918" y="990600"/>
                    <a:pt x="6494272" y="990600"/>
                  </a:cubicBezTo>
                  <a:lnTo>
                    <a:pt x="160528" y="990600"/>
                  </a:lnTo>
                  <a:cubicBezTo>
                    <a:pt x="71882" y="990600"/>
                    <a:pt x="0" y="918718"/>
                    <a:pt x="0" y="830072"/>
                  </a:cubicBezTo>
                  <a:close/>
                </a:path>
              </a:pathLst>
            </a:custGeom>
            <a:solidFill>
              <a:srgbClr val="DFE8E4"/>
            </a:solidFill>
            <a:ln w="9526" cap="sq">
              <a:solidFill>
                <a:srgbClr val="B8C7C3"/>
              </a:solidFill>
              <a:prstDash val="solid"/>
              <a:miter/>
            </a:ln>
          </p:spPr>
        </p:sp>
      </p:grpSp>
      <p:grpSp>
        <p:nvGrpSpPr>
          <p:cNvPr id="76" name="Group 76"/>
          <p:cNvGrpSpPr/>
          <p:nvPr/>
        </p:nvGrpSpPr>
        <p:grpSpPr>
          <a:xfrm rot="0">
            <a:off x="11945245" y="4122096"/>
            <a:ext cx="337376" cy="209550"/>
            <a:chOff x="0" y="0"/>
            <a:chExt cx="449834" cy="279400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449837" cy="279400"/>
            </a:xfrm>
            <a:custGeom>
              <a:avLst/>
              <a:gdLst/>
              <a:ahLst/>
              <a:cxnLst/>
              <a:rect l="l" t="t" r="r" b="b"/>
              <a:pathLst>
                <a:path w="449837" h="279400">
                  <a:moveTo>
                    <a:pt x="0" y="0"/>
                  </a:moveTo>
                  <a:lnTo>
                    <a:pt x="449837" y="0"/>
                  </a:lnTo>
                  <a:lnTo>
                    <a:pt x="449837" y="279400"/>
                  </a:lnTo>
                  <a:lnTo>
                    <a:pt x="0" y="279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9691" r="-29690"/>
              </a:stretch>
            </a:blipFill>
          </p:spPr>
        </p:sp>
        <p:sp>
          <p:nvSpPr>
            <p:cNvPr id="78" name="TextBox 78"/>
            <p:cNvSpPr txBox="1"/>
            <p:nvPr/>
          </p:nvSpPr>
          <p:spPr>
            <a:xfrm>
              <a:off x="0" y="-9525"/>
              <a:ext cx="449834" cy="288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>
                  <a:solidFill>
                    <a:srgbClr val="C66A4A"/>
                  </a:solidFill>
                  <a:latin typeface="Arimo Bold" panose="020B0704020202020204"/>
                  <a:ea typeface="Arimo Bold" panose="020B0704020202020204"/>
                  <a:cs typeface="Arimo Bold" panose="020B0704020202020204"/>
                  <a:sym typeface="Arimo Bold" panose="020B0704020202020204"/>
                </a:rPr>
                <a:t>06</a:t>
              </a:r>
              <a:endParaRPr lang="en-US" sz="2000" b="1">
                <a:solidFill>
                  <a:srgbClr val="C66A4A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endParaRPr>
            </a:p>
          </p:txBody>
        </p:sp>
      </p:grpSp>
      <p:grpSp>
        <p:nvGrpSpPr>
          <p:cNvPr id="79" name="Group 79"/>
          <p:cNvGrpSpPr/>
          <p:nvPr/>
        </p:nvGrpSpPr>
        <p:grpSpPr>
          <a:xfrm rot="0">
            <a:off x="12235463" y="4006005"/>
            <a:ext cx="457200" cy="457200"/>
            <a:chOff x="0" y="0"/>
            <a:chExt cx="609600" cy="609600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cubicBezTo>
                    <a:pt x="473075" y="0"/>
                    <a:pt x="609600" y="136525"/>
                    <a:pt x="609600" y="304800"/>
                  </a:cubicBezTo>
                  <a:cubicBezTo>
                    <a:pt x="609600" y="473075"/>
                    <a:pt x="473075" y="609600"/>
                    <a:pt x="304800" y="609600"/>
                  </a:cubicBezTo>
                  <a:cubicBezTo>
                    <a:pt x="136525" y="609600"/>
                    <a:pt x="0" y="473075"/>
                    <a:pt x="0" y="304800"/>
                  </a:cubicBezTo>
                  <a:close/>
                </a:path>
              </a:pathLst>
            </a:custGeom>
            <a:solidFill>
              <a:srgbClr val="D5DFDB"/>
            </a:solidFill>
          </p:spPr>
        </p:sp>
      </p:grpSp>
      <p:grpSp>
        <p:nvGrpSpPr>
          <p:cNvPr id="81" name="Group 81"/>
          <p:cNvGrpSpPr/>
          <p:nvPr/>
        </p:nvGrpSpPr>
        <p:grpSpPr>
          <a:xfrm rot="0">
            <a:off x="12317759" y="4088311"/>
            <a:ext cx="292598" cy="292598"/>
            <a:chOff x="0" y="0"/>
            <a:chExt cx="390131" cy="390131"/>
          </a:xfrm>
        </p:grpSpPr>
        <p:sp>
          <p:nvSpPr>
            <p:cNvPr id="82" name="Freeform 82" descr="preencoded.png"/>
            <p:cNvSpPr/>
            <p:nvPr/>
          </p:nvSpPr>
          <p:spPr>
            <a:xfrm>
              <a:off x="0" y="0"/>
              <a:ext cx="390144" cy="390144"/>
            </a:xfrm>
            <a:custGeom>
              <a:avLst/>
              <a:gdLst/>
              <a:ahLst/>
              <a:cxnLst/>
              <a:rect l="l" t="t" r="r" b="b"/>
              <a:pathLst>
                <a:path w="390144" h="390144">
                  <a:moveTo>
                    <a:pt x="0" y="0"/>
                  </a:moveTo>
                  <a:lnTo>
                    <a:pt x="390144" y="0"/>
                  </a:lnTo>
                  <a:lnTo>
                    <a:pt x="390144" y="390144"/>
                  </a:lnTo>
                  <a:lnTo>
                    <a:pt x="0" y="3901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r="3" b="3"/>
              </a:stretch>
            </a:blipFill>
          </p:spPr>
        </p:sp>
      </p:grpSp>
      <p:grpSp>
        <p:nvGrpSpPr>
          <p:cNvPr id="83" name="Group 83"/>
          <p:cNvGrpSpPr/>
          <p:nvPr/>
        </p:nvGrpSpPr>
        <p:grpSpPr>
          <a:xfrm rot="0">
            <a:off x="12811277" y="4084505"/>
            <a:ext cx="2889223" cy="255618"/>
            <a:chOff x="0" y="0"/>
            <a:chExt cx="3445116" cy="304800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3445112" cy="304800"/>
            </a:xfrm>
            <a:custGeom>
              <a:avLst/>
              <a:gdLst/>
              <a:ahLst/>
              <a:cxnLst/>
              <a:rect l="l" t="t" r="r" b="b"/>
              <a:pathLst>
                <a:path w="3445112" h="304800">
                  <a:moveTo>
                    <a:pt x="0" y="0"/>
                  </a:moveTo>
                  <a:lnTo>
                    <a:pt x="3445112" y="0"/>
                  </a:lnTo>
                  <a:lnTo>
                    <a:pt x="3445112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70236" b="-170236"/>
              </a:stretch>
            </a:blipFill>
          </p:spPr>
        </p:sp>
        <p:sp>
          <p:nvSpPr>
            <p:cNvPr id="85" name="TextBox 85"/>
            <p:cNvSpPr txBox="1"/>
            <p:nvPr/>
          </p:nvSpPr>
          <p:spPr>
            <a:xfrm>
              <a:off x="0" y="-9525"/>
              <a:ext cx="3445116" cy="3143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24313A"/>
                  </a:solidFill>
                  <a:latin typeface="Arimo Bold" panose="020B0704020202020204"/>
                  <a:ea typeface="Arimo Bold" panose="020B0704020202020204"/>
                  <a:cs typeface="Arimo Bold" panose="020B0704020202020204"/>
                  <a:sym typeface="Arimo Bold" panose="020B0704020202020204"/>
                </a:rPr>
                <a:t>Safety Alert / Warning</a:t>
              </a:r>
              <a:endParaRPr lang="en-US" sz="2100" b="1">
                <a:solidFill>
                  <a:srgbClr val="24313A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endParaRPr>
            </a:p>
          </p:txBody>
        </p:sp>
      </p:grpSp>
      <p:grpSp>
        <p:nvGrpSpPr>
          <p:cNvPr id="86" name="Group 86"/>
          <p:cNvGrpSpPr/>
          <p:nvPr/>
        </p:nvGrpSpPr>
        <p:grpSpPr>
          <a:xfrm rot="0">
            <a:off x="1503607" y="4757957"/>
            <a:ext cx="4991100" cy="742950"/>
            <a:chOff x="0" y="0"/>
            <a:chExt cx="6654800" cy="990600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6654800" cy="990600"/>
            </a:xfrm>
            <a:custGeom>
              <a:avLst/>
              <a:gdLst/>
              <a:ahLst/>
              <a:cxnLst/>
              <a:rect l="l" t="t" r="r" b="b"/>
              <a:pathLst>
                <a:path w="6654800" h="990600">
                  <a:moveTo>
                    <a:pt x="0" y="160528"/>
                  </a:moveTo>
                  <a:cubicBezTo>
                    <a:pt x="0" y="71882"/>
                    <a:pt x="71882" y="0"/>
                    <a:pt x="160528" y="0"/>
                  </a:cubicBezTo>
                  <a:lnTo>
                    <a:pt x="6494272" y="0"/>
                  </a:lnTo>
                  <a:cubicBezTo>
                    <a:pt x="6582918" y="0"/>
                    <a:pt x="6654800" y="71882"/>
                    <a:pt x="6654800" y="160528"/>
                  </a:cubicBezTo>
                  <a:lnTo>
                    <a:pt x="6654800" y="830072"/>
                  </a:lnTo>
                  <a:cubicBezTo>
                    <a:pt x="6654800" y="918718"/>
                    <a:pt x="6582918" y="990600"/>
                    <a:pt x="6494272" y="990600"/>
                  </a:cubicBezTo>
                  <a:lnTo>
                    <a:pt x="160528" y="990600"/>
                  </a:lnTo>
                  <a:cubicBezTo>
                    <a:pt x="71882" y="990600"/>
                    <a:pt x="0" y="918718"/>
                    <a:pt x="0" y="830072"/>
                  </a:cubicBezTo>
                  <a:close/>
                </a:path>
              </a:pathLst>
            </a:custGeom>
            <a:solidFill>
              <a:srgbClr val="DFE8E4"/>
            </a:solidFill>
            <a:ln w="9526" cap="sq">
              <a:solidFill>
                <a:srgbClr val="B8C7C3"/>
              </a:solidFill>
              <a:prstDash val="solid"/>
              <a:miter/>
            </a:ln>
          </p:spPr>
        </p:sp>
      </p:grpSp>
      <p:grpSp>
        <p:nvGrpSpPr>
          <p:cNvPr id="88" name="Group 88"/>
          <p:cNvGrpSpPr/>
          <p:nvPr/>
        </p:nvGrpSpPr>
        <p:grpSpPr>
          <a:xfrm rot="0">
            <a:off x="1655559" y="5016846"/>
            <a:ext cx="337376" cy="209550"/>
            <a:chOff x="0" y="0"/>
            <a:chExt cx="449834" cy="279400"/>
          </a:xfrm>
        </p:grpSpPr>
        <p:sp>
          <p:nvSpPr>
            <p:cNvPr id="89" name="Freeform 89"/>
            <p:cNvSpPr/>
            <p:nvPr/>
          </p:nvSpPr>
          <p:spPr>
            <a:xfrm>
              <a:off x="0" y="0"/>
              <a:ext cx="449837" cy="279400"/>
            </a:xfrm>
            <a:custGeom>
              <a:avLst/>
              <a:gdLst/>
              <a:ahLst/>
              <a:cxnLst/>
              <a:rect l="l" t="t" r="r" b="b"/>
              <a:pathLst>
                <a:path w="449837" h="279400">
                  <a:moveTo>
                    <a:pt x="0" y="0"/>
                  </a:moveTo>
                  <a:lnTo>
                    <a:pt x="449837" y="0"/>
                  </a:lnTo>
                  <a:lnTo>
                    <a:pt x="449837" y="279400"/>
                  </a:lnTo>
                  <a:lnTo>
                    <a:pt x="0" y="279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9691" r="-29690"/>
              </a:stretch>
            </a:blipFill>
          </p:spPr>
        </p:sp>
        <p:sp>
          <p:nvSpPr>
            <p:cNvPr id="90" name="TextBox 90"/>
            <p:cNvSpPr txBox="1"/>
            <p:nvPr/>
          </p:nvSpPr>
          <p:spPr>
            <a:xfrm>
              <a:off x="0" y="-9525"/>
              <a:ext cx="449834" cy="288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>
                  <a:solidFill>
                    <a:srgbClr val="C66A4A"/>
                  </a:solidFill>
                  <a:latin typeface="Arimo Bold" panose="020B0704020202020204"/>
                  <a:ea typeface="Arimo Bold" panose="020B0704020202020204"/>
                  <a:cs typeface="Arimo Bold" panose="020B0704020202020204"/>
                  <a:sym typeface="Arimo Bold" panose="020B0704020202020204"/>
                </a:rPr>
                <a:t>07</a:t>
              </a:r>
              <a:endParaRPr lang="en-US" sz="2000" b="1">
                <a:solidFill>
                  <a:srgbClr val="C66A4A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endParaRPr>
            </a:p>
          </p:txBody>
        </p:sp>
      </p:grpSp>
      <p:grpSp>
        <p:nvGrpSpPr>
          <p:cNvPr id="91" name="Group 91"/>
          <p:cNvGrpSpPr/>
          <p:nvPr/>
        </p:nvGrpSpPr>
        <p:grpSpPr>
          <a:xfrm rot="0">
            <a:off x="1945777" y="4900765"/>
            <a:ext cx="457200" cy="457200"/>
            <a:chOff x="0" y="0"/>
            <a:chExt cx="609600" cy="609600"/>
          </a:xfrm>
        </p:grpSpPr>
        <p:sp>
          <p:nvSpPr>
            <p:cNvPr id="92" name="Freeform 92"/>
            <p:cNvSpPr/>
            <p:nvPr/>
          </p:nvSpPr>
          <p:spPr>
            <a:xfrm>
              <a:off x="0" y="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cubicBezTo>
                    <a:pt x="473075" y="0"/>
                    <a:pt x="609600" y="136525"/>
                    <a:pt x="609600" y="304800"/>
                  </a:cubicBezTo>
                  <a:cubicBezTo>
                    <a:pt x="609600" y="473075"/>
                    <a:pt x="473075" y="609600"/>
                    <a:pt x="304800" y="609600"/>
                  </a:cubicBezTo>
                  <a:cubicBezTo>
                    <a:pt x="136525" y="609600"/>
                    <a:pt x="0" y="473075"/>
                    <a:pt x="0" y="304800"/>
                  </a:cubicBezTo>
                  <a:close/>
                </a:path>
              </a:pathLst>
            </a:custGeom>
            <a:solidFill>
              <a:srgbClr val="D5DFDB"/>
            </a:solidFill>
          </p:spPr>
        </p:sp>
      </p:grpSp>
      <p:grpSp>
        <p:nvGrpSpPr>
          <p:cNvPr id="93" name="Group 93"/>
          <p:cNvGrpSpPr/>
          <p:nvPr/>
        </p:nvGrpSpPr>
        <p:grpSpPr>
          <a:xfrm rot="0">
            <a:off x="2028082" y="4983061"/>
            <a:ext cx="292598" cy="292598"/>
            <a:chOff x="0" y="0"/>
            <a:chExt cx="390131" cy="390131"/>
          </a:xfrm>
        </p:grpSpPr>
        <p:sp>
          <p:nvSpPr>
            <p:cNvPr id="94" name="Freeform 94" descr="preencoded.png"/>
            <p:cNvSpPr/>
            <p:nvPr/>
          </p:nvSpPr>
          <p:spPr>
            <a:xfrm>
              <a:off x="0" y="0"/>
              <a:ext cx="390144" cy="390144"/>
            </a:xfrm>
            <a:custGeom>
              <a:avLst/>
              <a:gdLst/>
              <a:ahLst/>
              <a:cxnLst/>
              <a:rect l="l" t="t" r="r" b="b"/>
              <a:pathLst>
                <a:path w="390144" h="390144">
                  <a:moveTo>
                    <a:pt x="0" y="0"/>
                  </a:moveTo>
                  <a:lnTo>
                    <a:pt x="390144" y="0"/>
                  </a:lnTo>
                  <a:lnTo>
                    <a:pt x="390144" y="390144"/>
                  </a:lnTo>
                  <a:lnTo>
                    <a:pt x="0" y="3901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r="3" b="3"/>
              </a:stretch>
            </a:blipFill>
          </p:spPr>
        </p:sp>
      </p:grpSp>
      <p:grpSp>
        <p:nvGrpSpPr>
          <p:cNvPr id="95" name="Group 95"/>
          <p:cNvGrpSpPr/>
          <p:nvPr/>
        </p:nvGrpSpPr>
        <p:grpSpPr>
          <a:xfrm rot="0">
            <a:off x="2521591" y="4923989"/>
            <a:ext cx="3593459" cy="310894"/>
            <a:chOff x="0" y="0"/>
            <a:chExt cx="3523018" cy="304800"/>
          </a:xfrm>
        </p:grpSpPr>
        <p:sp>
          <p:nvSpPr>
            <p:cNvPr id="96" name="Freeform 96"/>
            <p:cNvSpPr/>
            <p:nvPr/>
          </p:nvSpPr>
          <p:spPr>
            <a:xfrm>
              <a:off x="0" y="0"/>
              <a:ext cx="3523019" cy="304800"/>
            </a:xfrm>
            <a:custGeom>
              <a:avLst/>
              <a:gdLst/>
              <a:ahLst/>
              <a:cxnLst/>
              <a:rect l="l" t="t" r="r" b="b"/>
              <a:pathLst>
                <a:path w="3523019" h="304800">
                  <a:moveTo>
                    <a:pt x="0" y="0"/>
                  </a:moveTo>
                  <a:lnTo>
                    <a:pt x="3523019" y="0"/>
                  </a:lnTo>
                  <a:lnTo>
                    <a:pt x="3523019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75217" b="-175217"/>
              </a:stretch>
            </a:blipFill>
          </p:spPr>
        </p:sp>
        <p:sp>
          <p:nvSpPr>
            <p:cNvPr id="97" name="TextBox 97"/>
            <p:cNvSpPr txBox="1"/>
            <p:nvPr/>
          </p:nvSpPr>
          <p:spPr>
            <a:xfrm>
              <a:off x="0" y="-9525"/>
              <a:ext cx="3523018" cy="3143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24313A"/>
                  </a:solidFill>
                  <a:latin typeface="Arimo Bold" panose="020B0704020202020204"/>
                  <a:ea typeface="Arimo Bold" panose="020B0704020202020204"/>
                  <a:cs typeface="Arimo Bold" panose="020B0704020202020204"/>
                  <a:sym typeface="Arimo Bold" panose="020B0704020202020204"/>
                </a:rPr>
                <a:t>SOS or Incident Report</a:t>
              </a:r>
              <a:endParaRPr lang="en-US" sz="2100" b="1">
                <a:solidFill>
                  <a:srgbClr val="24313A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endParaRPr>
            </a:p>
          </p:txBody>
        </p:sp>
      </p:grpSp>
      <p:grpSp>
        <p:nvGrpSpPr>
          <p:cNvPr id="98" name="Group 98"/>
          <p:cNvGrpSpPr/>
          <p:nvPr/>
        </p:nvGrpSpPr>
        <p:grpSpPr>
          <a:xfrm rot="0">
            <a:off x="6648450" y="4757957"/>
            <a:ext cx="4991100" cy="742950"/>
            <a:chOff x="0" y="0"/>
            <a:chExt cx="6654800" cy="990600"/>
          </a:xfrm>
        </p:grpSpPr>
        <p:sp>
          <p:nvSpPr>
            <p:cNvPr id="99" name="Freeform 99"/>
            <p:cNvSpPr/>
            <p:nvPr/>
          </p:nvSpPr>
          <p:spPr>
            <a:xfrm>
              <a:off x="0" y="0"/>
              <a:ext cx="6654800" cy="990600"/>
            </a:xfrm>
            <a:custGeom>
              <a:avLst/>
              <a:gdLst/>
              <a:ahLst/>
              <a:cxnLst/>
              <a:rect l="l" t="t" r="r" b="b"/>
              <a:pathLst>
                <a:path w="6654800" h="990600">
                  <a:moveTo>
                    <a:pt x="0" y="160528"/>
                  </a:moveTo>
                  <a:cubicBezTo>
                    <a:pt x="0" y="71882"/>
                    <a:pt x="71882" y="0"/>
                    <a:pt x="160528" y="0"/>
                  </a:cubicBezTo>
                  <a:lnTo>
                    <a:pt x="6494272" y="0"/>
                  </a:lnTo>
                  <a:cubicBezTo>
                    <a:pt x="6582918" y="0"/>
                    <a:pt x="6654800" y="71882"/>
                    <a:pt x="6654800" y="160528"/>
                  </a:cubicBezTo>
                  <a:lnTo>
                    <a:pt x="6654800" y="830072"/>
                  </a:lnTo>
                  <a:cubicBezTo>
                    <a:pt x="6654800" y="918718"/>
                    <a:pt x="6582918" y="990600"/>
                    <a:pt x="6494272" y="990600"/>
                  </a:cubicBezTo>
                  <a:lnTo>
                    <a:pt x="160528" y="990600"/>
                  </a:lnTo>
                  <a:cubicBezTo>
                    <a:pt x="71882" y="990600"/>
                    <a:pt x="0" y="918718"/>
                    <a:pt x="0" y="830072"/>
                  </a:cubicBezTo>
                  <a:close/>
                </a:path>
              </a:pathLst>
            </a:custGeom>
            <a:solidFill>
              <a:srgbClr val="DFE8E4"/>
            </a:solidFill>
            <a:ln w="9526" cap="sq">
              <a:solidFill>
                <a:srgbClr val="B8C7C3"/>
              </a:solidFill>
              <a:prstDash val="solid"/>
              <a:miter/>
            </a:ln>
          </p:spPr>
        </p:sp>
      </p:grpSp>
      <p:grpSp>
        <p:nvGrpSpPr>
          <p:cNvPr id="100" name="Group 100"/>
          <p:cNvGrpSpPr/>
          <p:nvPr/>
        </p:nvGrpSpPr>
        <p:grpSpPr>
          <a:xfrm rot="0">
            <a:off x="6800402" y="5016846"/>
            <a:ext cx="337376" cy="209550"/>
            <a:chOff x="0" y="0"/>
            <a:chExt cx="449834" cy="279400"/>
          </a:xfrm>
        </p:grpSpPr>
        <p:sp>
          <p:nvSpPr>
            <p:cNvPr id="101" name="Freeform 101"/>
            <p:cNvSpPr/>
            <p:nvPr/>
          </p:nvSpPr>
          <p:spPr>
            <a:xfrm>
              <a:off x="0" y="0"/>
              <a:ext cx="449837" cy="279400"/>
            </a:xfrm>
            <a:custGeom>
              <a:avLst/>
              <a:gdLst/>
              <a:ahLst/>
              <a:cxnLst/>
              <a:rect l="l" t="t" r="r" b="b"/>
              <a:pathLst>
                <a:path w="449837" h="279400">
                  <a:moveTo>
                    <a:pt x="0" y="0"/>
                  </a:moveTo>
                  <a:lnTo>
                    <a:pt x="449837" y="0"/>
                  </a:lnTo>
                  <a:lnTo>
                    <a:pt x="449837" y="279400"/>
                  </a:lnTo>
                  <a:lnTo>
                    <a:pt x="0" y="279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9691" r="-29690"/>
              </a:stretch>
            </a:blipFill>
          </p:spPr>
        </p:sp>
        <p:sp>
          <p:nvSpPr>
            <p:cNvPr id="102" name="TextBox 102"/>
            <p:cNvSpPr txBox="1"/>
            <p:nvPr/>
          </p:nvSpPr>
          <p:spPr>
            <a:xfrm>
              <a:off x="0" y="-9525"/>
              <a:ext cx="449834" cy="288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>
                  <a:solidFill>
                    <a:srgbClr val="C66A4A"/>
                  </a:solidFill>
                  <a:latin typeface="Arimo Bold" panose="020B0704020202020204"/>
                  <a:ea typeface="Arimo Bold" panose="020B0704020202020204"/>
                  <a:cs typeface="Arimo Bold" panose="020B0704020202020204"/>
                  <a:sym typeface="Arimo Bold" panose="020B0704020202020204"/>
                </a:rPr>
                <a:t>08</a:t>
              </a:r>
              <a:endParaRPr lang="en-US" sz="2000" b="1">
                <a:solidFill>
                  <a:srgbClr val="C66A4A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endParaRPr>
            </a:p>
          </p:txBody>
        </p:sp>
      </p:grpSp>
      <p:grpSp>
        <p:nvGrpSpPr>
          <p:cNvPr id="103" name="Group 103"/>
          <p:cNvGrpSpPr/>
          <p:nvPr/>
        </p:nvGrpSpPr>
        <p:grpSpPr>
          <a:xfrm rot="0">
            <a:off x="7090620" y="4900765"/>
            <a:ext cx="457200" cy="457200"/>
            <a:chOff x="0" y="0"/>
            <a:chExt cx="609600" cy="609600"/>
          </a:xfrm>
        </p:grpSpPr>
        <p:sp>
          <p:nvSpPr>
            <p:cNvPr id="104" name="Freeform 104"/>
            <p:cNvSpPr/>
            <p:nvPr/>
          </p:nvSpPr>
          <p:spPr>
            <a:xfrm>
              <a:off x="0" y="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cubicBezTo>
                    <a:pt x="473075" y="0"/>
                    <a:pt x="609600" y="136525"/>
                    <a:pt x="609600" y="304800"/>
                  </a:cubicBezTo>
                  <a:cubicBezTo>
                    <a:pt x="609600" y="473075"/>
                    <a:pt x="473075" y="609600"/>
                    <a:pt x="304800" y="609600"/>
                  </a:cubicBezTo>
                  <a:cubicBezTo>
                    <a:pt x="136525" y="609600"/>
                    <a:pt x="0" y="473075"/>
                    <a:pt x="0" y="304800"/>
                  </a:cubicBezTo>
                  <a:close/>
                </a:path>
              </a:pathLst>
            </a:custGeom>
            <a:solidFill>
              <a:srgbClr val="D5DFDB"/>
            </a:solidFill>
          </p:spPr>
        </p:sp>
      </p:grpSp>
      <p:grpSp>
        <p:nvGrpSpPr>
          <p:cNvPr id="105" name="Group 105"/>
          <p:cNvGrpSpPr/>
          <p:nvPr/>
        </p:nvGrpSpPr>
        <p:grpSpPr>
          <a:xfrm rot="0">
            <a:off x="7172916" y="4983061"/>
            <a:ext cx="292598" cy="292598"/>
            <a:chOff x="0" y="0"/>
            <a:chExt cx="390131" cy="390131"/>
          </a:xfrm>
        </p:grpSpPr>
        <p:sp>
          <p:nvSpPr>
            <p:cNvPr id="106" name="Freeform 106" descr="preencoded.png"/>
            <p:cNvSpPr/>
            <p:nvPr/>
          </p:nvSpPr>
          <p:spPr>
            <a:xfrm>
              <a:off x="0" y="0"/>
              <a:ext cx="390144" cy="390144"/>
            </a:xfrm>
            <a:custGeom>
              <a:avLst/>
              <a:gdLst/>
              <a:ahLst/>
              <a:cxnLst/>
              <a:rect l="l" t="t" r="r" b="b"/>
              <a:pathLst>
                <a:path w="390144" h="390144">
                  <a:moveTo>
                    <a:pt x="0" y="0"/>
                  </a:moveTo>
                  <a:lnTo>
                    <a:pt x="390144" y="0"/>
                  </a:lnTo>
                  <a:lnTo>
                    <a:pt x="390144" y="390144"/>
                  </a:lnTo>
                  <a:lnTo>
                    <a:pt x="0" y="3901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r="3" b="3"/>
              </a:stretch>
            </a:blipFill>
          </p:spPr>
        </p:sp>
      </p:grpSp>
      <p:grpSp>
        <p:nvGrpSpPr>
          <p:cNvPr id="107" name="Group 107"/>
          <p:cNvGrpSpPr/>
          <p:nvPr/>
        </p:nvGrpSpPr>
        <p:grpSpPr>
          <a:xfrm rot="0">
            <a:off x="7666434" y="4983061"/>
            <a:ext cx="2708628" cy="251822"/>
            <a:chOff x="0" y="0"/>
            <a:chExt cx="3278467" cy="304800"/>
          </a:xfrm>
        </p:grpSpPr>
        <p:sp>
          <p:nvSpPr>
            <p:cNvPr id="108" name="Freeform 108"/>
            <p:cNvSpPr/>
            <p:nvPr/>
          </p:nvSpPr>
          <p:spPr>
            <a:xfrm>
              <a:off x="0" y="0"/>
              <a:ext cx="3278464" cy="304800"/>
            </a:xfrm>
            <a:custGeom>
              <a:avLst/>
              <a:gdLst/>
              <a:ahLst/>
              <a:cxnLst/>
              <a:rect l="l" t="t" r="r" b="b"/>
              <a:pathLst>
                <a:path w="3278464" h="304800">
                  <a:moveTo>
                    <a:pt x="0" y="0"/>
                  </a:moveTo>
                  <a:lnTo>
                    <a:pt x="3278464" y="0"/>
                  </a:lnTo>
                  <a:lnTo>
                    <a:pt x="3278464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59583" b="-159583"/>
              </a:stretch>
            </a:blipFill>
          </p:spPr>
        </p:sp>
        <p:sp>
          <p:nvSpPr>
            <p:cNvPr id="109" name="TextBox 109"/>
            <p:cNvSpPr txBox="1"/>
            <p:nvPr/>
          </p:nvSpPr>
          <p:spPr>
            <a:xfrm>
              <a:off x="0" y="-9525"/>
              <a:ext cx="3278467" cy="3143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24313A"/>
                  </a:solidFill>
                  <a:latin typeface="Arimo Bold" panose="020B0704020202020204"/>
                  <a:ea typeface="Arimo Bold" panose="020B0704020202020204"/>
                  <a:cs typeface="Arimo Bold" panose="020B0704020202020204"/>
                  <a:sym typeface="Arimo Bold" panose="020B0704020202020204"/>
                </a:rPr>
                <a:t>Authority Dashboard</a:t>
              </a:r>
              <a:endParaRPr lang="en-US" sz="2100" b="1">
                <a:solidFill>
                  <a:srgbClr val="24313A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endParaRPr>
            </a:p>
          </p:txBody>
        </p:sp>
      </p:grpSp>
      <p:grpSp>
        <p:nvGrpSpPr>
          <p:cNvPr id="110" name="Group 110"/>
          <p:cNvGrpSpPr/>
          <p:nvPr/>
        </p:nvGrpSpPr>
        <p:grpSpPr>
          <a:xfrm rot="0">
            <a:off x="11793293" y="4757957"/>
            <a:ext cx="4991100" cy="742950"/>
            <a:chOff x="0" y="0"/>
            <a:chExt cx="6654800" cy="990600"/>
          </a:xfrm>
        </p:grpSpPr>
        <p:sp>
          <p:nvSpPr>
            <p:cNvPr id="111" name="Freeform 111"/>
            <p:cNvSpPr/>
            <p:nvPr/>
          </p:nvSpPr>
          <p:spPr>
            <a:xfrm>
              <a:off x="0" y="0"/>
              <a:ext cx="6654800" cy="990600"/>
            </a:xfrm>
            <a:custGeom>
              <a:avLst/>
              <a:gdLst/>
              <a:ahLst/>
              <a:cxnLst/>
              <a:rect l="l" t="t" r="r" b="b"/>
              <a:pathLst>
                <a:path w="6654800" h="990600">
                  <a:moveTo>
                    <a:pt x="0" y="160528"/>
                  </a:moveTo>
                  <a:cubicBezTo>
                    <a:pt x="0" y="71882"/>
                    <a:pt x="71882" y="0"/>
                    <a:pt x="160528" y="0"/>
                  </a:cubicBezTo>
                  <a:lnTo>
                    <a:pt x="6494272" y="0"/>
                  </a:lnTo>
                  <a:cubicBezTo>
                    <a:pt x="6582918" y="0"/>
                    <a:pt x="6654800" y="71882"/>
                    <a:pt x="6654800" y="160528"/>
                  </a:cubicBezTo>
                  <a:lnTo>
                    <a:pt x="6654800" y="830072"/>
                  </a:lnTo>
                  <a:cubicBezTo>
                    <a:pt x="6654800" y="918718"/>
                    <a:pt x="6582918" y="990600"/>
                    <a:pt x="6494272" y="990600"/>
                  </a:cubicBezTo>
                  <a:lnTo>
                    <a:pt x="160528" y="990600"/>
                  </a:lnTo>
                  <a:cubicBezTo>
                    <a:pt x="71882" y="990600"/>
                    <a:pt x="0" y="918718"/>
                    <a:pt x="0" y="830072"/>
                  </a:cubicBezTo>
                  <a:close/>
                </a:path>
              </a:pathLst>
            </a:custGeom>
            <a:solidFill>
              <a:srgbClr val="DFE8E4"/>
            </a:solidFill>
            <a:ln w="9526" cap="sq">
              <a:solidFill>
                <a:srgbClr val="B8C7C3"/>
              </a:solidFill>
              <a:prstDash val="solid"/>
              <a:miter/>
            </a:ln>
          </p:spPr>
        </p:sp>
      </p:grpSp>
      <p:grpSp>
        <p:nvGrpSpPr>
          <p:cNvPr id="112" name="Group 112"/>
          <p:cNvGrpSpPr/>
          <p:nvPr/>
        </p:nvGrpSpPr>
        <p:grpSpPr>
          <a:xfrm rot="0">
            <a:off x="11945245" y="5016846"/>
            <a:ext cx="337376" cy="209550"/>
            <a:chOff x="0" y="0"/>
            <a:chExt cx="449834" cy="279400"/>
          </a:xfrm>
        </p:grpSpPr>
        <p:sp>
          <p:nvSpPr>
            <p:cNvPr id="113" name="Freeform 113"/>
            <p:cNvSpPr/>
            <p:nvPr/>
          </p:nvSpPr>
          <p:spPr>
            <a:xfrm>
              <a:off x="0" y="0"/>
              <a:ext cx="449837" cy="279400"/>
            </a:xfrm>
            <a:custGeom>
              <a:avLst/>
              <a:gdLst/>
              <a:ahLst/>
              <a:cxnLst/>
              <a:rect l="l" t="t" r="r" b="b"/>
              <a:pathLst>
                <a:path w="449837" h="279400">
                  <a:moveTo>
                    <a:pt x="0" y="0"/>
                  </a:moveTo>
                  <a:lnTo>
                    <a:pt x="449837" y="0"/>
                  </a:lnTo>
                  <a:lnTo>
                    <a:pt x="449837" y="279400"/>
                  </a:lnTo>
                  <a:lnTo>
                    <a:pt x="0" y="279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9691" r="-29690"/>
              </a:stretch>
            </a:blipFill>
          </p:spPr>
        </p:sp>
        <p:sp>
          <p:nvSpPr>
            <p:cNvPr id="114" name="TextBox 114"/>
            <p:cNvSpPr txBox="1"/>
            <p:nvPr/>
          </p:nvSpPr>
          <p:spPr>
            <a:xfrm>
              <a:off x="0" y="-9525"/>
              <a:ext cx="449834" cy="288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>
                  <a:solidFill>
                    <a:srgbClr val="C66A4A"/>
                  </a:solidFill>
                  <a:latin typeface="Arimo Bold" panose="020B0704020202020204"/>
                  <a:ea typeface="Arimo Bold" panose="020B0704020202020204"/>
                  <a:cs typeface="Arimo Bold" panose="020B0704020202020204"/>
                  <a:sym typeface="Arimo Bold" panose="020B0704020202020204"/>
                </a:rPr>
                <a:t>09</a:t>
              </a:r>
              <a:endParaRPr lang="en-US" sz="2000" b="1">
                <a:solidFill>
                  <a:srgbClr val="C66A4A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endParaRPr>
            </a:p>
          </p:txBody>
        </p:sp>
      </p:grpSp>
      <p:grpSp>
        <p:nvGrpSpPr>
          <p:cNvPr id="115" name="Group 115"/>
          <p:cNvGrpSpPr/>
          <p:nvPr/>
        </p:nvGrpSpPr>
        <p:grpSpPr>
          <a:xfrm rot="0">
            <a:off x="12235463" y="4900765"/>
            <a:ext cx="457200" cy="457200"/>
            <a:chOff x="0" y="0"/>
            <a:chExt cx="609600" cy="609600"/>
          </a:xfrm>
        </p:grpSpPr>
        <p:sp>
          <p:nvSpPr>
            <p:cNvPr id="116" name="Freeform 116"/>
            <p:cNvSpPr/>
            <p:nvPr/>
          </p:nvSpPr>
          <p:spPr>
            <a:xfrm>
              <a:off x="0" y="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cubicBezTo>
                    <a:pt x="473075" y="0"/>
                    <a:pt x="609600" y="136525"/>
                    <a:pt x="609600" y="304800"/>
                  </a:cubicBezTo>
                  <a:cubicBezTo>
                    <a:pt x="609600" y="473075"/>
                    <a:pt x="473075" y="609600"/>
                    <a:pt x="304800" y="609600"/>
                  </a:cubicBezTo>
                  <a:cubicBezTo>
                    <a:pt x="136525" y="609600"/>
                    <a:pt x="0" y="473075"/>
                    <a:pt x="0" y="304800"/>
                  </a:cubicBezTo>
                  <a:close/>
                </a:path>
              </a:pathLst>
            </a:custGeom>
            <a:solidFill>
              <a:srgbClr val="D5DFDB"/>
            </a:solidFill>
          </p:spPr>
        </p:sp>
      </p:grpSp>
      <p:grpSp>
        <p:nvGrpSpPr>
          <p:cNvPr id="117" name="Group 117"/>
          <p:cNvGrpSpPr/>
          <p:nvPr/>
        </p:nvGrpSpPr>
        <p:grpSpPr>
          <a:xfrm rot="0">
            <a:off x="12317759" y="4983061"/>
            <a:ext cx="292598" cy="292598"/>
            <a:chOff x="0" y="0"/>
            <a:chExt cx="390131" cy="390131"/>
          </a:xfrm>
        </p:grpSpPr>
        <p:sp>
          <p:nvSpPr>
            <p:cNvPr id="118" name="Freeform 118" descr="preencoded.png"/>
            <p:cNvSpPr/>
            <p:nvPr/>
          </p:nvSpPr>
          <p:spPr>
            <a:xfrm>
              <a:off x="0" y="0"/>
              <a:ext cx="390144" cy="390144"/>
            </a:xfrm>
            <a:custGeom>
              <a:avLst/>
              <a:gdLst/>
              <a:ahLst/>
              <a:cxnLst/>
              <a:rect l="l" t="t" r="r" b="b"/>
              <a:pathLst>
                <a:path w="390144" h="390144">
                  <a:moveTo>
                    <a:pt x="0" y="0"/>
                  </a:moveTo>
                  <a:lnTo>
                    <a:pt x="390144" y="0"/>
                  </a:lnTo>
                  <a:lnTo>
                    <a:pt x="390144" y="390144"/>
                  </a:lnTo>
                  <a:lnTo>
                    <a:pt x="0" y="3901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r="3" b="3"/>
              </a:stretch>
            </a:blipFill>
          </p:spPr>
        </p:sp>
      </p:grpSp>
      <p:grpSp>
        <p:nvGrpSpPr>
          <p:cNvPr id="119" name="Group 119"/>
          <p:cNvGrpSpPr/>
          <p:nvPr/>
        </p:nvGrpSpPr>
        <p:grpSpPr>
          <a:xfrm rot="0">
            <a:off x="12730763" y="4967362"/>
            <a:ext cx="4262037" cy="267521"/>
            <a:chOff x="0" y="0"/>
            <a:chExt cx="4855947" cy="304800"/>
          </a:xfrm>
        </p:grpSpPr>
        <p:sp>
          <p:nvSpPr>
            <p:cNvPr id="120" name="Freeform 120"/>
            <p:cNvSpPr/>
            <p:nvPr/>
          </p:nvSpPr>
          <p:spPr>
            <a:xfrm>
              <a:off x="0" y="0"/>
              <a:ext cx="4855944" cy="304800"/>
            </a:xfrm>
            <a:custGeom>
              <a:avLst/>
              <a:gdLst/>
              <a:ahLst/>
              <a:cxnLst/>
              <a:rect l="l" t="t" r="r" b="b"/>
              <a:pathLst>
                <a:path w="4855944" h="304800">
                  <a:moveTo>
                    <a:pt x="0" y="0"/>
                  </a:moveTo>
                  <a:lnTo>
                    <a:pt x="4855944" y="0"/>
                  </a:lnTo>
                  <a:lnTo>
                    <a:pt x="4855944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60427" b="-260427"/>
              </a:stretch>
            </a:blipFill>
          </p:spPr>
        </p:sp>
        <p:sp>
          <p:nvSpPr>
            <p:cNvPr id="121" name="TextBox 121"/>
            <p:cNvSpPr txBox="1"/>
            <p:nvPr/>
          </p:nvSpPr>
          <p:spPr>
            <a:xfrm>
              <a:off x="0" y="-9525"/>
              <a:ext cx="4855947" cy="3143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24313A"/>
                  </a:solidFill>
                  <a:latin typeface="Arimo Bold" panose="020B0704020202020204"/>
                  <a:ea typeface="Arimo Bold" panose="020B0704020202020204"/>
                  <a:cs typeface="Arimo Bold" panose="020B0704020202020204"/>
                  <a:sym typeface="Arimo Bold" panose="020B0704020202020204"/>
                </a:rPr>
                <a:t>Response &amp; Incident Resolution</a:t>
              </a:r>
              <a:endParaRPr lang="en-US" sz="2100" b="1">
                <a:solidFill>
                  <a:srgbClr val="24313A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endParaRPr>
            </a:p>
          </p:txBody>
        </p:sp>
      </p:grpSp>
      <p:grpSp>
        <p:nvGrpSpPr>
          <p:cNvPr id="122" name="Group 122"/>
          <p:cNvGrpSpPr/>
          <p:nvPr/>
        </p:nvGrpSpPr>
        <p:grpSpPr>
          <a:xfrm rot="0">
            <a:off x="1012341" y="5970999"/>
            <a:ext cx="9315941" cy="2640186"/>
            <a:chOff x="0" y="0"/>
            <a:chExt cx="11785600" cy="3340100"/>
          </a:xfrm>
        </p:grpSpPr>
        <p:sp>
          <p:nvSpPr>
            <p:cNvPr id="123" name="Freeform 123"/>
            <p:cNvSpPr/>
            <p:nvPr/>
          </p:nvSpPr>
          <p:spPr>
            <a:xfrm>
              <a:off x="0" y="0"/>
              <a:ext cx="11785600" cy="3340100"/>
            </a:xfrm>
            <a:custGeom>
              <a:avLst/>
              <a:gdLst/>
              <a:ahLst/>
              <a:cxnLst/>
              <a:rect l="l" t="t" r="r" b="b"/>
              <a:pathLst>
                <a:path w="11785600" h="3340100">
                  <a:moveTo>
                    <a:pt x="0" y="269240"/>
                  </a:moveTo>
                  <a:cubicBezTo>
                    <a:pt x="0" y="120523"/>
                    <a:pt x="120523" y="0"/>
                    <a:pt x="269240" y="0"/>
                  </a:cubicBezTo>
                  <a:lnTo>
                    <a:pt x="11516360" y="0"/>
                  </a:lnTo>
                  <a:cubicBezTo>
                    <a:pt x="11665077" y="0"/>
                    <a:pt x="11785600" y="120523"/>
                    <a:pt x="11785600" y="269240"/>
                  </a:cubicBezTo>
                  <a:lnTo>
                    <a:pt x="11785600" y="3070860"/>
                  </a:lnTo>
                  <a:cubicBezTo>
                    <a:pt x="11785600" y="3219577"/>
                    <a:pt x="11665077" y="3340100"/>
                    <a:pt x="11516360" y="3340100"/>
                  </a:cubicBezTo>
                  <a:lnTo>
                    <a:pt x="269240" y="3340100"/>
                  </a:lnTo>
                  <a:cubicBezTo>
                    <a:pt x="120523" y="3340100"/>
                    <a:pt x="0" y="3219577"/>
                    <a:pt x="0" y="3070860"/>
                  </a:cubicBezTo>
                  <a:close/>
                </a:path>
              </a:pathLst>
            </a:custGeom>
            <a:solidFill>
              <a:srgbClr val="EAEEEA">
                <a:alpha val="56078"/>
              </a:srgbClr>
            </a:solidFill>
            <a:ln w="9526" cap="sq">
              <a:solidFill>
                <a:srgbClr val="B8C7C3"/>
              </a:solidFill>
              <a:prstDash val="solid"/>
              <a:miter/>
            </a:ln>
          </p:spPr>
        </p:sp>
      </p:grpSp>
      <p:grpSp>
        <p:nvGrpSpPr>
          <p:cNvPr id="124" name="Group 124"/>
          <p:cNvGrpSpPr/>
          <p:nvPr/>
        </p:nvGrpSpPr>
        <p:grpSpPr>
          <a:xfrm rot="0">
            <a:off x="1545584" y="6195260"/>
            <a:ext cx="2501554" cy="255841"/>
            <a:chOff x="0" y="0"/>
            <a:chExt cx="2980258" cy="304800"/>
          </a:xfrm>
        </p:grpSpPr>
        <p:sp>
          <p:nvSpPr>
            <p:cNvPr id="125" name="Freeform 125"/>
            <p:cNvSpPr/>
            <p:nvPr/>
          </p:nvSpPr>
          <p:spPr>
            <a:xfrm>
              <a:off x="0" y="0"/>
              <a:ext cx="2980253" cy="304800"/>
            </a:xfrm>
            <a:custGeom>
              <a:avLst/>
              <a:gdLst/>
              <a:ahLst/>
              <a:cxnLst/>
              <a:rect l="l" t="t" r="r" b="b"/>
              <a:pathLst>
                <a:path w="2980253" h="304800">
                  <a:moveTo>
                    <a:pt x="0" y="0"/>
                  </a:moveTo>
                  <a:lnTo>
                    <a:pt x="2980253" y="0"/>
                  </a:lnTo>
                  <a:lnTo>
                    <a:pt x="2980253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40519" b="-140519"/>
              </a:stretch>
            </a:blipFill>
          </p:spPr>
        </p:sp>
        <p:sp>
          <p:nvSpPr>
            <p:cNvPr id="126" name="TextBox 126"/>
            <p:cNvSpPr txBox="1"/>
            <p:nvPr/>
          </p:nvSpPr>
          <p:spPr>
            <a:xfrm>
              <a:off x="0" y="-9525"/>
              <a:ext cx="2980258" cy="3143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 spc="218">
                  <a:solidFill>
                    <a:srgbClr val="4B7C7A"/>
                  </a:solidFill>
                  <a:latin typeface="Arimo Bold" panose="020B0704020202020204"/>
                  <a:ea typeface="Arimo Bold" panose="020B0704020202020204"/>
                  <a:cs typeface="Arimo Bold" panose="020B0704020202020204"/>
                  <a:sym typeface="Arimo Bold" panose="020B0704020202020204"/>
                </a:rPr>
                <a:t>ARCHITECTURE</a:t>
              </a:r>
              <a:endParaRPr lang="en-US" sz="2100" b="1" spc="218">
                <a:solidFill>
                  <a:srgbClr val="4B7C7A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endParaRPr>
            </a:p>
          </p:txBody>
        </p:sp>
      </p:grpSp>
      <p:grpSp>
        <p:nvGrpSpPr>
          <p:cNvPr id="127" name="Group 127"/>
          <p:cNvGrpSpPr/>
          <p:nvPr/>
        </p:nvGrpSpPr>
        <p:grpSpPr>
          <a:xfrm rot="0">
            <a:off x="1765544" y="6691017"/>
            <a:ext cx="600075" cy="600075"/>
            <a:chOff x="0" y="0"/>
            <a:chExt cx="800100" cy="800100"/>
          </a:xfrm>
        </p:grpSpPr>
        <p:sp>
          <p:nvSpPr>
            <p:cNvPr id="128" name="Freeform 128"/>
            <p:cNvSpPr/>
            <p:nvPr/>
          </p:nvSpPr>
          <p:spPr>
            <a:xfrm>
              <a:off x="0" y="0"/>
              <a:ext cx="800100" cy="800100"/>
            </a:xfrm>
            <a:custGeom>
              <a:avLst/>
              <a:gdLst/>
              <a:ahLst/>
              <a:cxnLst/>
              <a:rect l="l" t="t" r="r" b="b"/>
              <a:pathLst>
                <a:path w="800100" h="80010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605028" y="0"/>
                  </a:lnTo>
                  <a:cubicBezTo>
                    <a:pt x="712724" y="0"/>
                    <a:pt x="800100" y="87376"/>
                    <a:pt x="800100" y="195072"/>
                  </a:cubicBezTo>
                  <a:lnTo>
                    <a:pt x="800100" y="605028"/>
                  </a:lnTo>
                  <a:cubicBezTo>
                    <a:pt x="800100" y="712724"/>
                    <a:pt x="712724" y="800100"/>
                    <a:pt x="605028" y="800100"/>
                  </a:cubicBezTo>
                  <a:lnTo>
                    <a:pt x="195072" y="800100"/>
                  </a:lnTo>
                  <a:cubicBezTo>
                    <a:pt x="87376" y="800100"/>
                    <a:pt x="0" y="712724"/>
                    <a:pt x="0" y="605028"/>
                  </a:cubicBezTo>
                  <a:close/>
                </a:path>
              </a:pathLst>
            </a:custGeom>
            <a:solidFill>
              <a:srgbClr val="CBD7D5"/>
            </a:solidFill>
          </p:spPr>
        </p:sp>
      </p:grpSp>
      <p:grpSp>
        <p:nvGrpSpPr>
          <p:cNvPr id="129" name="Group 129"/>
          <p:cNvGrpSpPr/>
          <p:nvPr/>
        </p:nvGrpSpPr>
        <p:grpSpPr>
          <a:xfrm rot="0">
            <a:off x="1919288" y="6844751"/>
            <a:ext cx="292598" cy="292598"/>
            <a:chOff x="0" y="0"/>
            <a:chExt cx="390131" cy="390131"/>
          </a:xfrm>
        </p:grpSpPr>
        <p:sp>
          <p:nvSpPr>
            <p:cNvPr id="130" name="Freeform 130" descr="preencoded.png"/>
            <p:cNvSpPr/>
            <p:nvPr/>
          </p:nvSpPr>
          <p:spPr>
            <a:xfrm>
              <a:off x="0" y="0"/>
              <a:ext cx="390144" cy="390144"/>
            </a:xfrm>
            <a:custGeom>
              <a:avLst/>
              <a:gdLst/>
              <a:ahLst/>
              <a:cxnLst/>
              <a:rect l="l" t="t" r="r" b="b"/>
              <a:pathLst>
                <a:path w="390144" h="390144">
                  <a:moveTo>
                    <a:pt x="0" y="0"/>
                  </a:moveTo>
                  <a:lnTo>
                    <a:pt x="390144" y="0"/>
                  </a:lnTo>
                  <a:lnTo>
                    <a:pt x="390144" y="390144"/>
                  </a:lnTo>
                  <a:lnTo>
                    <a:pt x="0" y="3901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3" b="3"/>
              </a:stretch>
            </a:blipFill>
          </p:spPr>
        </p:sp>
      </p:grpSp>
      <p:grpSp>
        <p:nvGrpSpPr>
          <p:cNvPr id="131" name="Group 131"/>
          <p:cNvGrpSpPr/>
          <p:nvPr/>
        </p:nvGrpSpPr>
        <p:grpSpPr>
          <a:xfrm rot="0">
            <a:off x="1011275" y="7358055"/>
            <a:ext cx="1869003" cy="327759"/>
            <a:chOff x="0" y="0"/>
            <a:chExt cx="1955343" cy="342900"/>
          </a:xfrm>
        </p:grpSpPr>
        <p:sp>
          <p:nvSpPr>
            <p:cNvPr id="132" name="Freeform 132"/>
            <p:cNvSpPr/>
            <p:nvPr/>
          </p:nvSpPr>
          <p:spPr>
            <a:xfrm>
              <a:off x="0" y="0"/>
              <a:ext cx="1955344" cy="342901"/>
            </a:xfrm>
            <a:custGeom>
              <a:avLst/>
              <a:gdLst/>
              <a:ahLst/>
              <a:cxnLst/>
              <a:rect l="l" t="t" r="r" b="b"/>
              <a:pathLst>
                <a:path w="1955344" h="342901">
                  <a:moveTo>
                    <a:pt x="0" y="0"/>
                  </a:moveTo>
                  <a:lnTo>
                    <a:pt x="1955344" y="0"/>
                  </a:lnTo>
                  <a:lnTo>
                    <a:pt x="1955344" y="342901"/>
                  </a:lnTo>
                  <a:lnTo>
                    <a:pt x="0" y="34290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61110" b="-61110"/>
              </a:stretch>
            </a:blipFill>
          </p:spPr>
        </p:sp>
        <p:sp>
          <p:nvSpPr>
            <p:cNvPr id="133" name="TextBox 133"/>
            <p:cNvSpPr txBox="1"/>
            <p:nvPr/>
          </p:nvSpPr>
          <p:spPr>
            <a:xfrm>
              <a:off x="0" y="-9525"/>
              <a:ext cx="1955343" cy="3524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24313A"/>
                  </a:solidFill>
                  <a:latin typeface="Arimo Bold" panose="020B0704020202020204"/>
                  <a:ea typeface="Arimo Bold" panose="020B0704020202020204"/>
                  <a:cs typeface="Arimo Bold" panose="020B0704020202020204"/>
                  <a:sym typeface="Arimo Bold" panose="020B0704020202020204"/>
                </a:rPr>
                <a:t>Tourist App</a:t>
              </a:r>
              <a:endParaRPr lang="en-US" sz="2100" b="1">
                <a:solidFill>
                  <a:srgbClr val="24313A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endParaRPr>
            </a:p>
          </p:txBody>
        </p:sp>
      </p:grpSp>
      <p:grpSp>
        <p:nvGrpSpPr>
          <p:cNvPr id="134" name="Group 134"/>
          <p:cNvGrpSpPr/>
          <p:nvPr/>
        </p:nvGrpSpPr>
        <p:grpSpPr>
          <a:xfrm rot="0">
            <a:off x="2723445" y="6844751"/>
            <a:ext cx="452885" cy="428625"/>
            <a:chOff x="0" y="0"/>
            <a:chExt cx="603847" cy="571500"/>
          </a:xfrm>
        </p:grpSpPr>
        <p:sp>
          <p:nvSpPr>
            <p:cNvPr id="135" name="Freeform 135"/>
            <p:cNvSpPr/>
            <p:nvPr/>
          </p:nvSpPr>
          <p:spPr>
            <a:xfrm>
              <a:off x="0" y="0"/>
              <a:ext cx="603845" cy="571501"/>
            </a:xfrm>
            <a:custGeom>
              <a:avLst/>
              <a:gdLst/>
              <a:ahLst/>
              <a:cxnLst/>
              <a:rect l="l" t="t" r="r" b="b"/>
              <a:pathLst>
                <a:path w="603845" h="571501">
                  <a:moveTo>
                    <a:pt x="0" y="0"/>
                  </a:moveTo>
                  <a:lnTo>
                    <a:pt x="603845" y="0"/>
                  </a:lnTo>
                  <a:lnTo>
                    <a:pt x="603845" y="571501"/>
                  </a:lnTo>
                  <a:lnTo>
                    <a:pt x="0" y="57150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1430" r="-71431"/>
              </a:stretch>
            </a:blipFill>
          </p:spPr>
        </p:sp>
        <p:sp>
          <p:nvSpPr>
            <p:cNvPr id="136" name="TextBox 136"/>
            <p:cNvSpPr txBox="1"/>
            <p:nvPr/>
          </p:nvSpPr>
          <p:spPr>
            <a:xfrm>
              <a:off x="0" y="-9525"/>
              <a:ext cx="603847" cy="581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800"/>
                </a:lnSpc>
              </a:pPr>
              <a:r>
                <a:rPr lang="en-US" sz="4000">
                  <a:solidFill>
                    <a:srgbClr val="C66A4A"/>
                  </a:solidFill>
                  <a:latin typeface="Arimo" panose="020B0604020202020204"/>
                  <a:ea typeface="Arimo" panose="020B0604020202020204"/>
                  <a:cs typeface="Arimo" panose="020B0604020202020204"/>
                  <a:sym typeface="Arimo" panose="020B0604020202020204"/>
                </a:rPr>
                <a:t>→</a:t>
              </a:r>
              <a:endParaRPr lang="en-US" sz="4000">
                <a:solidFill>
                  <a:srgbClr val="C66A4A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endParaRPr>
            </a:p>
          </p:txBody>
        </p:sp>
      </p:grpSp>
      <p:grpSp>
        <p:nvGrpSpPr>
          <p:cNvPr id="137" name="Group 137"/>
          <p:cNvGrpSpPr/>
          <p:nvPr/>
        </p:nvGrpSpPr>
        <p:grpSpPr>
          <a:xfrm rot="0">
            <a:off x="3561159" y="6691017"/>
            <a:ext cx="600075" cy="600075"/>
            <a:chOff x="0" y="0"/>
            <a:chExt cx="800100" cy="800100"/>
          </a:xfrm>
        </p:grpSpPr>
        <p:sp>
          <p:nvSpPr>
            <p:cNvPr id="138" name="Freeform 138"/>
            <p:cNvSpPr/>
            <p:nvPr/>
          </p:nvSpPr>
          <p:spPr>
            <a:xfrm>
              <a:off x="0" y="0"/>
              <a:ext cx="800100" cy="800100"/>
            </a:xfrm>
            <a:custGeom>
              <a:avLst/>
              <a:gdLst/>
              <a:ahLst/>
              <a:cxnLst/>
              <a:rect l="l" t="t" r="r" b="b"/>
              <a:pathLst>
                <a:path w="800100" h="80010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605028" y="0"/>
                  </a:lnTo>
                  <a:cubicBezTo>
                    <a:pt x="712724" y="0"/>
                    <a:pt x="800100" y="87376"/>
                    <a:pt x="800100" y="195072"/>
                  </a:cubicBezTo>
                  <a:lnTo>
                    <a:pt x="800100" y="605028"/>
                  </a:lnTo>
                  <a:cubicBezTo>
                    <a:pt x="800100" y="712724"/>
                    <a:pt x="712724" y="800100"/>
                    <a:pt x="605028" y="800100"/>
                  </a:cubicBezTo>
                  <a:lnTo>
                    <a:pt x="195072" y="800100"/>
                  </a:lnTo>
                  <a:cubicBezTo>
                    <a:pt x="87376" y="800100"/>
                    <a:pt x="0" y="712724"/>
                    <a:pt x="0" y="605028"/>
                  </a:cubicBezTo>
                  <a:close/>
                </a:path>
              </a:pathLst>
            </a:custGeom>
            <a:solidFill>
              <a:srgbClr val="CBD7D5"/>
            </a:solidFill>
          </p:spPr>
        </p:sp>
      </p:grpSp>
      <p:grpSp>
        <p:nvGrpSpPr>
          <p:cNvPr id="139" name="Group 139"/>
          <p:cNvGrpSpPr/>
          <p:nvPr/>
        </p:nvGrpSpPr>
        <p:grpSpPr>
          <a:xfrm rot="0">
            <a:off x="3714902" y="6844751"/>
            <a:ext cx="292598" cy="292598"/>
            <a:chOff x="0" y="0"/>
            <a:chExt cx="390131" cy="390131"/>
          </a:xfrm>
        </p:grpSpPr>
        <p:sp>
          <p:nvSpPr>
            <p:cNvPr id="140" name="Freeform 140" descr="preencoded.png"/>
            <p:cNvSpPr/>
            <p:nvPr/>
          </p:nvSpPr>
          <p:spPr>
            <a:xfrm>
              <a:off x="0" y="0"/>
              <a:ext cx="390144" cy="390144"/>
            </a:xfrm>
            <a:custGeom>
              <a:avLst/>
              <a:gdLst/>
              <a:ahLst/>
              <a:cxnLst/>
              <a:rect l="l" t="t" r="r" b="b"/>
              <a:pathLst>
                <a:path w="390144" h="390144">
                  <a:moveTo>
                    <a:pt x="0" y="0"/>
                  </a:moveTo>
                  <a:lnTo>
                    <a:pt x="390144" y="0"/>
                  </a:lnTo>
                  <a:lnTo>
                    <a:pt x="390144" y="390144"/>
                  </a:lnTo>
                  <a:lnTo>
                    <a:pt x="0" y="3901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3" b="3"/>
              </a:stretch>
            </a:blipFill>
          </p:spPr>
        </p:sp>
      </p:grpSp>
      <p:grpSp>
        <p:nvGrpSpPr>
          <p:cNvPr id="141" name="Group 141"/>
          <p:cNvGrpSpPr/>
          <p:nvPr/>
        </p:nvGrpSpPr>
        <p:grpSpPr>
          <a:xfrm rot="0">
            <a:off x="2834316" y="7415651"/>
            <a:ext cx="1761173" cy="257175"/>
            <a:chOff x="0" y="0"/>
            <a:chExt cx="2348230" cy="342900"/>
          </a:xfrm>
        </p:grpSpPr>
        <p:sp>
          <p:nvSpPr>
            <p:cNvPr id="142" name="Freeform 142"/>
            <p:cNvSpPr/>
            <p:nvPr/>
          </p:nvSpPr>
          <p:spPr>
            <a:xfrm>
              <a:off x="0" y="0"/>
              <a:ext cx="2348229" cy="342901"/>
            </a:xfrm>
            <a:custGeom>
              <a:avLst/>
              <a:gdLst/>
              <a:ahLst/>
              <a:cxnLst/>
              <a:rect l="l" t="t" r="r" b="b"/>
              <a:pathLst>
                <a:path w="2348229" h="342901">
                  <a:moveTo>
                    <a:pt x="0" y="0"/>
                  </a:moveTo>
                  <a:lnTo>
                    <a:pt x="2348229" y="0"/>
                  </a:lnTo>
                  <a:lnTo>
                    <a:pt x="2348229" y="342901"/>
                  </a:lnTo>
                  <a:lnTo>
                    <a:pt x="0" y="34290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83436" b="-83435"/>
              </a:stretch>
            </a:blipFill>
          </p:spPr>
        </p:sp>
        <p:sp>
          <p:nvSpPr>
            <p:cNvPr id="143" name="TextBox 143"/>
            <p:cNvSpPr txBox="1"/>
            <p:nvPr/>
          </p:nvSpPr>
          <p:spPr>
            <a:xfrm>
              <a:off x="0" y="-9525"/>
              <a:ext cx="2348230" cy="3524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24313A"/>
                  </a:solidFill>
                  <a:latin typeface="Arimo Bold" panose="020B0704020202020204"/>
                  <a:ea typeface="Arimo Bold" panose="020B0704020202020204"/>
                  <a:cs typeface="Arimo Bold" panose="020B0704020202020204"/>
                  <a:sym typeface="Arimo Bold" panose="020B0704020202020204"/>
                </a:rPr>
                <a:t>Backend / API</a:t>
              </a:r>
              <a:endParaRPr lang="en-US" sz="2100" b="1">
                <a:solidFill>
                  <a:srgbClr val="24313A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endParaRPr>
            </a:p>
          </p:txBody>
        </p:sp>
      </p:grpSp>
      <p:grpSp>
        <p:nvGrpSpPr>
          <p:cNvPr id="144" name="Group 144"/>
          <p:cNvGrpSpPr/>
          <p:nvPr/>
        </p:nvGrpSpPr>
        <p:grpSpPr>
          <a:xfrm rot="0">
            <a:off x="4740735" y="6867716"/>
            <a:ext cx="452885" cy="428625"/>
            <a:chOff x="0" y="0"/>
            <a:chExt cx="603847" cy="571500"/>
          </a:xfrm>
        </p:grpSpPr>
        <p:sp>
          <p:nvSpPr>
            <p:cNvPr id="145" name="Freeform 145"/>
            <p:cNvSpPr/>
            <p:nvPr/>
          </p:nvSpPr>
          <p:spPr>
            <a:xfrm>
              <a:off x="0" y="0"/>
              <a:ext cx="603845" cy="571501"/>
            </a:xfrm>
            <a:custGeom>
              <a:avLst/>
              <a:gdLst/>
              <a:ahLst/>
              <a:cxnLst/>
              <a:rect l="l" t="t" r="r" b="b"/>
              <a:pathLst>
                <a:path w="603845" h="571501">
                  <a:moveTo>
                    <a:pt x="0" y="0"/>
                  </a:moveTo>
                  <a:lnTo>
                    <a:pt x="603845" y="0"/>
                  </a:lnTo>
                  <a:lnTo>
                    <a:pt x="603845" y="571501"/>
                  </a:lnTo>
                  <a:lnTo>
                    <a:pt x="0" y="57150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1430" r="-71431"/>
              </a:stretch>
            </a:blipFill>
          </p:spPr>
        </p:sp>
        <p:sp>
          <p:nvSpPr>
            <p:cNvPr id="146" name="TextBox 146"/>
            <p:cNvSpPr txBox="1"/>
            <p:nvPr/>
          </p:nvSpPr>
          <p:spPr>
            <a:xfrm>
              <a:off x="0" y="-9525"/>
              <a:ext cx="603847" cy="581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800"/>
                </a:lnSpc>
              </a:pPr>
              <a:r>
                <a:rPr lang="en-US" sz="4000">
                  <a:solidFill>
                    <a:srgbClr val="C66A4A"/>
                  </a:solidFill>
                  <a:latin typeface="Arimo" panose="020B0604020202020204"/>
                  <a:ea typeface="Arimo" panose="020B0604020202020204"/>
                  <a:cs typeface="Arimo" panose="020B0604020202020204"/>
                  <a:sym typeface="Arimo" panose="020B0604020202020204"/>
                </a:rPr>
                <a:t>→</a:t>
              </a:r>
              <a:endParaRPr lang="en-US" sz="4000">
                <a:solidFill>
                  <a:srgbClr val="C66A4A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endParaRPr>
            </a:p>
          </p:txBody>
        </p:sp>
      </p:grpSp>
      <p:grpSp>
        <p:nvGrpSpPr>
          <p:cNvPr id="147" name="Group 147"/>
          <p:cNvGrpSpPr/>
          <p:nvPr/>
        </p:nvGrpSpPr>
        <p:grpSpPr>
          <a:xfrm rot="0">
            <a:off x="5891508" y="6691017"/>
            <a:ext cx="600075" cy="600075"/>
            <a:chOff x="0" y="0"/>
            <a:chExt cx="800100" cy="800100"/>
          </a:xfrm>
        </p:grpSpPr>
        <p:sp>
          <p:nvSpPr>
            <p:cNvPr id="148" name="Freeform 148"/>
            <p:cNvSpPr/>
            <p:nvPr/>
          </p:nvSpPr>
          <p:spPr>
            <a:xfrm>
              <a:off x="0" y="0"/>
              <a:ext cx="800100" cy="800100"/>
            </a:xfrm>
            <a:custGeom>
              <a:avLst/>
              <a:gdLst/>
              <a:ahLst/>
              <a:cxnLst/>
              <a:rect l="l" t="t" r="r" b="b"/>
              <a:pathLst>
                <a:path w="800100" h="80010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605028" y="0"/>
                  </a:lnTo>
                  <a:cubicBezTo>
                    <a:pt x="712724" y="0"/>
                    <a:pt x="800100" y="87376"/>
                    <a:pt x="800100" y="195072"/>
                  </a:cubicBezTo>
                  <a:lnTo>
                    <a:pt x="800100" y="605028"/>
                  </a:lnTo>
                  <a:cubicBezTo>
                    <a:pt x="800100" y="712724"/>
                    <a:pt x="712724" y="800100"/>
                    <a:pt x="605028" y="800100"/>
                  </a:cubicBezTo>
                  <a:lnTo>
                    <a:pt x="195072" y="800100"/>
                  </a:lnTo>
                  <a:cubicBezTo>
                    <a:pt x="87376" y="800100"/>
                    <a:pt x="0" y="712724"/>
                    <a:pt x="0" y="605028"/>
                  </a:cubicBezTo>
                  <a:close/>
                </a:path>
              </a:pathLst>
            </a:custGeom>
            <a:solidFill>
              <a:srgbClr val="CBD7D5"/>
            </a:solidFill>
          </p:spPr>
        </p:sp>
      </p:grpSp>
      <p:grpSp>
        <p:nvGrpSpPr>
          <p:cNvPr id="149" name="Group 149"/>
          <p:cNvGrpSpPr/>
          <p:nvPr/>
        </p:nvGrpSpPr>
        <p:grpSpPr>
          <a:xfrm rot="0">
            <a:off x="6045251" y="6844751"/>
            <a:ext cx="292598" cy="292598"/>
            <a:chOff x="0" y="0"/>
            <a:chExt cx="390131" cy="390131"/>
          </a:xfrm>
        </p:grpSpPr>
        <p:sp>
          <p:nvSpPr>
            <p:cNvPr id="150" name="Freeform 150" descr="preencoded.png"/>
            <p:cNvSpPr/>
            <p:nvPr/>
          </p:nvSpPr>
          <p:spPr>
            <a:xfrm>
              <a:off x="0" y="0"/>
              <a:ext cx="390144" cy="390144"/>
            </a:xfrm>
            <a:custGeom>
              <a:avLst/>
              <a:gdLst/>
              <a:ahLst/>
              <a:cxnLst/>
              <a:rect l="l" t="t" r="r" b="b"/>
              <a:pathLst>
                <a:path w="390144" h="390144">
                  <a:moveTo>
                    <a:pt x="0" y="0"/>
                  </a:moveTo>
                  <a:lnTo>
                    <a:pt x="390144" y="0"/>
                  </a:lnTo>
                  <a:lnTo>
                    <a:pt x="390144" y="390144"/>
                  </a:lnTo>
                  <a:lnTo>
                    <a:pt x="0" y="3901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r="3" b="3"/>
              </a:stretch>
            </a:blipFill>
          </p:spPr>
        </p:sp>
      </p:grpSp>
      <p:grpSp>
        <p:nvGrpSpPr>
          <p:cNvPr id="151" name="Group 151"/>
          <p:cNvGrpSpPr/>
          <p:nvPr/>
        </p:nvGrpSpPr>
        <p:grpSpPr>
          <a:xfrm rot="0">
            <a:off x="4296873" y="7329522"/>
            <a:ext cx="4081953" cy="367437"/>
            <a:chOff x="0" y="0"/>
            <a:chExt cx="3809365" cy="342900"/>
          </a:xfrm>
        </p:grpSpPr>
        <p:sp>
          <p:nvSpPr>
            <p:cNvPr id="152" name="Freeform 152"/>
            <p:cNvSpPr/>
            <p:nvPr/>
          </p:nvSpPr>
          <p:spPr>
            <a:xfrm>
              <a:off x="0" y="0"/>
              <a:ext cx="3809365" cy="342901"/>
            </a:xfrm>
            <a:custGeom>
              <a:avLst/>
              <a:gdLst/>
              <a:ahLst/>
              <a:cxnLst/>
              <a:rect l="l" t="t" r="r" b="b"/>
              <a:pathLst>
                <a:path w="3809365" h="342901">
                  <a:moveTo>
                    <a:pt x="0" y="0"/>
                  </a:moveTo>
                  <a:lnTo>
                    <a:pt x="3809365" y="0"/>
                  </a:lnTo>
                  <a:lnTo>
                    <a:pt x="3809365" y="342901"/>
                  </a:lnTo>
                  <a:lnTo>
                    <a:pt x="0" y="34290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66463" b="-166463"/>
              </a:stretch>
            </a:blipFill>
          </p:spPr>
        </p:sp>
        <p:sp>
          <p:nvSpPr>
            <p:cNvPr id="153" name="TextBox 153"/>
            <p:cNvSpPr txBox="1"/>
            <p:nvPr/>
          </p:nvSpPr>
          <p:spPr>
            <a:xfrm>
              <a:off x="0" y="-9525"/>
              <a:ext cx="3809365" cy="3524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24313A"/>
                  </a:solidFill>
                  <a:latin typeface="Arimo Bold" panose="020B0704020202020204"/>
                  <a:ea typeface="Arimo Bold" panose="020B0704020202020204"/>
                  <a:cs typeface="Arimo Bold" panose="020B0704020202020204"/>
                  <a:sym typeface="Arimo Bold" panose="020B0704020202020204"/>
                </a:rPr>
                <a:t>Database + Risk Engine</a:t>
              </a:r>
              <a:endParaRPr lang="en-US" sz="2100" b="1">
                <a:solidFill>
                  <a:srgbClr val="24313A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endParaRPr>
            </a:p>
          </p:txBody>
        </p:sp>
      </p:grpSp>
      <p:grpSp>
        <p:nvGrpSpPr>
          <p:cNvPr id="154" name="Group 154"/>
          <p:cNvGrpSpPr/>
          <p:nvPr/>
        </p:nvGrpSpPr>
        <p:grpSpPr>
          <a:xfrm rot="0">
            <a:off x="7456770" y="6860038"/>
            <a:ext cx="452885" cy="428625"/>
            <a:chOff x="0" y="0"/>
            <a:chExt cx="603847" cy="571500"/>
          </a:xfrm>
        </p:grpSpPr>
        <p:sp>
          <p:nvSpPr>
            <p:cNvPr id="155" name="Freeform 155"/>
            <p:cNvSpPr/>
            <p:nvPr/>
          </p:nvSpPr>
          <p:spPr>
            <a:xfrm>
              <a:off x="0" y="0"/>
              <a:ext cx="603845" cy="571501"/>
            </a:xfrm>
            <a:custGeom>
              <a:avLst/>
              <a:gdLst/>
              <a:ahLst/>
              <a:cxnLst/>
              <a:rect l="l" t="t" r="r" b="b"/>
              <a:pathLst>
                <a:path w="603845" h="571501">
                  <a:moveTo>
                    <a:pt x="0" y="0"/>
                  </a:moveTo>
                  <a:lnTo>
                    <a:pt x="603845" y="0"/>
                  </a:lnTo>
                  <a:lnTo>
                    <a:pt x="603845" y="571501"/>
                  </a:lnTo>
                  <a:lnTo>
                    <a:pt x="0" y="57150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1430" r="-71431"/>
              </a:stretch>
            </a:blipFill>
          </p:spPr>
        </p:sp>
        <p:sp>
          <p:nvSpPr>
            <p:cNvPr id="156" name="TextBox 156"/>
            <p:cNvSpPr txBox="1"/>
            <p:nvPr/>
          </p:nvSpPr>
          <p:spPr>
            <a:xfrm>
              <a:off x="0" y="-9525"/>
              <a:ext cx="603847" cy="581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800"/>
                </a:lnSpc>
              </a:pPr>
              <a:r>
                <a:rPr lang="en-US" sz="4000">
                  <a:solidFill>
                    <a:srgbClr val="C66A4A"/>
                  </a:solidFill>
                  <a:latin typeface="Arimo" panose="020B0604020202020204"/>
                  <a:ea typeface="Arimo" panose="020B0604020202020204"/>
                  <a:cs typeface="Arimo" panose="020B0604020202020204"/>
                  <a:sym typeface="Arimo" panose="020B0604020202020204"/>
                </a:rPr>
                <a:t>→</a:t>
              </a:r>
              <a:endParaRPr lang="en-US" sz="4000">
                <a:solidFill>
                  <a:srgbClr val="C66A4A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endParaRPr>
            </a:p>
          </p:txBody>
        </p:sp>
      </p:grpSp>
      <p:grpSp>
        <p:nvGrpSpPr>
          <p:cNvPr id="157" name="Group 157"/>
          <p:cNvGrpSpPr/>
          <p:nvPr/>
        </p:nvGrpSpPr>
        <p:grpSpPr>
          <a:xfrm rot="0">
            <a:off x="8567738" y="6691017"/>
            <a:ext cx="600075" cy="600075"/>
            <a:chOff x="0" y="0"/>
            <a:chExt cx="800100" cy="800100"/>
          </a:xfrm>
        </p:grpSpPr>
        <p:sp>
          <p:nvSpPr>
            <p:cNvPr id="158" name="Freeform 158"/>
            <p:cNvSpPr/>
            <p:nvPr/>
          </p:nvSpPr>
          <p:spPr>
            <a:xfrm>
              <a:off x="0" y="0"/>
              <a:ext cx="800100" cy="800100"/>
            </a:xfrm>
            <a:custGeom>
              <a:avLst/>
              <a:gdLst/>
              <a:ahLst/>
              <a:cxnLst/>
              <a:rect l="l" t="t" r="r" b="b"/>
              <a:pathLst>
                <a:path w="800100" h="80010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605028" y="0"/>
                  </a:lnTo>
                  <a:cubicBezTo>
                    <a:pt x="712724" y="0"/>
                    <a:pt x="800100" y="87376"/>
                    <a:pt x="800100" y="195072"/>
                  </a:cubicBezTo>
                  <a:lnTo>
                    <a:pt x="800100" y="605028"/>
                  </a:lnTo>
                  <a:cubicBezTo>
                    <a:pt x="800100" y="712724"/>
                    <a:pt x="712724" y="800100"/>
                    <a:pt x="605028" y="800100"/>
                  </a:cubicBezTo>
                  <a:lnTo>
                    <a:pt x="195072" y="800100"/>
                  </a:lnTo>
                  <a:cubicBezTo>
                    <a:pt x="87376" y="800100"/>
                    <a:pt x="0" y="712724"/>
                    <a:pt x="0" y="605028"/>
                  </a:cubicBezTo>
                  <a:close/>
                </a:path>
              </a:pathLst>
            </a:custGeom>
            <a:solidFill>
              <a:srgbClr val="CBD7D5"/>
            </a:solidFill>
          </p:spPr>
        </p:sp>
      </p:grpSp>
      <p:grpSp>
        <p:nvGrpSpPr>
          <p:cNvPr id="159" name="Group 159"/>
          <p:cNvGrpSpPr/>
          <p:nvPr/>
        </p:nvGrpSpPr>
        <p:grpSpPr>
          <a:xfrm rot="0">
            <a:off x="8721481" y="6844751"/>
            <a:ext cx="292598" cy="292598"/>
            <a:chOff x="0" y="0"/>
            <a:chExt cx="390131" cy="390131"/>
          </a:xfrm>
        </p:grpSpPr>
        <p:sp>
          <p:nvSpPr>
            <p:cNvPr id="160" name="Freeform 160" descr="preencoded.png"/>
            <p:cNvSpPr/>
            <p:nvPr/>
          </p:nvSpPr>
          <p:spPr>
            <a:xfrm>
              <a:off x="0" y="0"/>
              <a:ext cx="390144" cy="390144"/>
            </a:xfrm>
            <a:custGeom>
              <a:avLst/>
              <a:gdLst/>
              <a:ahLst/>
              <a:cxnLst/>
              <a:rect l="l" t="t" r="r" b="b"/>
              <a:pathLst>
                <a:path w="390144" h="390144">
                  <a:moveTo>
                    <a:pt x="0" y="0"/>
                  </a:moveTo>
                  <a:lnTo>
                    <a:pt x="390144" y="0"/>
                  </a:lnTo>
                  <a:lnTo>
                    <a:pt x="390144" y="390144"/>
                  </a:lnTo>
                  <a:lnTo>
                    <a:pt x="0" y="3901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r="3" b="3"/>
              </a:stretch>
            </a:blipFill>
          </p:spPr>
        </p:sp>
      </p:grpSp>
      <p:grpSp>
        <p:nvGrpSpPr>
          <p:cNvPr id="161" name="Group 161"/>
          <p:cNvGrpSpPr/>
          <p:nvPr/>
        </p:nvGrpSpPr>
        <p:grpSpPr>
          <a:xfrm rot="0">
            <a:off x="6818518" y="7310142"/>
            <a:ext cx="4098524" cy="423583"/>
            <a:chOff x="0" y="0"/>
            <a:chExt cx="3547529" cy="366638"/>
          </a:xfrm>
        </p:grpSpPr>
        <p:sp>
          <p:nvSpPr>
            <p:cNvPr id="162" name="Freeform 162"/>
            <p:cNvSpPr/>
            <p:nvPr/>
          </p:nvSpPr>
          <p:spPr>
            <a:xfrm>
              <a:off x="0" y="0"/>
              <a:ext cx="3547528" cy="366639"/>
            </a:xfrm>
            <a:custGeom>
              <a:avLst/>
              <a:gdLst/>
              <a:ahLst/>
              <a:cxnLst/>
              <a:rect l="l" t="t" r="r" b="b"/>
              <a:pathLst>
                <a:path w="3547528" h="366639">
                  <a:moveTo>
                    <a:pt x="0" y="0"/>
                  </a:moveTo>
                  <a:lnTo>
                    <a:pt x="3547528" y="0"/>
                  </a:lnTo>
                  <a:lnTo>
                    <a:pt x="3547528" y="366639"/>
                  </a:lnTo>
                  <a:lnTo>
                    <a:pt x="0" y="36663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41770" b="-135295"/>
              </a:stretch>
            </a:blipFill>
          </p:spPr>
        </p:sp>
        <p:sp>
          <p:nvSpPr>
            <p:cNvPr id="163" name="TextBox 163"/>
            <p:cNvSpPr txBox="1"/>
            <p:nvPr/>
          </p:nvSpPr>
          <p:spPr>
            <a:xfrm>
              <a:off x="0" y="-9525"/>
              <a:ext cx="3547529" cy="37616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24313A"/>
                  </a:solidFill>
                  <a:latin typeface="Arimo Bold" panose="020B0704020202020204"/>
                  <a:ea typeface="Arimo Bold" panose="020B0704020202020204"/>
                  <a:cs typeface="Arimo Bold" panose="020B0704020202020204"/>
                  <a:sym typeface="Arimo Bold" panose="020B0704020202020204"/>
                </a:rPr>
                <a:t>Alert System</a:t>
              </a:r>
              <a:endParaRPr lang="en-US" sz="2100" b="1">
                <a:solidFill>
                  <a:srgbClr val="24313A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endParaRPr>
            </a:p>
          </p:txBody>
        </p:sp>
      </p:grpSp>
      <p:grpSp>
        <p:nvGrpSpPr>
          <p:cNvPr id="164" name="Group 164"/>
          <p:cNvGrpSpPr/>
          <p:nvPr/>
        </p:nvGrpSpPr>
        <p:grpSpPr>
          <a:xfrm rot="0">
            <a:off x="1050898" y="7870184"/>
            <a:ext cx="9681220" cy="696297"/>
            <a:chOff x="0" y="0"/>
            <a:chExt cx="12908293" cy="928395"/>
          </a:xfrm>
        </p:grpSpPr>
        <p:sp>
          <p:nvSpPr>
            <p:cNvPr id="165" name="Freeform 165"/>
            <p:cNvSpPr/>
            <p:nvPr/>
          </p:nvSpPr>
          <p:spPr>
            <a:xfrm>
              <a:off x="0" y="0"/>
              <a:ext cx="12908293" cy="928392"/>
            </a:xfrm>
            <a:custGeom>
              <a:avLst/>
              <a:gdLst/>
              <a:ahLst/>
              <a:cxnLst/>
              <a:rect l="l" t="t" r="r" b="b"/>
              <a:pathLst>
                <a:path w="12908293" h="928392">
                  <a:moveTo>
                    <a:pt x="0" y="0"/>
                  </a:moveTo>
                  <a:lnTo>
                    <a:pt x="12908293" y="0"/>
                  </a:lnTo>
                  <a:lnTo>
                    <a:pt x="12908293" y="928392"/>
                  </a:lnTo>
                  <a:lnTo>
                    <a:pt x="0" y="9283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20918" b="-220918"/>
              </a:stretch>
            </a:blipFill>
          </p:spPr>
        </p:sp>
        <p:sp>
          <p:nvSpPr>
            <p:cNvPr id="166" name="TextBox 166"/>
            <p:cNvSpPr txBox="1"/>
            <p:nvPr/>
          </p:nvSpPr>
          <p:spPr>
            <a:xfrm>
              <a:off x="0" y="-19050"/>
              <a:ext cx="12908293" cy="9474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52636A"/>
                  </a:solidFill>
                  <a:latin typeface="Arimo" panose="020B0604020202020204"/>
                  <a:ea typeface="Arimo" panose="020B0604020202020204"/>
                  <a:cs typeface="Arimo" panose="020B0604020202020204"/>
                  <a:sym typeface="Arimo" panose="020B0604020202020204"/>
                </a:rPr>
                <a:t>Location + Time + Movement + Nearby Incidents </a:t>
              </a:r>
              <a:r>
                <a:rPr lang="en-US" sz="1800">
                  <a:solidFill>
                    <a:srgbClr val="C66A4A"/>
                  </a:solidFill>
                  <a:latin typeface="Arimo" panose="020B0604020202020204"/>
                  <a:ea typeface="Arimo" panose="020B0604020202020204"/>
                  <a:cs typeface="Arimo" panose="020B0604020202020204"/>
                  <a:sym typeface="Arimo" panose="020B0604020202020204"/>
                </a:rPr>
                <a:t>→</a:t>
              </a:r>
              <a:r>
                <a:rPr lang="en-US" sz="1800">
                  <a:solidFill>
                    <a:srgbClr val="52636A"/>
                  </a:solidFill>
                  <a:latin typeface="Arimo" panose="020B0604020202020204"/>
                  <a:ea typeface="Arimo" panose="020B0604020202020204"/>
                  <a:cs typeface="Arimo" panose="020B0604020202020204"/>
                  <a:sym typeface="Arimo" panose="020B0604020202020204"/>
                </a:rPr>
                <a:t> Risk Score </a:t>
              </a:r>
              <a:r>
                <a:rPr lang="en-US" sz="1800">
                  <a:solidFill>
                    <a:srgbClr val="C66A4A"/>
                  </a:solidFill>
                  <a:latin typeface="Arimo" panose="020B0604020202020204"/>
                  <a:ea typeface="Arimo" panose="020B0604020202020204"/>
                  <a:cs typeface="Arimo" panose="020B0604020202020204"/>
                  <a:sym typeface="Arimo" panose="020B0604020202020204"/>
                </a:rPr>
                <a:t>→</a:t>
              </a:r>
              <a:r>
                <a:rPr lang="en-US" sz="1800">
                  <a:solidFill>
                    <a:srgbClr val="698D77"/>
                  </a:solidFill>
                  <a:latin typeface="Arimo" panose="020B0604020202020204"/>
                  <a:ea typeface="Arimo" panose="020B0604020202020204"/>
                  <a:cs typeface="Arimo" panose="020B0604020202020204"/>
                  <a:sym typeface="Arimo" panose="020B0604020202020204"/>
                </a:rPr>
                <a:t>LOW</a:t>
              </a:r>
              <a:r>
                <a:rPr lang="en-US" sz="1800">
                  <a:solidFill>
                    <a:srgbClr val="52636A"/>
                  </a:solidFill>
                  <a:latin typeface="Arimo" panose="020B0604020202020204"/>
                  <a:ea typeface="Arimo" panose="020B0604020202020204"/>
                  <a:cs typeface="Arimo" panose="020B0604020202020204"/>
                  <a:sym typeface="Arimo" panose="020B0604020202020204"/>
                </a:rPr>
                <a:t> / </a:t>
              </a:r>
              <a:r>
                <a:rPr lang="en-US" sz="1800">
                  <a:solidFill>
                    <a:srgbClr val="C66A4A"/>
                  </a:solidFill>
                  <a:latin typeface="Arimo" panose="020B0604020202020204"/>
                  <a:ea typeface="Arimo" panose="020B0604020202020204"/>
                  <a:cs typeface="Arimo" panose="020B0604020202020204"/>
                  <a:sym typeface="Arimo" panose="020B0604020202020204"/>
                </a:rPr>
                <a:t>MEDIUM</a:t>
              </a:r>
              <a:r>
                <a:rPr lang="en-US" sz="1800">
                  <a:solidFill>
                    <a:srgbClr val="52636A"/>
                  </a:solidFill>
                  <a:latin typeface="Arimo" panose="020B0604020202020204"/>
                  <a:ea typeface="Arimo" panose="020B0604020202020204"/>
                  <a:cs typeface="Arimo" panose="020B0604020202020204"/>
                  <a:sym typeface="Arimo" panose="020B0604020202020204"/>
                </a:rPr>
                <a:t> / </a:t>
              </a:r>
              <a:r>
                <a:rPr lang="en-US" sz="1800">
                  <a:solidFill>
                    <a:srgbClr val="B96E61"/>
                  </a:solidFill>
                  <a:latin typeface="Arimo" panose="020B0604020202020204"/>
                  <a:ea typeface="Arimo" panose="020B0604020202020204"/>
                  <a:cs typeface="Arimo" panose="020B0604020202020204"/>
                  <a:sym typeface="Arimo" panose="020B0604020202020204"/>
                </a:rPr>
                <a:t>HIGH</a:t>
              </a:r>
              <a:endParaRPr lang="en-US" sz="1800">
                <a:solidFill>
                  <a:srgbClr val="B96E61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endParaRPr>
            </a:p>
          </p:txBody>
        </p:sp>
      </p:grpSp>
      <p:grpSp>
        <p:nvGrpSpPr>
          <p:cNvPr id="167" name="Group 167"/>
          <p:cNvGrpSpPr/>
          <p:nvPr/>
        </p:nvGrpSpPr>
        <p:grpSpPr>
          <a:xfrm rot="0">
            <a:off x="10452106" y="5938085"/>
            <a:ext cx="7513110" cy="2760297"/>
            <a:chOff x="0" y="0"/>
            <a:chExt cx="10017481" cy="3680396"/>
          </a:xfrm>
        </p:grpSpPr>
        <p:sp>
          <p:nvSpPr>
            <p:cNvPr id="168" name="Freeform 168"/>
            <p:cNvSpPr/>
            <p:nvPr/>
          </p:nvSpPr>
          <p:spPr>
            <a:xfrm>
              <a:off x="0" y="0"/>
              <a:ext cx="10017506" cy="3680333"/>
            </a:xfrm>
            <a:custGeom>
              <a:avLst/>
              <a:gdLst/>
              <a:ahLst/>
              <a:cxnLst/>
              <a:rect l="l" t="t" r="r" b="b"/>
              <a:pathLst>
                <a:path w="10017506" h="3680333">
                  <a:moveTo>
                    <a:pt x="0" y="296672"/>
                  </a:moveTo>
                  <a:cubicBezTo>
                    <a:pt x="0" y="132842"/>
                    <a:pt x="132842" y="0"/>
                    <a:pt x="296672" y="0"/>
                  </a:cubicBezTo>
                  <a:lnTo>
                    <a:pt x="9720834" y="0"/>
                  </a:lnTo>
                  <a:cubicBezTo>
                    <a:pt x="9884664" y="0"/>
                    <a:pt x="10017506" y="132842"/>
                    <a:pt x="10017506" y="296672"/>
                  </a:cubicBezTo>
                  <a:lnTo>
                    <a:pt x="10017506" y="3383661"/>
                  </a:lnTo>
                  <a:cubicBezTo>
                    <a:pt x="10017506" y="3547491"/>
                    <a:pt x="9884664" y="3680333"/>
                    <a:pt x="9720834" y="3680333"/>
                  </a:cubicBezTo>
                  <a:lnTo>
                    <a:pt x="296672" y="3680333"/>
                  </a:lnTo>
                  <a:cubicBezTo>
                    <a:pt x="132842" y="3680460"/>
                    <a:pt x="0" y="3547618"/>
                    <a:pt x="0" y="3383661"/>
                  </a:cubicBezTo>
                  <a:close/>
                </a:path>
              </a:pathLst>
            </a:custGeom>
            <a:solidFill>
              <a:srgbClr val="EAEEEA">
                <a:alpha val="56078"/>
              </a:srgbClr>
            </a:solidFill>
            <a:ln w="9526" cap="sq">
              <a:solidFill>
                <a:srgbClr val="B8C7C3"/>
              </a:solidFill>
              <a:prstDash val="solid"/>
              <a:miter/>
            </a:ln>
          </p:spPr>
        </p:sp>
      </p:grpSp>
      <p:grpSp>
        <p:nvGrpSpPr>
          <p:cNvPr id="169" name="Group 169"/>
          <p:cNvGrpSpPr/>
          <p:nvPr/>
        </p:nvGrpSpPr>
        <p:grpSpPr>
          <a:xfrm rot="0">
            <a:off x="10720226" y="6134462"/>
            <a:ext cx="3495989" cy="293265"/>
            <a:chOff x="0" y="0"/>
            <a:chExt cx="4661319" cy="391020"/>
          </a:xfrm>
        </p:grpSpPr>
        <p:sp>
          <p:nvSpPr>
            <p:cNvPr id="170" name="Freeform 170"/>
            <p:cNvSpPr/>
            <p:nvPr/>
          </p:nvSpPr>
          <p:spPr>
            <a:xfrm>
              <a:off x="0" y="0"/>
              <a:ext cx="4661317" cy="391024"/>
            </a:xfrm>
            <a:custGeom>
              <a:avLst/>
              <a:gdLst/>
              <a:ahLst/>
              <a:cxnLst/>
              <a:rect l="l" t="t" r="r" b="b"/>
              <a:pathLst>
                <a:path w="4661317" h="391024">
                  <a:moveTo>
                    <a:pt x="0" y="0"/>
                  </a:moveTo>
                  <a:lnTo>
                    <a:pt x="4661317" y="0"/>
                  </a:lnTo>
                  <a:lnTo>
                    <a:pt x="4661317" y="391024"/>
                  </a:lnTo>
                  <a:lnTo>
                    <a:pt x="0" y="3910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82277" b="-182276"/>
              </a:stretch>
            </a:blipFill>
          </p:spPr>
        </p:sp>
        <p:sp>
          <p:nvSpPr>
            <p:cNvPr id="171" name="TextBox 171"/>
            <p:cNvSpPr txBox="1"/>
            <p:nvPr/>
          </p:nvSpPr>
          <p:spPr>
            <a:xfrm>
              <a:off x="0" y="-9525"/>
              <a:ext cx="4661319" cy="4005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70"/>
                </a:lnSpc>
              </a:pPr>
              <a:r>
                <a:rPr lang="en-US" sz="2060" b="1" spc="217">
                  <a:solidFill>
                    <a:srgbClr val="4B7C7A"/>
                  </a:solidFill>
                  <a:latin typeface="Arimo Bold" panose="020B0704020202020204"/>
                  <a:ea typeface="Arimo Bold" panose="020B0704020202020204"/>
                  <a:cs typeface="Arimo Bold" panose="020B0704020202020204"/>
                  <a:sym typeface="Arimo Bold" panose="020B0704020202020204"/>
                </a:rPr>
                <a:t>TECHNOLOGIES USED</a:t>
              </a:r>
              <a:endParaRPr lang="en-US" sz="2060" b="1" spc="217">
                <a:solidFill>
                  <a:srgbClr val="4B7C7A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endParaRPr>
            </a:p>
          </p:txBody>
        </p:sp>
      </p:grpSp>
      <p:grpSp>
        <p:nvGrpSpPr>
          <p:cNvPr id="172" name="Group 172"/>
          <p:cNvGrpSpPr/>
          <p:nvPr/>
        </p:nvGrpSpPr>
        <p:grpSpPr>
          <a:xfrm rot="0">
            <a:off x="10658155" y="6526939"/>
            <a:ext cx="4863170" cy="411977"/>
            <a:chOff x="0" y="0"/>
            <a:chExt cx="5425199" cy="459589"/>
          </a:xfrm>
        </p:grpSpPr>
        <p:sp>
          <p:nvSpPr>
            <p:cNvPr id="173" name="Freeform 173"/>
            <p:cNvSpPr/>
            <p:nvPr/>
          </p:nvSpPr>
          <p:spPr>
            <a:xfrm>
              <a:off x="0" y="0"/>
              <a:ext cx="5425200" cy="459593"/>
            </a:xfrm>
            <a:custGeom>
              <a:avLst/>
              <a:gdLst/>
              <a:ahLst/>
              <a:cxnLst/>
              <a:rect l="l" t="t" r="r" b="b"/>
              <a:pathLst>
                <a:path w="5425200" h="459593">
                  <a:moveTo>
                    <a:pt x="0" y="0"/>
                  </a:moveTo>
                  <a:lnTo>
                    <a:pt x="5425200" y="0"/>
                  </a:lnTo>
                  <a:lnTo>
                    <a:pt x="5425200" y="459593"/>
                  </a:lnTo>
                  <a:lnTo>
                    <a:pt x="0" y="45959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87468" b="-172548"/>
              </a:stretch>
            </a:blipFill>
          </p:spPr>
        </p:sp>
        <p:sp>
          <p:nvSpPr>
            <p:cNvPr id="174" name="TextBox 174"/>
            <p:cNvSpPr txBox="1"/>
            <p:nvPr/>
          </p:nvSpPr>
          <p:spPr>
            <a:xfrm>
              <a:off x="0" y="-9525"/>
              <a:ext cx="5425199" cy="46911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70"/>
                </a:lnSpc>
              </a:pPr>
              <a:r>
                <a:rPr lang="en-US" sz="2060" b="1">
                  <a:solidFill>
                    <a:srgbClr val="C66A4A"/>
                  </a:solidFill>
                  <a:latin typeface="Arimo Bold" panose="020B0704020202020204"/>
                  <a:ea typeface="Arimo Bold" panose="020B0704020202020204"/>
                  <a:cs typeface="Arimo Bold" panose="020B0704020202020204"/>
                  <a:sym typeface="Arimo Bold" panose="020B0704020202020204"/>
                </a:rPr>
                <a:t>Frontend:</a:t>
              </a:r>
              <a:r>
                <a:rPr lang="en-US" sz="2060">
                  <a:solidFill>
                    <a:srgbClr val="40525A"/>
                  </a:solidFill>
                  <a:latin typeface="Arimo" panose="020B0604020202020204"/>
                  <a:ea typeface="Arimo" panose="020B0604020202020204"/>
                  <a:cs typeface="Arimo" panose="020B0604020202020204"/>
                  <a:sym typeface="Arimo" panose="020B0604020202020204"/>
                </a:rPr>
                <a:t> HTML/CSS/JS</a:t>
              </a:r>
              <a:endParaRPr lang="en-US" sz="2060">
                <a:solidFill>
                  <a:srgbClr val="40525A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endParaRPr>
            </a:p>
          </p:txBody>
        </p:sp>
      </p:grpSp>
      <p:grpSp>
        <p:nvGrpSpPr>
          <p:cNvPr id="175" name="Group 175"/>
          <p:cNvGrpSpPr/>
          <p:nvPr/>
        </p:nvGrpSpPr>
        <p:grpSpPr>
          <a:xfrm rot="0">
            <a:off x="14343278" y="6332628"/>
            <a:ext cx="2951577" cy="716777"/>
            <a:chOff x="0" y="0"/>
            <a:chExt cx="3045044" cy="739475"/>
          </a:xfrm>
        </p:grpSpPr>
        <p:sp>
          <p:nvSpPr>
            <p:cNvPr id="176" name="Freeform 176"/>
            <p:cNvSpPr/>
            <p:nvPr/>
          </p:nvSpPr>
          <p:spPr>
            <a:xfrm>
              <a:off x="0" y="0"/>
              <a:ext cx="3045044" cy="739479"/>
            </a:xfrm>
            <a:custGeom>
              <a:avLst/>
              <a:gdLst/>
              <a:ahLst/>
              <a:cxnLst/>
              <a:rect l="l" t="t" r="r" b="b"/>
              <a:pathLst>
                <a:path w="3045044" h="739479">
                  <a:moveTo>
                    <a:pt x="0" y="0"/>
                  </a:moveTo>
                  <a:lnTo>
                    <a:pt x="3045044" y="0"/>
                  </a:lnTo>
                  <a:lnTo>
                    <a:pt x="3045044" y="739479"/>
                  </a:lnTo>
                  <a:lnTo>
                    <a:pt x="0" y="73947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12725" r="-73444" b="-65603"/>
              </a:stretch>
            </a:blipFill>
          </p:spPr>
        </p:sp>
        <p:sp>
          <p:nvSpPr>
            <p:cNvPr id="177" name="TextBox 177"/>
            <p:cNvSpPr txBox="1"/>
            <p:nvPr/>
          </p:nvSpPr>
          <p:spPr>
            <a:xfrm>
              <a:off x="0" y="-9525"/>
              <a:ext cx="3045044" cy="7490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70"/>
                </a:lnSpc>
              </a:pPr>
              <a:r>
                <a:rPr lang="en-US" sz="2060" b="1">
                  <a:solidFill>
                    <a:srgbClr val="C66A4A"/>
                  </a:solidFill>
                  <a:latin typeface="Arimo Bold" panose="020B0704020202020204"/>
                  <a:ea typeface="Arimo Bold" panose="020B0704020202020204"/>
                  <a:cs typeface="Arimo Bold" panose="020B0704020202020204"/>
                  <a:sym typeface="Arimo Bold" panose="020B0704020202020204"/>
                </a:rPr>
                <a:t>Backend:</a:t>
              </a:r>
              <a:r>
                <a:rPr lang="en-US" sz="2060">
                  <a:solidFill>
                    <a:srgbClr val="40525A"/>
                  </a:solidFill>
                  <a:latin typeface="Arimo" panose="020B0604020202020204"/>
                  <a:ea typeface="Arimo" panose="020B0604020202020204"/>
                  <a:cs typeface="Arimo" panose="020B0604020202020204"/>
                  <a:sym typeface="Arimo" panose="020B0604020202020204"/>
                </a:rPr>
                <a:t> Python</a:t>
              </a:r>
              <a:r>
                <a:rPr lang="en-IN" altLang="en-US" sz="2060">
                  <a:solidFill>
                    <a:srgbClr val="40525A"/>
                  </a:solidFill>
                  <a:latin typeface="Arimo" panose="020B0604020202020204"/>
                  <a:ea typeface="Arimo" panose="020B0604020202020204"/>
                  <a:cs typeface="Arimo" panose="020B0604020202020204"/>
                  <a:sym typeface="Arimo" panose="020B0604020202020204"/>
                </a:rPr>
                <a:t> (Flask)</a:t>
              </a:r>
              <a:endParaRPr lang="en-IN" altLang="en-US" sz="2060">
                <a:solidFill>
                  <a:srgbClr val="40525A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endParaRPr>
            </a:p>
          </p:txBody>
        </p:sp>
      </p:grpSp>
      <p:grpSp>
        <p:nvGrpSpPr>
          <p:cNvPr id="178" name="Group 178"/>
          <p:cNvGrpSpPr/>
          <p:nvPr/>
        </p:nvGrpSpPr>
        <p:grpSpPr>
          <a:xfrm rot="0">
            <a:off x="10658155" y="7034167"/>
            <a:ext cx="2433928" cy="415901"/>
            <a:chOff x="0" y="0"/>
            <a:chExt cx="2986329" cy="510293"/>
          </a:xfrm>
        </p:grpSpPr>
        <p:sp>
          <p:nvSpPr>
            <p:cNvPr id="179" name="Freeform 179"/>
            <p:cNvSpPr/>
            <p:nvPr/>
          </p:nvSpPr>
          <p:spPr>
            <a:xfrm>
              <a:off x="0" y="0"/>
              <a:ext cx="2986331" cy="510297"/>
            </a:xfrm>
            <a:custGeom>
              <a:avLst/>
              <a:gdLst/>
              <a:ahLst/>
              <a:cxnLst/>
              <a:rect l="l" t="t" r="r" b="b"/>
              <a:pathLst>
                <a:path w="2986331" h="510297">
                  <a:moveTo>
                    <a:pt x="0" y="0"/>
                  </a:moveTo>
                  <a:lnTo>
                    <a:pt x="2986331" y="0"/>
                  </a:lnTo>
                  <a:lnTo>
                    <a:pt x="2986331" y="510297"/>
                  </a:lnTo>
                  <a:lnTo>
                    <a:pt x="0" y="51029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75716" b="-52342"/>
              </a:stretch>
            </a:blipFill>
          </p:spPr>
        </p:sp>
        <p:sp>
          <p:nvSpPr>
            <p:cNvPr id="180" name="TextBox 180"/>
            <p:cNvSpPr txBox="1"/>
            <p:nvPr/>
          </p:nvSpPr>
          <p:spPr>
            <a:xfrm>
              <a:off x="0" y="-9525"/>
              <a:ext cx="2986329" cy="5198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70"/>
                </a:lnSpc>
              </a:pPr>
              <a:r>
                <a:rPr lang="en-US" sz="2060" b="1">
                  <a:solidFill>
                    <a:srgbClr val="C66A4A"/>
                  </a:solidFill>
                  <a:latin typeface="Arimo Bold" panose="020B0704020202020204"/>
                  <a:ea typeface="Arimo Bold" panose="020B0704020202020204"/>
                  <a:cs typeface="Arimo Bold" panose="020B0704020202020204"/>
                  <a:sym typeface="Arimo Bold" panose="020B0704020202020204"/>
                </a:rPr>
                <a:t>Database:</a:t>
              </a:r>
              <a:r>
                <a:rPr lang="en-US" sz="2060">
                  <a:solidFill>
                    <a:srgbClr val="40525A"/>
                  </a:solidFill>
                  <a:latin typeface="Arimo" panose="020B0604020202020204"/>
                  <a:ea typeface="Arimo" panose="020B0604020202020204"/>
                  <a:cs typeface="Arimo" panose="020B0604020202020204"/>
                  <a:sym typeface="Arimo" panose="020B0604020202020204"/>
                </a:rPr>
                <a:t> MySQL</a:t>
              </a:r>
              <a:endParaRPr lang="en-US" sz="2060">
                <a:solidFill>
                  <a:srgbClr val="40525A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endParaRPr>
            </a:p>
          </p:txBody>
        </p:sp>
      </p:grpSp>
      <p:grpSp>
        <p:nvGrpSpPr>
          <p:cNvPr id="181" name="Group 181"/>
          <p:cNvGrpSpPr/>
          <p:nvPr/>
        </p:nvGrpSpPr>
        <p:grpSpPr>
          <a:xfrm rot="0">
            <a:off x="14331492" y="7091679"/>
            <a:ext cx="4270213" cy="716777"/>
            <a:chOff x="0" y="0"/>
            <a:chExt cx="5107038" cy="857243"/>
          </a:xfrm>
        </p:grpSpPr>
        <p:sp>
          <p:nvSpPr>
            <p:cNvPr id="182" name="Freeform 182"/>
            <p:cNvSpPr/>
            <p:nvPr/>
          </p:nvSpPr>
          <p:spPr>
            <a:xfrm>
              <a:off x="0" y="0"/>
              <a:ext cx="5107037" cy="857247"/>
            </a:xfrm>
            <a:custGeom>
              <a:avLst/>
              <a:gdLst/>
              <a:ahLst/>
              <a:cxnLst/>
              <a:rect l="l" t="t" r="r" b="b"/>
              <a:pathLst>
                <a:path w="5107037" h="857247">
                  <a:moveTo>
                    <a:pt x="0" y="0"/>
                  </a:moveTo>
                  <a:lnTo>
                    <a:pt x="5107037" y="0"/>
                  </a:lnTo>
                  <a:lnTo>
                    <a:pt x="5107037" y="857247"/>
                  </a:lnTo>
                  <a:lnTo>
                    <a:pt x="0" y="85724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93275" b="-38888"/>
              </a:stretch>
            </a:blipFill>
          </p:spPr>
        </p:sp>
        <p:sp>
          <p:nvSpPr>
            <p:cNvPr id="183" name="TextBox 183"/>
            <p:cNvSpPr txBox="1"/>
            <p:nvPr/>
          </p:nvSpPr>
          <p:spPr>
            <a:xfrm>
              <a:off x="0" y="-9525"/>
              <a:ext cx="5107038" cy="86676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70"/>
                </a:lnSpc>
              </a:pPr>
              <a:r>
                <a:rPr lang="en-US" sz="2060" b="1">
                  <a:solidFill>
                    <a:srgbClr val="C66A4A"/>
                  </a:solidFill>
                  <a:latin typeface="Arimo Bold" panose="020B0704020202020204"/>
                  <a:ea typeface="Arimo Bold" panose="020B0704020202020204"/>
                  <a:cs typeface="Arimo Bold" panose="020B0704020202020204"/>
                  <a:sym typeface="Arimo Bold" panose="020B0704020202020204"/>
                </a:rPr>
                <a:t>Maps:</a:t>
              </a:r>
              <a:r>
                <a:rPr lang="en-US" sz="2060">
                  <a:solidFill>
                    <a:srgbClr val="40525A"/>
                  </a:solidFill>
                  <a:latin typeface="Arimo" panose="020B0604020202020204"/>
                  <a:ea typeface="Arimo" panose="020B0604020202020204"/>
                  <a:cs typeface="Arimo" panose="020B0604020202020204"/>
                  <a:sym typeface="Arimo" panose="020B0604020202020204"/>
                </a:rPr>
                <a:t> OpenStreetMap + GoogleMaps</a:t>
              </a:r>
              <a:endParaRPr lang="en-US" sz="2060">
                <a:solidFill>
                  <a:srgbClr val="40525A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endParaRPr>
            </a:p>
          </p:txBody>
        </p:sp>
      </p:grpSp>
      <p:grpSp>
        <p:nvGrpSpPr>
          <p:cNvPr id="184" name="Group 184"/>
          <p:cNvGrpSpPr/>
          <p:nvPr/>
        </p:nvGrpSpPr>
        <p:grpSpPr>
          <a:xfrm rot="0">
            <a:off x="10658155" y="7494349"/>
            <a:ext cx="3477926" cy="413040"/>
            <a:chOff x="0" y="0"/>
            <a:chExt cx="5166042" cy="613521"/>
          </a:xfrm>
        </p:grpSpPr>
        <p:sp>
          <p:nvSpPr>
            <p:cNvPr id="185" name="Freeform 185"/>
            <p:cNvSpPr/>
            <p:nvPr/>
          </p:nvSpPr>
          <p:spPr>
            <a:xfrm>
              <a:off x="0" y="0"/>
              <a:ext cx="5166040" cy="613525"/>
            </a:xfrm>
            <a:custGeom>
              <a:avLst/>
              <a:gdLst/>
              <a:ahLst/>
              <a:cxnLst/>
              <a:rect l="l" t="t" r="r" b="b"/>
              <a:pathLst>
                <a:path w="5166040" h="613525">
                  <a:moveTo>
                    <a:pt x="0" y="0"/>
                  </a:moveTo>
                  <a:lnTo>
                    <a:pt x="5166040" y="0"/>
                  </a:lnTo>
                  <a:lnTo>
                    <a:pt x="5166040" y="613525"/>
                  </a:lnTo>
                  <a:lnTo>
                    <a:pt x="0" y="61352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2202" b="-95935"/>
              </a:stretch>
            </a:blipFill>
          </p:spPr>
        </p:sp>
        <p:sp>
          <p:nvSpPr>
            <p:cNvPr id="186" name="TextBox 186"/>
            <p:cNvSpPr txBox="1"/>
            <p:nvPr/>
          </p:nvSpPr>
          <p:spPr>
            <a:xfrm>
              <a:off x="0" y="-9525"/>
              <a:ext cx="5166042" cy="62304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70"/>
                </a:lnSpc>
              </a:pPr>
              <a:r>
                <a:rPr lang="en-US" sz="2060" b="1">
                  <a:solidFill>
                    <a:srgbClr val="C66A4A"/>
                  </a:solidFill>
                  <a:latin typeface="Arimo Bold" panose="020B0704020202020204"/>
                  <a:ea typeface="Arimo Bold" panose="020B0704020202020204"/>
                  <a:cs typeface="Arimo Bold" panose="020B0704020202020204"/>
                  <a:sym typeface="Arimo Bold" panose="020B0704020202020204"/>
                </a:rPr>
                <a:t>Location:</a:t>
              </a:r>
              <a:r>
                <a:rPr lang="en-US" sz="2060">
                  <a:solidFill>
                    <a:srgbClr val="40525A"/>
                  </a:solidFill>
                  <a:latin typeface="Arimo" panose="020B0604020202020204"/>
                  <a:ea typeface="Arimo" panose="020B0604020202020204"/>
                  <a:cs typeface="Arimo" panose="020B0604020202020204"/>
                  <a:sym typeface="Arimo" panose="020B0604020202020204"/>
                </a:rPr>
                <a:t> GPS</a:t>
              </a:r>
              <a:endParaRPr lang="en-US" sz="2060">
                <a:solidFill>
                  <a:srgbClr val="40525A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endParaRPr>
            </a:p>
          </p:txBody>
        </p:sp>
      </p:grpSp>
      <p:grpSp>
        <p:nvGrpSpPr>
          <p:cNvPr id="187" name="Group 187"/>
          <p:cNvGrpSpPr/>
          <p:nvPr/>
        </p:nvGrpSpPr>
        <p:grpSpPr>
          <a:xfrm rot="0">
            <a:off x="14343278" y="7907389"/>
            <a:ext cx="3725225" cy="411977"/>
            <a:chOff x="0" y="0"/>
            <a:chExt cx="4508017" cy="498548"/>
          </a:xfrm>
        </p:grpSpPr>
        <p:sp>
          <p:nvSpPr>
            <p:cNvPr id="188" name="Freeform 188"/>
            <p:cNvSpPr/>
            <p:nvPr/>
          </p:nvSpPr>
          <p:spPr>
            <a:xfrm>
              <a:off x="0" y="0"/>
              <a:ext cx="4508021" cy="498551"/>
            </a:xfrm>
            <a:custGeom>
              <a:avLst/>
              <a:gdLst/>
              <a:ahLst/>
              <a:cxnLst/>
              <a:rect l="l" t="t" r="r" b="b"/>
              <a:pathLst>
                <a:path w="4508021" h="498551">
                  <a:moveTo>
                    <a:pt x="0" y="0"/>
                  </a:moveTo>
                  <a:lnTo>
                    <a:pt x="4508021" y="0"/>
                  </a:lnTo>
                  <a:lnTo>
                    <a:pt x="4508021" y="498551"/>
                  </a:lnTo>
                  <a:lnTo>
                    <a:pt x="0" y="49855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6972" b="-115403"/>
              </a:stretch>
            </a:blipFill>
          </p:spPr>
        </p:sp>
        <p:sp>
          <p:nvSpPr>
            <p:cNvPr id="189" name="TextBox 189"/>
            <p:cNvSpPr txBox="1"/>
            <p:nvPr/>
          </p:nvSpPr>
          <p:spPr>
            <a:xfrm>
              <a:off x="0" y="-9525"/>
              <a:ext cx="4508017" cy="5080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70"/>
                </a:lnSpc>
              </a:pPr>
              <a:r>
                <a:rPr lang="en-US" sz="2060" b="1">
                  <a:solidFill>
                    <a:srgbClr val="C66A4A"/>
                  </a:solidFill>
                  <a:latin typeface="Arimo Bold" panose="020B0704020202020204"/>
                  <a:ea typeface="Arimo Bold" panose="020B0704020202020204"/>
                  <a:cs typeface="Arimo Bold" panose="020B0704020202020204"/>
                  <a:sym typeface="Arimo Bold" panose="020B0704020202020204"/>
                </a:rPr>
                <a:t>AI:</a:t>
              </a:r>
              <a:r>
                <a:rPr lang="en-US" sz="2060">
                  <a:solidFill>
                    <a:srgbClr val="40525A"/>
                  </a:solidFill>
                  <a:latin typeface="Arimo" panose="020B0604020202020204"/>
                  <a:ea typeface="Arimo" panose="020B0604020202020204"/>
                  <a:cs typeface="Arimo" panose="020B0604020202020204"/>
                  <a:sym typeface="Arimo" panose="020B0604020202020204"/>
                </a:rPr>
                <a:t> Google gemini </a:t>
              </a:r>
              <a:endParaRPr lang="en-US" sz="2060">
                <a:solidFill>
                  <a:srgbClr val="40525A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endParaRPr>
            </a:p>
          </p:txBody>
        </p:sp>
      </p:grpSp>
      <p:grpSp>
        <p:nvGrpSpPr>
          <p:cNvPr id="190" name="Group 190"/>
          <p:cNvGrpSpPr/>
          <p:nvPr/>
        </p:nvGrpSpPr>
        <p:grpSpPr>
          <a:xfrm rot="0">
            <a:off x="14343278" y="8295227"/>
            <a:ext cx="2745629" cy="293265"/>
            <a:chOff x="0" y="0"/>
            <a:chExt cx="3660838" cy="391020"/>
          </a:xfrm>
        </p:grpSpPr>
        <p:sp>
          <p:nvSpPr>
            <p:cNvPr id="191" name="Freeform 191"/>
            <p:cNvSpPr/>
            <p:nvPr/>
          </p:nvSpPr>
          <p:spPr>
            <a:xfrm>
              <a:off x="0" y="0"/>
              <a:ext cx="3660837" cy="391024"/>
            </a:xfrm>
            <a:custGeom>
              <a:avLst/>
              <a:gdLst/>
              <a:ahLst/>
              <a:cxnLst/>
              <a:rect l="l" t="t" r="r" b="b"/>
              <a:pathLst>
                <a:path w="3660837" h="391024">
                  <a:moveTo>
                    <a:pt x="0" y="0"/>
                  </a:moveTo>
                  <a:lnTo>
                    <a:pt x="3660837" y="0"/>
                  </a:lnTo>
                  <a:lnTo>
                    <a:pt x="3660837" y="391024"/>
                  </a:lnTo>
                  <a:lnTo>
                    <a:pt x="0" y="3910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2422" b="-132422"/>
              </a:stretch>
            </a:blipFill>
          </p:spPr>
        </p:sp>
        <p:sp>
          <p:nvSpPr>
            <p:cNvPr id="192" name="TextBox 192"/>
            <p:cNvSpPr txBox="1"/>
            <p:nvPr/>
          </p:nvSpPr>
          <p:spPr>
            <a:xfrm>
              <a:off x="0" y="-9525"/>
              <a:ext cx="3660838" cy="4005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70"/>
                </a:lnSpc>
              </a:pPr>
              <a:r>
                <a:rPr lang="en-US" sz="2060" b="1">
                  <a:solidFill>
                    <a:srgbClr val="C66A4A"/>
                  </a:solidFill>
                  <a:latin typeface="Arimo Bold" panose="020B0704020202020204"/>
                  <a:ea typeface="Arimo Bold" panose="020B0704020202020204"/>
                  <a:cs typeface="Arimo Bold" panose="020B0704020202020204"/>
                  <a:sym typeface="Arimo Bold" panose="020B0704020202020204"/>
                </a:rPr>
                <a:t>Visualization:</a:t>
              </a:r>
              <a:r>
                <a:rPr lang="en-US" sz="2060">
                  <a:solidFill>
                    <a:srgbClr val="40525A"/>
                  </a:solidFill>
                  <a:latin typeface="Arimo" panose="020B0604020202020204"/>
                  <a:ea typeface="Arimo" panose="020B0604020202020204"/>
                  <a:cs typeface="Arimo" panose="020B0604020202020204"/>
                  <a:sym typeface="Arimo" panose="020B0604020202020204"/>
                </a:rPr>
                <a:t> Chart.js</a:t>
              </a:r>
              <a:endParaRPr lang="en-US" sz="2060">
                <a:solidFill>
                  <a:srgbClr val="40525A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endParaRPr>
            </a:p>
          </p:txBody>
        </p:sp>
      </p:grpSp>
      <p:grpSp>
        <p:nvGrpSpPr>
          <p:cNvPr id="193" name="Group 193"/>
          <p:cNvGrpSpPr/>
          <p:nvPr/>
        </p:nvGrpSpPr>
        <p:grpSpPr>
          <a:xfrm rot="0">
            <a:off x="10658155" y="8059233"/>
            <a:ext cx="3353805" cy="471988"/>
            <a:chOff x="0" y="0"/>
            <a:chExt cx="3621683" cy="509687"/>
          </a:xfrm>
        </p:grpSpPr>
        <p:sp>
          <p:nvSpPr>
            <p:cNvPr id="194" name="Freeform 194"/>
            <p:cNvSpPr/>
            <p:nvPr/>
          </p:nvSpPr>
          <p:spPr>
            <a:xfrm>
              <a:off x="0" y="0"/>
              <a:ext cx="3621682" cy="509691"/>
            </a:xfrm>
            <a:custGeom>
              <a:avLst/>
              <a:gdLst/>
              <a:ahLst/>
              <a:cxnLst/>
              <a:rect l="l" t="t" r="r" b="b"/>
              <a:pathLst>
                <a:path w="3621682" h="509691">
                  <a:moveTo>
                    <a:pt x="0" y="0"/>
                  </a:moveTo>
                  <a:lnTo>
                    <a:pt x="3621682" y="0"/>
                  </a:lnTo>
                  <a:lnTo>
                    <a:pt x="3621682" y="509691"/>
                  </a:lnTo>
                  <a:lnTo>
                    <a:pt x="0" y="50969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61044" r="28204" b="-37761"/>
              </a:stretch>
            </a:blipFill>
          </p:spPr>
        </p:sp>
        <p:sp>
          <p:nvSpPr>
            <p:cNvPr id="195" name="TextBox 195"/>
            <p:cNvSpPr txBox="1"/>
            <p:nvPr/>
          </p:nvSpPr>
          <p:spPr>
            <a:xfrm>
              <a:off x="0" y="-9525"/>
              <a:ext cx="3621683" cy="51921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70"/>
                </a:lnSpc>
              </a:pPr>
              <a:r>
                <a:rPr lang="en-US" sz="2060" b="1">
                  <a:solidFill>
                    <a:srgbClr val="C66A4A"/>
                  </a:solidFill>
                  <a:latin typeface="Arimo Bold" panose="020B0704020202020204"/>
                  <a:ea typeface="Arimo Bold" panose="020B0704020202020204"/>
                  <a:cs typeface="Arimo Bold" panose="020B0704020202020204"/>
                  <a:sym typeface="Arimo Bold" panose="020B0704020202020204"/>
                </a:rPr>
                <a:t>APIs:</a:t>
              </a:r>
              <a:r>
                <a:rPr lang="en-US" sz="2060">
                  <a:solidFill>
                    <a:srgbClr val="40525A"/>
                  </a:solidFill>
                  <a:latin typeface="Arimo" panose="020B0604020202020204"/>
                  <a:ea typeface="Arimo" panose="020B0604020202020204"/>
                  <a:cs typeface="Arimo" panose="020B0604020202020204"/>
                  <a:sym typeface="Arimo" panose="020B0604020202020204"/>
                </a:rPr>
                <a:t> Google gemini</a:t>
              </a:r>
              <a:endParaRPr lang="en-US" sz="2060">
                <a:solidFill>
                  <a:srgbClr val="40525A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4F1EA"/>
            </a:solidFill>
          </p:spPr>
        </p:sp>
      </p:grpSp>
      <p:grpSp>
        <p:nvGrpSpPr>
          <p:cNvPr id="4" name="Group 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 rot="0">
            <a:off x="1280074" y="1150439"/>
            <a:ext cx="15220760" cy="914400"/>
            <a:chOff x="0" y="0"/>
            <a:chExt cx="20294346" cy="1219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294341" cy="1219200"/>
            </a:xfrm>
            <a:custGeom>
              <a:avLst/>
              <a:gdLst/>
              <a:ahLst/>
              <a:cxnLst/>
              <a:rect l="l" t="t" r="r" b="b"/>
              <a:pathLst>
                <a:path w="20294341" h="1219200">
                  <a:moveTo>
                    <a:pt x="0" y="0"/>
                  </a:moveTo>
                  <a:lnTo>
                    <a:pt x="20294341" y="0"/>
                  </a:lnTo>
                  <a:lnTo>
                    <a:pt x="20294341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74340" b="-274340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0"/>
              <a:ext cx="20294346" cy="1219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75"/>
                </a:lnSpc>
              </a:pPr>
              <a:r>
                <a:rPr lang="en-US" sz="5980" b="1" spc="-357">
                  <a:solidFill>
                    <a:srgbClr val="24313A"/>
                  </a:solidFill>
                  <a:latin typeface="Inter Bold" panose="02000503000000020004"/>
                  <a:ea typeface="Inter Bold" panose="02000503000000020004"/>
                  <a:cs typeface="Inter Bold" panose="02000503000000020004"/>
                  <a:sym typeface="Inter Bold" panose="02000503000000020004"/>
                </a:rPr>
                <a:t>Conclusion — Towards Safer Travel</a:t>
              </a:r>
              <a:endParaRPr lang="en-US" sz="5980" b="1" spc="-357">
                <a:solidFill>
                  <a:srgbClr val="24313A"/>
                </a:solidFill>
                <a:latin typeface="Inter Bold" panose="02000503000000020004"/>
                <a:ea typeface="Inter Bold" panose="02000503000000020004"/>
                <a:cs typeface="Inter Bold" panose="02000503000000020004"/>
                <a:sym typeface="Inter Bold" panose="02000503000000020004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 rot="0">
            <a:off x="1282303" y="2694984"/>
            <a:ext cx="114300" cy="114300"/>
            <a:chOff x="0" y="0"/>
            <a:chExt cx="152400" cy="1524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cubicBezTo>
                    <a:pt x="152400" y="118237"/>
                    <a:pt x="118237" y="152400"/>
                    <a:pt x="76200" y="152400"/>
                  </a:cubicBezTo>
                  <a:cubicBezTo>
                    <a:pt x="34163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4B7C7A"/>
            </a:solidFill>
          </p:spPr>
        </p:sp>
      </p:grpSp>
      <p:sp>
        <p:nvSpPr>
          <p:cNvPr id="11" name="TextBox 11"/>
          <p:cNvSpPr txBox="1"/>
          <p:nvPr/>
        </p:nvSpPr>
        <p:spPr>
          <a:xfrm>
            <a:off x="1545136" y="2605145"/>
            <a:ext cx="4040715" cy="628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394B54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Provides quick access to an</a:t>
            </a:r>
            <a:endParaRPr lang="en-US" sz="1800">
              <a:solidFill>
                <a:srgbClr val="394B54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394B54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SOS/emergency mechanism</a:t>
            </a:r>
            <a:endParaRPr lang="en-US" sz="1800">
              <a:solidFill>
                <a:srgbClr val="394B54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</p:txBody>
      </p:sp>
      <p:grpSp>
        <p:nvGrpSpPr>
          <p:cNvPr id="12" name="Group 12"/>
          <p:cNvGrpSpPr/>
          <p:nvPr/>
        </p:nvGrpSpPr>
        <p:grpSpPr>
          <a:xfrm rot="0">
            <a:off x="5371948" y="2694984"/>
            <a:ext cx="114300" cy="114300"/>
            <a:chOff x="0" y="0"/>
            <a:chExt cx="152400" cy="1524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cubicBezTo>
                    <a:pt x="152400" y="118237"/>
                    <a:pt x="118237" y="152400"/>
                    <a:pt x="76200" y="152400"/>
                  </a:cubicBezTo>
                  <a:cubicBezTo>
                    <a:pt x="34163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4B7C7A"/>
            </a:solidFill>
          </p:spPr>
        </p:sp>
      </p:grpSp>
      <p:sp>
        <p:nvSpPr>
          <p:cNvPr id="14" name="TextBox 14"/>
          <p:cNvSpPr txBox="1"/>
          <p:nvPr/>
        </p:nvSpPr>
        <p:spPr>
          <a:xfrm>
            <a:off x="5634780" y="2605145"/>
            <a:ext cx="3720122" cy="628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394B54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Enables real-time location</a:t>
            </a:r>
            <a:endParaRPr lang="en-US" sz="1800">
              <a:solidFill>
                <a:srgbClr val="394B54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394B54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sharing during travel</a:t>
            </a:r>
            <a:endParaRPr lang="en-US" sz="1800">
              <a:solidFill>
                <a:srgbClr val="394B54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</p:txBody>
      </p:sp>
      <p:grpSp>
        <p:nvGrpSpPr>
          <p:cNvPr id="15" name="Group 15"/>
          <p:cNvGrpSpPr/>
          <p:nvPr/>
        </p:nvGrpSpPr>
        <p:grpSpPr>
          <a:xfrm rot="0">
            <a:off x="1282303" y="3794674"/>
            <a:ext cx="114300" cy="114300"/>
            <a:chOff x="0" y="0"/>
            <a:chExt cx="152400" cy="1524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cubicBezTo>
                    <a:pt x="152400" y="118237"/>
                    <a:pt x="118237" y="152400"/>
                    <a:pt x="76200" y="152400"/>
                  </a:cubicBezTo>
                  <a:cubicBezTo>
                    <a:pt x="34163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C66A4A"/>
            </a:solidFill>
          </p:spPr>
        </p:sp>
      </p:grpSp>
      <p:sp>
        <p:nvSpPr>
          <p:cNvPr id="17" name="TextBox 17"/>
          <p:cNvSpPr txBox="1"/>
          <p:nvPr/>
        </p:nvSpPr>
        <p:spPr>
          <a:xfrm>
            <a:off x="1545136" y="3704834"/>
            <a:ext cx="4162025" cy="628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394B54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Warns users near predefined</a:t>
            </a:r>
            <a:endParaRPr lang="en-US" sz="1800">
              <a:solidFill>
                <a:srgbClr val="394B54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394B54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unsafe/restricted zones</a:t>
            </a:r>
            <a:endParaRPr lang="en-US" sz="1800">
              <a:solidFill>
                <a:srgbClr val="394B54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</p:txBody>
      </p:sp>
      <p:grpSp>
        <p:nvGrpSpPr>
          <p:cNvPr id="18" name="Group 18"/>
          <p:cNvGrpSpPr/>
          <p:nvPr/>
        </p:nvGrpSpPr>
        <p:grpSpPr>
          <a:xfrm rot="0">
            <a:off x="5371948" y="3794674"/>
            <a:ext cx="114300" cy="114300"/>
            <a:chOff x="0" y="0"/>
            <a:chExt cx="152400" cy="1524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cubicBezTo>
                    <a:pt x="152400" y="118237"/>
                    <a:pt x="118237" y="152400"/>
                    <a:pt x="76200" y="152400"/>
                  </a:cubicBezTo>
                  <a:cubicBezTo>
                    <a:pt x="34163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C66A4A"/>
            </a:solidFill>
          </p:spPr>
        </p:sp>
      </p:grpSp>
      <p:sp>
        <p:nvSpPr>
          <p:cNvPr id="20" name="TextBox 20"/>
          <p:cNvSpPr txBox="1"/>
          <p:nvPr/>
        </p:nvSpPr>
        <p:spPr>
          <a:xfrm>
            <a:off x="5634780" y="3704834"/>
            <a:ext cx="4250446" cy="628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394B54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Supports incident reporting</a:t>
            </a:r>
            <a:endParaRPr lang="en-US" sz="1800">
              <a:solidFill>
                <a:srgbClr val="394B54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394B54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and faster authority response</a:t>
            </a:r>
            <a:endParaRPr lang="en-US" sz="1800">
              <a:solidFill>
                <a:srgbClr val="394B54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</p:txBody>
      </p:sp>
      <p:grpSp>
        <p:nvGrpSpPr>
          <p:cNvPr id="21" name="Group 21"/>
          <p:cNvGrpSpPr/>
          <p:nvPr/>
        </p:nvGrpSpPr>
        <p:grpSpPr>
          <a:xfrm rot="0">
            <a:off x="1282303" y="4894507"/>
            <a:ext cx="114300" cy="114300"/>
            <a:chOff x="0" y="0"/>
            <a:chExt cx="152400" cy="1524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cubicBezTo>
                    <a:pt x="152400" y="118237"/>
                    <a:pt x="118237" y="152400"/>
                    <a:pt x="76200" y="152400"/>
                  </a:cubicBezTo>
                  <a:cubicBezTo>
                    <a:pt x="34163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698D77"/>
            </a:solidFill>
          </p:spPr>
        </p:sp>
      </p:grpSp>
      <p:sp>
        <p:nvSpPr>
          <p:cNvPr id="23" name="TextBox 23"/>
          <p:cNvSpPr txBox="1"/>
          <p:nvPr/>
        </p:nvSpPr>
        <p:spPr>
          <a:xfrm>
            <a:off x="1545136" y="4804677"/>
            <a:ext cx="8464553" cy="628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394B54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Particularly useful for women and girls travelling alone or in</a:t>
            </a:r>
            <a:endParaRPr lang="en-US" sz="1800">
              <a:solidFill>
                <a:srgbClr val="394B54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394B54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unfamiliar areas</a:t>
            </a:r>
            <a:endParaRPr lang="en-US" sz="1800">
              <a:solidFill>
                <a:srgbClr val="394B54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</p:txBody>
      </p:sp>
      <p:grpSp>
        <p:nvGrpSpPr>
          <p:cNvPr id="24" name="Group 24"/>
          <p:cNvGrpSpPr/>
          <p:nvPr/>
        </p:nvGrpSpPr>
        <p:grpSpPr>
          <a:xfrm rot="0">
            <a:off x="8755952" y="2643035"/>
            <a:ext cx="7048500" cy="3019425"/>
            <a:chOff x="0" y="0"/>
            <a:chExt cx="9398000" cy="40259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9398000" cy="4025900"/>
            </a:xfrm>
            <a:custGeom>
              <a:avLst/>
              <a:gdLst/>
              <a:ahLst/>
              <a:cxnLst/>
              <a:rect l="l" t="t" r="r" b="b"/>
              <a:pathLst>
                <a:path w="9398000" h="4025900">
                  <a:moveTo>
                    <a:pt x="0" y="293497"/>
                  </a:moveTo>
                  <a:cubicBezTo>
                    <a:pt x="0" y="131445"/>
                    <a:pt x="131445" y="0"/>
                    <a:pt x="293497" y="0"/>
                  </a:cubicBezTo>
                  <a:lnTo>
                    <a:pt x="9104503" y="0"/>
                  </a:lnTo>
                  <a:cubicBezTo>
                    <a:pt x="9266555" y="0"/>
                    <a:pt x="9398000" y="131445"/>
                    <a:pt x="9398000" y="293497"/>
                  </a:cubicBezTo>
                  <a:lnTo>
                    <a:pt x="9398000" y="3732403"/>
                  </a:lnTo>
                  <a:cubicBezTo>
                    <a:pt x="9398000" y="3894455"/>
                    <a:pt x="9266555" y="4025900"/>
                    <a:pt x="9104503" y="4025900"/>
                  </a:cubicBezTo>
                  <a:lnTo>
                    <a:pt x="293497" y="4025900"/>
                  </a:lnTo>
                  <a:cubicBezTo>
                    <a:pt x="131445" y="4025900"/>
                    <a:pt x="0" y="3894455"/>
                    <a:pt x="0" y="3732403"/>
                  </a:cubicBezTo>
                  <a:close/>
                </a:path>
              </a:pathLst>
            </a:custGeom>
            <a:solidFill>
              <a:srgbClr val="E8EDE8">
                <a:alpha val="63922"/>
              </a:srgbClr>
            </a:solidFill>
            <a:ln w="9526" cap="sq">
              <a:solidFill>
                <a:srgbClr val="B8C7C3"/>
              </a:solidFill>
              <a:prstDash val="solid"/>
              <a:miter/>
            </a:ln>
          </p:spPr>
        </p:sp>
      </p:grpSp>
      <p:grpSp>
        <p:nvGrpSpPr>
          <p:cNvPr id="26" name="Group 26"/>
          <p:cNvGrpSpPr/>
          <p:nvPr/>
        </p:nvGrpSpPr>
        <p:grpSpPr>
          <a:xfrm rot="0">
            <a:off x="8967949" y="2933757"/>
            <a:ext cx="6097934" cy="324135"/>
            <a:chOff x="0" y="0"/>
            <a:chExt cx="6450965" cy="3429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6450965" cy="342901"/>
            </a:xfrm>
            <a:custGeom>
              <a:avLst/>
              <a:gdLst/>
              <a:ahLst/>
              <a:cxnLst/>
              <a:rect l="l" t="t" r="r" b="b"/>
              <a:pathLst>
                <a:path w="6450965" h="342901">
                  <a:moveTo>
                    <a:pt x="0" y="0"/>
                  </a:moveTo>
                  <a:lnTo>
                    <a:pt x="6450965" y="0"/>
                  </a:lnTo>
                  <a:lnTo>
                    <a:pt x="6450965" y="342901"/>
                  </a:lnTo>
                  <a:lnTo>
                    <a:pt x="0" y="34290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16570" b="-316569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-9525"/>
              <a:ext cx="6450965" cy="3524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80"/>
                </a:lnSpc>
              </a:pPr>
              <a:r>
                <a:rPr lang="en-US" sz="2400" b="1" spc="229">
                  <a:solidFill>
                    <a:srgbClr val="4B7C7A"/>
                  </a:solidFill>
                  <a:latin typeface="Arimo Bold" panose="020B0704020202020204"/>
                  <a:ea typeface="Arimo Bold" panose="020B0704020202020204"/>
                  <a:cs typeface="Arimo Bold" panose="020B0704020202020204"/>
                  <a:sym typeface="Arimo Bold" panose="020B0704020202020204"/>
                </a:rPr>
                <a:t>A SAFER TRAVEL ENVIRONMENT</a:t>
              </a:r>
              <a:endParaRPr lang="en-US" sz="2400" b="1" spc="229">
                <a:solidFill>
                  <a:srgbClr val="4B7C7A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 rot="0">
            <a:off x="1276350" y="6272955"/>
            <a:ext cx="15735300" cy="1285875"/>
            <a:chOff x="0" y="0"/>
            <a:chExt cx="20980400" cy="17145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20980400" cy="1714500"/>
            </a:xfrm>
            <a:custGeom>
              <a:avLst/>
              <a:gdLst/>
              <a:ahLst/>
              <a:cxnLst/>
              <a:rect l="l" t="t" r="r" b="b"/>
              <a:pathLst>
                <a:path w="20980400" h="1714500">
                  <a:moveTo>
                    <a:pt x="0" y="294767"/>
                  </a:moveTo>
                  <a:cubicBezTo>
                    <a:pt x="0" y="131953"/>
                    <a:pt x="131953" y="0"/>
                    <a:pt x="294767" y="0"/>
                  </a:cubicBezTo>
                  <a:lnTo>
                    <a:pt x="20685633" y="0"/>
                  </a:lnTo>
                  <a:cubicBezTo>
                    <a:pt x="20848447" y="0"/>
                    <a:pt x="20980400" y="131953"/>
                    <a:pt x="20980400" y="294767"/>
                  </a:cubicBezTo>
                  <a:lnTo>
                    <a:pt x="20980400" y="1419733"/>
                  </a:lnTo>
                  <a:cubicBezTo>
                    <a:pt x="20980400" y="1582547"/>
                    <a:pt x="20848447" y="1714500"/>
                    <a:pt x="20685633" y="1714500"/>
                  </a:cubicBezTo>
                  <a:lnTo>
                    <a:pt x="294767" y="1714500"/>
                  </a:lnTo>
                  <a:cubicBezTo>
                    <a:pt x="131953" y="1714500"/>
                    <a:pt x="0" y="1582547"/>
                    <a:pt x="0" y="1419733"/>
                  </a:cubicBezTo>
                  <a:close/>
                </a:path>
              </a:pathLst>
            </a:custGeom>
            <a:solidFill>
              <a:srgbClr val="E0E8E4">
                <a:alpha val="49020"/>
              </a:srgbClr>
            </a:solidFill>
            <a:ln w="9526" cap="sq">
              <a:solidFill>
                <a:srgbClr val="B8C7C3"/>
              </a:solidFill>
              <a:prstDash val="solid"/>
              <a:miter/>
            </a:ln>
          </p:spPr>
        </p:sp>
      </p:grpSp>
      <p:grpSp>
        <p:nvGrpSpPr>
          <p:cNvPr id="31" name="Group 31"/>
          <p:cNvGrpSpPr/>
          <p:nvPr/>
        </p:nvGrpSpPr>
        <p:grpSpPr>
          <a:xfrm rot="0">
            <a:off x="5639791" y="6504651"/>
            <a:ext cx="997744" cy="875852"/>
            <a:chOff x="0" y="0"/>
            <a:chExt cx="1330325" cy="1167803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330452" cy="1167765"/>
            </a:xfrm>
            <a:custGeom>
              <a:avLst/>
              <a:gdLst/>
              <a:ahLst/>
              <a:cxnLst/>
              <a:rect l="l" t="t" r="r" b="b"/>
              <a:pathLst>
                <a:path w="1330452" h="1167765">
                  <a:moveTo>
                    <a:pt x="0" y="583946"/>
                  </a:moveTo>
                  <a:cubicBezTo>
                    <a:pt x="0" y="261366"/>
                    <a:pt x="297815" y="0"/>
                    <a:pt x="665226" y="0"/>
                  </a:cubicBezTo>
                  <a:cubicBezTo>
                    <a:pt x="1032637" y="0"/>
                    <a:pt x="1330452" y="261366"/>
                    <a:pt x="1330452" y="583946"/>
                  </a:cubicBezTo>
                  <a:cubicBezTo>
                    <a:pt x="1330452" y="906526"/>
                    <a:pt x="1032510" y="1167765"/>
                    <a:pt x="665226" y="1167765"/>
                  </a:cubicBezTo>
                  <a:cubicBezTo>
                    <a:pt x="297942" y="1167765"/>
                    <a:pt x="0" y="906399"/>
                    <a:pt x="0" y="583946"/>
                  </a:cubicBez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2623" r="-62613" b="-3"/>
              </a:stretch>
            </a:blipFill>
            <a:ln w="28576" cap="sq">
              <a:solidFill>
                <a:srgbClr val="4B7C7A"/>
              </a:solidFill>
              <a:prstDash val="solid"/>
              <a:miter/>
            </a:ln>
          </p:spPr>
        </p:sp>
      </p:grpSp>
      <p:grpSp>
        <p:nvGrpSpPr>
          <p:cNvPr id="33" name="Group 33"/>
          <p:cNvGrpSpPr/>
          <p:nvPr/>
        </p:nvGrpSpPr>
        <p:grpSpPr>
          <a:xfrm rot="0">
            <a:off x="5701313" y="6774809"/>
            <a:ext cx="1351388" cy="266700"/>
            <a:chOff x="0" y="0"/>
            <a:chExt cx="1801851" cy="3556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801853" cy="355600"/>
            </a:xfrm>
            <a:custGeom>
              <a:avLst/>
              <a:gdLst/>
              <a:ahLst/>
              <a:cxnLst/>
              <a:rect l="l" t="t" r="r" b="b"/>
              <a:pathLst>
                <a:path w="1801853" h="355600">
                  <a:moveTo>
                    <a:pt x="0" y="0"/>
                  </a:moveTo>
                  <a:lnTo>
                    <a:pt x="1801853" y="0"/>
                  </a:lnTo>
                  <a:lnTo>
                    <a:pt x="1801853" y="355600"/>
                  </a:lnTo>
                  <a:lnTo>
                    <a:pt x="0" y="355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8732" b="-48732"/>
              </a:stretch>
            </a:blipFill>
          </p:spPr>
        </p:sp>
        <p:sp>
          <p:nvSpPr>
            <p:cNvPr id="35" name="TextBox 35"/>
            <p:cNvSpPr txBox="1"/>
            <p:nvPr/>
          </p:nvSpPr>
          <p:spPr>
            <a:xfrm>
              <a:off x="0" y="-19050"/>
              <a:ext cx="1801851" cy="3746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25"/>
                </a:lnSpc>
              </a:pPr>
              <a:r>
                <a:rPr lang="en-US" sz="1520" b="1">
                  <a:solidFill>
                    <a:srgbClr val="4B7C7A"/>
                  </a:solidFill>
                  <a:latin typeface="Arimo Bold" panose="020B0704020202020204"/>
                  <a:ea typeface="Arimo Bold" panose="020B0704020202020204"/>
                  <a:cs typeface="Arimo Bold" panose="020B0704020202020204"/>
                  <a:sym typeface="Arimo Bold" panose="020B0704020202020204"/>
                </a:rPr>
                <a:t>MONITOR</a:t>
              </a:r>
              <a:endParaRPr lang="en-US" sz="1520" b="1">
                <a:solidFill>
                  <a:srgbClr val="4B7C7A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 rot="0">
            <a:off x="6748310" y="6660509"/>
            <a:ext cx="512664" cy="495300"/>
            <a:chOff x="0" y="0"/>
            <a:chExt cx="683552" cy="6604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683557" cy="660400"/>
            </a:xfrm>
            <a:custGeom>
              <a:avLst/>
              <a:gdLst/>
              <a:ahLst/>
              <a:cxnLst/>
              <a:rect l="l" t="t" r="r" b="b"/>
              <a:pathLst>
                <a:path w="683557" h="660400">
                  <a:moveTo>
                    <a:pt x="0" y="0"/>
                  </a:moveTo>
                  <a:lnTo>
                    <a:pt x="683557" y="0"/>
                  </a:lnTo>
                  <a:lnTo>
                    <a:pt x="683557" y="660400"/>
                  </a:lnTo>
                  <a:lnTo>
                    <a:pt x="0" y="660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3957" r="-73956"/>
              </a:stretch>
            </a:blipFill>
          </p:spPr>
        </p:sp>
        <p:sp>
          <p:nvSpPr>
            <p:cNvPr id="38" name="TextBox 38"/>
            <p:cNvSpPr txBox="1"/>
            <p:nvPr/>
          </p:nvSpPr>
          <p:spPr>
            <a:xfrm>
              <a:off x="0" y="-9525"/>
              <a:ext cx="683552" cy="669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55"/>
                </a:lnSpc>
              </a:pPr>
              <a:r>
                <a:rPr lang="en-US" sz="2880">
                  <a:solidFill>
                    <a:srgbClr val="C66A4A"/>
                  </a:solidFill>
                  <a:latin typeface="Arimo" panose="020B0604020202020204"/>
                  <a:ea typeface="Arimo" panose="020B0604020202020204"/>
                  <a:cs typeface="Arimo" panose="020B0604020202020204"/>
                  <a:sym typeface="Arimo" panose="020B0604020202020204"/>
                </a:rPr>
                <a:t>→</a:t>
              </a:r>
              <a:endParaRPr lang="en-US" sz="2880">
                <a:solidFill>
                  <a:srgbClr val="C66A4A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endParaRPr>
            </a:p>
          </p:txBody>
        </p:sp>
      </p:grpSp>
      <p:grpSp>
        <p:nvGrpSpPr>
          <p:cNvPr id="39" name="Group 39"/>
          <p:cNvGrpSpPr/>
          <p:nvPr/>
        </p:nvGrpSpPr>
        <p:grpSpPr>
          <a:xfrm rot="0">
            <a:off x="8738187" y="6504651"/>
            <a:ext cx="971512" cy="864660"/>
            <a:chOff x="0" y="0"/>
            <a:chExt cx="1295349" cy="1152881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295400" cy="1152906"/>
            </a:xfrm>
            <a:custGeom>
              <a:avLst/>
              <a:gdLst/>
              <a:ahLst/>
              <a:cxnLst/>
              <a:rect l="l" t="t" r="r" b="b"/>
              <a:pathLst>
                <a:path w="1295400" h="1152906">
                  <a:moveTo>
                    <a:pt x="0" y="576453"/>
                  </a:moveTo>
                  <a:cubicBezTo>
                    <a:pt x="0" y="258064"/>
                    <a:pt x="289941" y="0"/>
                    <a:pt x="647700" y="0"/>
                  </a:cubicBezTo>
                  <a:cubicBezTo>
                    <a:pt x="1005459" y="0"/>
                    <a:pt x="1295400" y="258064"/>
                    <a:pt x="1295400" y="576453"/>
                  </a:cubicBezTo>
                  <a:cubicBezTo>
                    <a:pt x="1295400" y="894842"/>
                    <a:pt x="1005332" y="1152906"/>
                    <a:pt x="647700" y="1152906"/>
                  </a:cubicBezTo>
                  <a:cubicBezTo>
                    <a:pt x="290068" y="1152906"/>
                    <a:pt x="0" y="894842"/>
                    <a:pt x="0" y="576453"/>
                  </a:cubicBez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4189" r="-64185" b="2"/>
              </a:stretch>
            </a:blipFill>
            <a:ln w="28576" cap="sq">
              <a:solidFill>
                <a:srgbClr val="4B7C7A"/>
              </a:solidFill>
              <a:prstDash val="solid"/>
              <a:miter/>
            </a:ln>
          </p:spPr>
        </p:sp>
      </p:grpSp>
      <p:grpSp>
        <p:nvGrpSpPr>
          <p:cNvPr id="41" name="Group 41"/>
          <p:cNvGrpSpPr/>
          <p:nvPr/>
        </p:nvGrpSpPr>
        <p:grpSpPr>
          <a:xfrm rot="0">
            <a:off x="7298084" y="6781352"/>
            <a:ext cx="1026538" cy="266700"/>
            <a:chOff x="0" y="0"/>
            <a:chExt cx="1368717" cy="35560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1368723" cy="355600"/>
            </a:xfrm>
            <a:custGeom>
              <a:avLst/>
              <a:gdLst/>
              <a:ahLst/>
              <a:cxnLst/>
              <a:rect l="l" t="t" r="r" b="b"/>
              <a:pathLst>
                <a:path w="1368723" h="355600">
                  <a:moveTo>
                    <a:pt x="0" y="0"/>
                  </a:moveTo>
                  <a:lnTo>
                    <a:pt x="1368723" y="0"/>
                  </a:lnTo>
                  <a:lnTo>
                    <a:pt x="1368723" y="355600"/>
                  </a:lnTo>
                  <a:lnTo>
                    <a:pt x="0" y="355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4998" b="-24998"/>
              </a:stretch>
            </a:blipFill>
          </p:spPr>
        </p:sp>
        <p:sp>
          <p:nvSpPr>
            <p:cNvPr id="43" name="TextBox 43"/>
            <p:cNvSpPr txBox="1"/>
            <p:nvPr/>
          </p:nvSpPr>
          <p:spPr>
            <a:xfrm>
              <a:off x="0" y="-19050"/>
              <a:ext cx="1368717" cy="3746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25"/>
                </a:lnSpc>
              </a:pPr>
              <a:r>
                <a:rPr lang="en-US" sz="1520" b="1">
                  <a:solidFill>
                    <a:srgbClr val="4B7C7A"/>
                  </a:solidFill>
                  <a:latin typeface="Arimo Bold" panose="020B0704020202020204"/>
                  <a:ea typeface="Arimo Bold" panose="020B0704020202020204"/>
                  <a:cs typeface="Arimo Bold" panose="020B0704020202020204"/>
                  <a:sym typeface="Arimo Bold" panose="020B0704020202020204"/>
                </a:rPr>
                <a:t>DETECT</a:t>
              </a:r>
              <a:endParaRPr lang="en-US" sz="1520" b="1">
                <a:solidFill>
                  <a:srgbClr val="4B7C7A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endParaRPr>
            </a:p>
          </p:txBody>
        </p:sp>
      </p:grpSp>
      <p:grpSp>
        <p:nvGrpSpPr>
          <p:cNvPr id="44" name="Group 44"/>
          <p:cNvGrpSpPr/>
          <p:nvPr/>
        </p:nvGrpSpPr>
        <p:grpSpPr>
          <a:xfrm rot="0">
            <a:off x="8243287" y="6660509"/>
            <a:ext cx="512664" cy="495300"/>
            <a:chOff x="0" y="0"/>
            <a:chExt cx="683552" cy="6604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683557" cy="660400"/>
            </a:xfrm>
            <a:custGeom>
              <a:avLst/>
              <a:gdLst/>
              <a:ahLst/>
              <a:cxnLst/>
              <a:rect l="l" t="t" r="r" b="b"/>
              <a:pathLst>
                <a:path w="683557" h="660400">
                  <a:moveTo>
                    <a:pt x="0" y="0"/>
                  </a:moveTo>
                  <a:lnTo>
                    <a:pt x="683557" y="0"/>
                  </a:lnTo>
                  <a:lnTo>
                    <a:pt x="683557" y="660400"/>
                  </a:lnTo>
                  <a:lnTo>
                    <a:pt x="0" y="660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3957" r="-73956"/>
              </a:stretch>
            </a:blipFill>
          </p:spPr>
        </p:sp>
        <p:sp>
          <p:nvSpPr>
            <p:cNvPr id="46" name="TextBox 46"/>
            <p:cNvSpPr txBox="1"/>
            <p:nvPr/>
          </p:nvSpPr>
          <p:spPr>
            <a:xfrm>
              <a:off x="0" y="-9525"/>
              <a:ext cx="683552" cy="669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55"/>
                </a:lnSpc>
              </a:pPr>
              <a:r>
                <a:rPr lang="en-US" sz="2880">
                  <a:solidFill>
                    <a:srgbClr val="C66A4A"/>
                  </a:solidFill>
                  <a:latin typeface="Arimo" panose="020B0604020202020204"/>
                  <a:ea typeface="Arimo" panose="020B0604020202020204"/>
                  <a:cs typeface="Arimo" panose="020B0604020202020204"/>
                  <a:sym typeface="Arimo" panose="020B0604020202020204"/>
                </a:rPr>
                <a:t>→</a:t>
              </a:r>
              <a:endParaRPr lang="en-US" sz="2880">
                <a:solidFill>
                  <a:srgbClr val="C66A4A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endParaRPr>
            </a:p>
          </p:txBody>
        </p:sp>
      </p:grpSp>
      <p:grpSp>
        <p:nvGrpSpPr>
          <p:cNvPr id="47" name="Group 47"/>
          <p:cNvGrpSpPr/>
          <p:nvPr/>
        </p:nvGrpSpPr>
        <p:grpSpPr>
          <a:xfrm rot="0">
            <a:off x="8850811" y="6781352"/>
            <a:ext cx="876595" cy="266700"/>
            <a:chOff x="0" y="0"/>
            <a:chExt cx="1168794" cy="35560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1168797" cy="355600"/>
            </a:xfrm>
            <a:custGeom>
              <a:avLst/>
              <a:gdLst/>
              <a:ahLst/>
              <a:cxnLst/>
              <a:rect l="l" t="t" r="r" b="b"/>
              <a:pathLst>
                <a:path w="1168797" h="355600">
                  <a:moveTo>
                    <a:pt x="0" y="0"/>
                  </a:moveTo>
                  <a:lnTo>
                    <a:pt x="1168797" y="0"/>
                  </a:lnTo>
                  <a:lnTo>
                    <a:pt x="1168797" y="355600"/>
                  </a:lnTo>
                  <a:lnTo>
                    <a:pt x="0" y="355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4043" b="-14043"/>
              </a:stretch>
            </a:blipFill>
          </p:spPr>
        </p:sp>
        <p:sp>
          <p:nvSpPr>
            <p:cNvPr id="49" name="TextBox 49"/>
            <p:cNvSpPr txBox="1"/>
            <p:nvPr/>
          </p:nvSpPr>
          <p:spPr>
            <a:xfrm>
              <a:off x="0" y="-19050"/>
              <a:ext cx="1168794" cy="3746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25"/>
                </a:lnSpc>
              </a:pPr>
              <a:r>
                <a:rPr lang="en-US" sz="1520" b="1">
                  <a:solidFill>
                    <a:srgbClr val="C66A4A"/>
                  </a:solidFill>
                  <a:latin typeface="Arimo Bold" panose="020B0704020202020204"/>
                  <a:ea typeface="Arimo Bold" panose="020B0704020202020204"/>
                  <a:cs typeface="Arimo Bold" panose="020B0704020202020204"/>
                  <a:sym typeface="Arimo Bold" panose="020B0704020202020204"/>
                </a:rPr>
                <a:t>ALERT</a:t>
              </a:r>
              <a:endParaRPr lang="en-US" sz="1520" b="1">
                <a:solidFill>
                  <a:srgbClr val="C66A4A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endParaRPr>
            </a:p>
          </p:txBody>
        </p:sp>
      </p:grpSp>
      <p:grpSp>
        <p:nvGrpSpPr>
          <p:cNvPr id="50" name="Group 50"/>
          <p:cNvGrpSpPr/>
          <p:nvPr/>
        </p:nvGrpSpPr>
        <p:grpSpPr>
          <a:xfrm rot="0">
            <a:off x="9738274" y="6660509"/>
            <a:ext cx="512664" cy="495300"/>
            <a:chOff x="0" y="0"/>
            <a:chExt cx="683552" cy="66040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683557" cy="660400"/>
            </a:xfrm>
            <a:custGeom>
              <a:avLst/>
              <a:gdLst/>
              <a:ahLst/>
              <a:cxnLst/>
              <a:rect l="l" t="t" r="r" b="b"/>
              <a:pathLst>
                <a:path w="683557" h="660400">
                  <a:moveTo>
                    <a:pt x="0" y="0"/>
                  </a:moveTo>
                  <a:lnTo>
                    <a:pt x="683557" y="0"/>
                  </a:lnTo>
                  <a:lnTo>
                    <a:pt x="683557" y="660400"/>
                  </a:lnTo>
                  <a:lnTo>
                    <a:pt x="0" y="660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3957" r="-73956"/>
              </a:stretch>
            </a:blipFill>
          </p:spPr>
        </p:sp>
        <p:sp>
          <p:nvSpPr>
            <p:cNvPr id="52" name="TextBox 52"/>
            <p:cNvSpPr txBox="1"/>
            <p:nvPr/>
          </p:nvSpPr>
          <p:spPr>
            <a:xfrm>
              <a:off x="0" y="-9525"/>
              <a:ext cx="683552" cy="669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55"/>
                </a:lnSpc>
              </a:pPr>
              <a:r>
                <a:rPr lang="en-US" sz="2880">
                  <a:solidFill>
                    <a:srgbClr val="C66A4A"/>
                  </a:solidFill>
                  <a:latin typeface="Arimo" panose="020B0604020202020204"/>
                  <a:ea typeface="Arimo" panose="020B0604020202020204"/>
                  <a:cs typeface="Arimo" panose="020B0604020202020204"/>
                  <a:sym typeface="Arimo" panose="020B0604020202020204"/>
                </a:rPr>
                <a:t>→</a:t>
              </a:r>
              <a:endParaRPr lang="en-US" sz="2880">
                <a:solidFill>
                  <a:srgbClr val="C66A4A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endParaRPr>
            </a:p>
          </p:txBody>
        </p:sp>
      </p:grpSp>
      <p:grpSp>
        <p:nvGrpSpPr>
          <p:cNvPr id="53" name="Group 53"/>
          <p:cNvGrpSpPr/>
          <p:nvPr/>
        </p:nvGrpSpPr>
        <p:grpSpPr>
          <a:xfrm rot="0">
            <a:off x="10183263" y="6781352"/>
            <a:ext cx="1299343" cy="266700"/>
            <a:chOff x="0" y="0"/>
            <a:chExt cx="1732458" cy="35560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1732459" cy="355600"/>
            </a:xfrm>
            <a:custGeom>
              <a:avLst/>
              <a:gdLst/>
              <a:ahLst/>
              <a:cxnLst/>
              <a:rect l="l" t="t" r="r" b="b"/>
              <a:pathLst>
                <a:path w="1732459" h="355600">
                  <a:moveTo>
                    <a:pt x="0" y="0"/>
                  </a:moveTo>
                  <a:lnTo>
                    <a:pt x="1732459" y="0"/>
                  </a:lnTo>
                  <a:lnTo>
                    <a:pt x="1732459" y="355600"/>
                  </a:lnTo>
                  <a:lnTo>
                    <a:pt x="0" y="355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4929" b="-44929"/>
              </a:stretch>
            </a:blipFill>
          </p:spPr>
        </p:sp>
        <p:sp>
          <p:nvSpPr>
            <p:cNvPr id="55" name="TextBox 55"/>
            <p:cNvSpPr txBox="1"/>
            <p:nvPr/>
          </p:nvSpPr>
          <p:spPr>
            <a:xfrm>
              <a:off x="0" y="-19050"/>
              <a:ext cx="1732458" cy="3746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25"/>
                </a:lnSpc>
              </a:pPr>
              <a:r>
                <a:rPr lang="en-US" sz="1520" b="1">
                  <a:solidFill>
                    <a:srgbClr val="4B7C7A"/>
                  </a:solidFill>
                  <a:latin typeface="Arimo Bold" panose="020B0704020202020204"/>
                  <a:ea typeface="Arimo Bold" panose="020B0704020202020204"/>
                  <a:cs typeface="Arimo Bold" panose="020B0704020202020204"/>
                  <a:sym typeface="Arimo Bold" panose="020B0704020202020204"/>
                </a:rPr>
                <a:t>RESPOND</a:t>
              </a:r>
              <a:endParaRPr lang="en-US" sz="1520" b="1">
                <a:solidFill>
                  <a:srgbClr val="4B7C7A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endParaRPr>
            </a:p>
          </p:txBody>
        </p:sp>
      </p:grpSp>
      <p:grpSp>
        <p:nvGrpSpPr>
          <p:cNvPr id="56" name="Group 56"/>
          <p:cNvGrpSpPr/>
          <p:nvPr/>
        </p:nvGrpSpPr>
        <p:grpSpPr>
          <a:xfrm rot="0">
            <a:off x="11233252" y="6660509"/>
            <a:ext cx="512664" cy="495300"/>
            <a:chOff x="0" y="0"/>
            <a:chExt cx="683552" cy="66040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683557" cy="660400"/>
            </a:xfrm>
            <a:custGeom>
              <a:avLst/>
              <a:gdLst/>
              <a:ahLst/>
              <a:cxnLst/>
              <a:rect l="l" t="t" r="r" b="b"/>
              <a:pathLst>
                <a:path w="683557" h="660400">
                  <a:moveTo>
                    <a:pt x="0" y="0"/>
                  </a:moveTo>
                  <a:lnTo>
                    <a:pt x="683557" y="0"/>
                  </a:lnTo>
                  <a:lnTo>
                    <a:pt x="683557" y="660400"/>
                  </a:lnTo>
                  <a:lnTo>
                    <a:pt x="0" y="660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3957" r="-73956"/>
              </a:stretch>
            </a:blipFill>
          </p:spPr>
        </p:sp>
        <p:sp>
          <p:nvSpPr>
            <p:cNvPr id="58" name="TextBox 58"/>
            <p:cNvSpPr txBox="1"/>
            <p:nvPr/>
          </p:nvSpPr>
          <p:spPr>
            <a:xfrm>
              <a:off x="0" y="-9525"/>
              <a:ext cx="683552" cy="669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55"/>
                </a:lnSpc>
              </a:pPr>
              <a:r>
                <a:rPr lang="en-US" sz="2880">
                  <a:solidFill>
                    <a:srgbClr val="C66A4A"/>
                  </a:solidFill>
                  <a:latin typeface="Arimo" panose="020B0604020202020204"/>
                  <a:ea typeface="Arimo" panose="020B0604020202020204"/>
                  <a:cs typeface="Arimo" panose="020B0604020202020204"/>
                  <a:sym typeface="Arimo" panose="020B0604020202020204"/>
                </a:rPr>
                <a:t>→</a:t>
              </a:r>
              <a:endParaRPr lang="en-US" sz="2880">
                <a:solidFill>
                  <a:srgbClr val="C66A4A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endParaRPr>
            </a:p>
          </p:txBody>
        </p:sp>
      </p:grpSp>
      <p:sp>
        <p:nvSpPr>
          <p:cNvPr id="59" name="TextBox 59"/>
          <p:cNvSpPr txBox="1"/>
          <p:nvPr/>
        </p:nvSpPr>
        <p:spPr>
          <a:xfrm>
            <a:off x="11778558" y="6580289"/>
            <a:ext cx="1028862" cy="611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70"/>
              </a:lnSpc>
            </a:pPr>
            <a:r>
              <a:rPr lang="en-US" sz="1520" b="1">
                <a:solidFill>
                  <a:srgbClr val="698D77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rPr>
              <a:t>SAFER</a:t>
            </a:r>
            <a:endParaRPr lang="en-US" sz="1520" b="1">
              <a:solidFill>
                <a:srgbClr val="698D77"/>
              </a:solidFill>
              <a:latin typeface="Arimo Bold" panose="020B0704020202020204"/>
              <a:ea typeface="Arimo Bold" panose="020B0704020202020204"/>
              <a:cs typeface="Arimo Bold" panose="020B0704020202020204"/>
              <a:sym typeface="Arimo Bold" panose="020B0704020202020204"/>
            </a:endParaRPr>
          </a:p>
          <a:p>
            <a:pPr algn="l">
              <a:lnSpc>
                <a:spcPts val="2270"/>
              </a:lnSpc>
            </a:pPr>
            <a:r>
              <a:rPr lang="en-US" sz="1520" b="1">
                <a:solidFill>
                  <a:srgbClr val="698D77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rPr>
              <a:t>TRAVEL</a:t>
            </a:r>
            <a:endParaRPr lang="en-US" sz="1520" b="1">
              <a:solidFill>
                <a:srgbClr val="698D77"/>
              </a:solidFill>
              <a:latin typeface="Arimo Bold" panose="020B0704020202020204"/>
              <a:ea typeface="Arimo Bold" panose="020B0704020202020204"/>
              <a:cs typeface="Arimo Bold" panose="020B0704020202020204"/>
              <a:sym typeface="Arimo Bold" panose="020B0704020202020204"/>
            </a:endParaRPr>
          </a:p>
        </p:txBody>
      </p:sp>
      <p:grpSp>
        <p:nvGrpSpPr>
          <p:cNvPr id="60" name="Group 60"/>
          <p:cNvGrpSpPr/>
          <p:nvPr/>
        </p:nvGrpSpPr>
        <p:grpSpPr>
          <a:xfrm rot="0">
            <a:off x="-674989" y="7954270"/>
            <a:ext cx="19637826" cy="1161455"/>
            <a:chOff x="0" y="0"/>
            <a:chExt cx="26183768" cy="1548606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26183769" cy="1548608"/>
            </a:xfrm>
            <a:custGeom>
              <a:avLst/>
              <a:gdLst/>
              <a:ahLst/>
              <a:cxnLst/>
              <a:rect l="l" t="t" r="r" b="b"/>
              <a:pathLst>
                <a:path w="26183769" h="1548608">
                  <a:moveTo>
                    <a:pt x="0" y="0"/>
                  </a:moveTo>
                  <a:lnTo>
                    <a:pt x="26183769" y="0"/>
                  </a:lnTo>
                  <a:lnTo>
                    <a:pt x="26183769" y="1548608"/>
                  </a:lnTo>
                  <a:lnTo>
                    <a:pt x="0" y="15486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13460" b="-245443"/>
              </a:stretch>
            </a:blipFill>
          </p:spPr>
        </p:sp>
        <p:sp>
          <p:nvSpPr>
            <p:cNvPr id="62" name="TextBox 62"/>
            <p:cNvSpPr txBox="1"/>
            <p:nvPr/>
          </p:nvSpPr>
          <p:spPr>
            <a:xfrm>
              <a:off x="0" y="0"/>
              <a:ext cx="26183768" cy="154860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840"/>
                </a:lnSpc>
              </a:pPr>
              <a:r>
                <a:rPr lang="en-US" sz="3200" i="1">
                  <a:solidFill>
                    <a:srgbClr val="A6533B"/>
                  </a:solidFill>
                  <a:latin typeface="Inter Italics" panose="02000503000000020004"/>
                  <a:ea typeface="Inter Italics" panose="02000503000000020004"/>
                  <a:cs typeface="Inter Italics" panose="02000503000000020004"/>
                  <a:sym typeface="Inter Italics" panose="02000503000000020004"/>
                </a:rPr>
                <a:t>“Safar Shield aims to transform tourist safety from a reactive service into a proactive safety ecosystem.”</a:t>
              </a:r>
              <a:endParaRPr lang="en-US" sz="3200" i="1">
                <a:solidFill>
                  <a:srgbClr val="A6533B"/>
                </a:solidFill>
                <a:latin typeface="Inter Italics" panose="02000503000000020004"/>
                <a:ea typeface="Inter Italics" panose="02000503000000020004"/>
                <a:cs typeface="Inter Italics" panose="02000503000000020004"/>
                <a:sym typeface="Inter Italics" panose="02000503000000020004"/>
              </a:endParaRPr>
            </a:p>
          </p:txBody>
        </p:sp>
      </p:grpSp>
      <p:grpSp>
        <p:nvGrpSpPr>
          <p:cNvPr id="63" name="Group 63"/>
          <p:cNvGrpSpPr/>
          <p:nvPr/>
        </p:nvGrpSpPr>
        <p:grpSpPr>
          <a:xfrm rot="0">
            <a:off x="7195576" y="6515843"/>
            <a:ext cx="971512" cy="864660"/>
            <a:chOff x="0" y="0"/>
            <a:chExt cx="1295349" cy="1152881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1295400" cy="1152906"/>
            </a:xfrm>
            <a:custGeom>
              <a:avLst/>
              <a:gdLst/>
              <a:ahLst/>
              <a:cxnLst/>
              <a:rect l="l" t="t" r="r" b="b"/>
              <a:pathLst>
                <a:path w="1295400" h="1152906">
                  <a:moveTo>
                    <a:pt x="0" y="576453"/>
                  </a:moveTo>
                  <a:cubicBezTo>
                    <a:pt x="0" y="258064"/>
                    <a:pt x="289941" y="0"/>
                    <a:pt x="647700" y="0"/>
                  </a:cubicBezTo>
                  <a:cubicBezTo>
                    <a:pt x="1005459" y="0"/>
                    <a:pt x="1295400" y="258064"/>
                    <a:pt x="1295400" y="576453"/>
                  </a:cubicBezTo>
                  <a:cubicBezTo>
                    <a:pt x="1295400" y="894842"/>
                    <a:pt x="1005332" y="1152906"/>
                    <a:pt x="647700" y="1152906"/>
                  </a:cubicBezTo>
                  <a:cubicBezTo>
                    <a:pt x="290068" y="1152906"/>
                    <a:pt x="0" y="894842"/>
                    <a:pt x="0" y="576453"/>
                  </a:cubicBez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4189" r="-64185" b="2"/>
              </a:stretch>
            </a:blipFill>
            <a:ln w="28576" cap="sq">
              <a:solidFill>
                <a:srgbClr val="4B7C7A"/>
              </a:solidFill>
              <a:prstDash val="solid"/>
              <a:miter/>
            </a:ln>
          </p:spPr>
        </p:sp>
      </p:grpSp>
      <p:grpSp>
        <p:nvGrpSpPr>
          <p:cNvPr id="65" name="Group 65"/>
          <p:cNvGrpSpPr/>
          <p:nvPr/>
        </p:nvGrpSpPr>
        <p:grpSpPr>
          <a:xfrm rot="0">
            <a:off x="10183263" y="6504651"/>
            <a:ext cx="971512" cy="864660"/>
            <a:chOff x="0" y="0"/>
            <a:chExt cx="1295349" cy="1152881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1295400" cy="1152906"/>
            </a:xfrm>
            <a:custGeom>
              <a:avLst/>
              <a:gdLst/>
              <a:ahLst/>
              <a:cxnLst/>
              <a:rect l="l" t="t" r="r" b="b"/>
              <a:pathLst>
                <a:path w="1295400" h="1152906">
                  <a:moveTo>
                    <a:pt x="0" y="576453"/>
                  </a:moveTo>
                  <a:cubicBezTo>
                    <a:pt x="0" y="258064"/>
                    <a:pt x="289941" y="0"/>
                    <a:pt x="647700" y="0"/>
                  </a:cubicBezTo>
                  <a:cubicBezTo>
                    <a:pt x="1005459" y="0"/>
                    <a:pt x="1295400" y="258064"/>
                    <a:pt x="1295400" y="576453"/>
                  </a:cubicBezTo>
                  <a:cubicBezTo>
                    <a:pt x="1295400" y="894842"/>
                    <a:pt x="1005332" y="1152906"/>
                    <a:pt x="647700" y="1152906"/>
                  </a:cubicBezTo>
                  <a:cubicBezTo>
                    <a:pt x="290068" y="1152906"/>
                    <a:pt x="0" y="894842"/>
                    <a:pt x="0" y="576453"/>
                  </a:cubicBez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4189" r="-64185" b="2"/>
              </a:stretch>
            </a:blipFill>
            <a:ln w="28576" cap="sq">
              <a:solidFill>
                <a:srgbClr val="4B7C7A"/>
              </a:solidFill>
              <a:prstDash val="solid"/>
              <a:miter/>
            </a:ln>
          </p:spPr>
        </p:sp>
      </p:grpSp>
      <p:grpSp>
        <p:nvGrpSpPr>
          <p:cNvPr id="67" name="Group 67"/>
          <p:cNvGrpSpPr/>
          <p:nvPr/>
        </p:nvGrpSpPr>
        <p:grpSpPr>
          <a:xfrm rot="0">
            <a:off x="11624977" y="6515843"/>
            <a:ext cx="971512" cy="864660"/>
            <a:chOff x="0" y="0"/>
            <a:chExt cx="1295349" cy="1152881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1295400" cy="1152906"/>
            </a:xfrm>
            <a:custGeom>
              <a:avLst/>
              <a:gdLst/>
              <a:ahLst/>
              <a:cxnLst/>
              <a:rect l="l" t="t" r="r" b="b"/>
              <a:pathLst>
                <a:path w="1295400" h="1152906">
                  <a:moveTo>
                    <a:pt x="0" y="576453"/>
                  </a:moveTo>
                  <a:cubicBezTo>
                    <a:pt x="0" y="258064"/>
                    <a:pt x="289941" y="0"/>
                    <a:pt x="647700" y="0"/>
                  </a:cubicBezTo>
                  <a:cubicBezTo>
                    <a:pt x="1005459" y="0"/>
                    <a:pt x="1295400" y="258064"/>
                    <a:pt x="1295400" y="576453"/>
                  </a:cubicBezTo>
                  <a:cubicBezTo>
                    <a:pt x="1295400" y="894842"/>
                    <a:pt x="1005332" y="1152906"/>
                    <a:pt x="647700" y="1152906"/>
                  </a:cubicBezTo>
                  <a:cubicBezTo>
                    <a:pt x="290068" y="1152906"/>
                    <a:pt x="0" y="894842"/>
                    <a:pt x="0" y="576453"/>
                  </a:cubicBez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4189" r="-64185" b="2"/>
              </a:stretch>
            </a:blipFill>
            <a:ln w="28576" cap="sq">
              <a:solidFill>
                <a:srgbClr val="4B7C7A"/>
              </a:solidFill>
              <a:prstDash val="solid"/>
              <a:miter/>
            </a:ln>
          </p:spPr>
        </p:sp>
      </p:grpSp>
      <p:sp>
        <p:nvSpPr>
          <p:cNvPr id="69" name="TextBox 69"/>
          <p:cNvSpPr txBox="1"/>
          <p:nvPr/>
        </p:nvSpPr>
        <p:spPr>
          <a:xfrm>
            <a:off x="8893178" y="3667701"/>
            <a:ext cx="7612094" cy="712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2200">
                <a:solidFill>
                  <a:srgbClr val="24313A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Safar Shield can help travellers feel more</a:t>
            </a:r>
            <a:endParaRPr lang="en-US" sz="2200">
              <a:solidFill>
                <a:srgbClr val="24313A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  <a:p>
            <a:pPr algn="l">
              <a:lnSpc>
                <a:spcPts val="2610"/>
              </a:lnSpc>
            </a:pPr>
            <a:r>
              <a:rPr lang="en-US" sz="2200">
                <a:solidFill>
                  <a:srgbClr val="24313A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confident while exploring unfamiliar locations.</a:t>
            </a:r>
            <a:endParaRPr lang="en-US" sz="2200">
              <a:solidFill>
                <a:srgbClr val="24313A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</p:txBody>
      </p:sp>
      <p:sp>
        <p:nvSpPr>
          <p:cNvPr id="70" name="TextBox 70"/>
          <p:cNvSpPr txBox="1"/>
          <p:nvPr/>
        </p:nvSpPr>
        <p:spPr>
          <a:xfrm>
            <a:off x="8893178" y="4693515"/>
            <a:ext cx="7735338" cy="5924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800">
                <a:solidFill>
                  <a:srgbClr val="52636A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It does not guarantee safety or prevent crimes. It supports informed</a:t>
            </a:r>
            <a:endParaRPr lang="en-US" sz="1800">
              <a:solidFill>
                <a:srgbClr val="52636A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  <a:p>
            <a:pPr algn="l">
              <a:lnSpc>
                <a:spcPts val="2340"/>
              </a:lnSpc>
            </a:pPr>
            <a:r>
              <a:rPr lang="en-US" sz="1800">
                <a:solidFill>
                  <a:srgbClr val="52636A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travel and emergency response through connected tools.</a:t>
            </a:r>
            <a:endParaRPr lang="en-US" sz="1800">
              <a:solidFill>
                <a:srgbClr val="52636A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0">
            <a:off x="573091" y="614362"/>
            <a:ext cx="17141828" cy="9058275"/>
            <a:chOff x="0" y="0"/>
            <a:chExt cx="22855771" cy="120777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855682" cy="12077700"/>
            </a:xfrm>
            <a:custGeom>
              <a:avLst/>
              <a:gdLst/>
              <a:ahLst/>
              <a:cxnLst/>
              <a:rect l="l" t="t" r="r" b="b"/>
              <a:pathLst>
                <a:path w="22855682" h="12077700">
                  <a:moveTo>
                    <a:pt x="0" y="2076577"/>
                  </a:moveTo>
                  <a:cubicBezTo>
                    <a:pt x="0" y="929767"/>
                    <a:pt x="929767" y="0"/>
                    <a:pt x="2076577" y="0"/>
                  </a:cubicBezTo>
                  <a:lnTo>
                    <a:pt x="20779105" y="0"/>
                  </a:lnTo>
                  <a:cubicBezTo>
                    <a:pt x="21926043" y="0"/>
                    <a:pt x="22855682" y="929767"/>
                    <a:pt x="22855682" y="2076577"/>
                  </a:cubicBezTo>
                  <a:lnTo>
                    <a:pt x="22855682" y="10001123"/>
                  </a:lnTo>
                  <a:cubicBezTo>
                    <a:pt x="22855682" y="11148060"/>
                    <a:pt x="21925916" y="12077700"/>
                    <a:pt x="20779105" y="12077700"/>
                  </a:cubicBezTo>
                  <a:lnTo>
                    <a:pt x="2076577" y="12077700"/>
                  </a:lnTo>
                  <a:cubicBezTo>
                    <a:pt x="929767" y="12077700"/>
                    <a:pt x="0" y="11147933"/>
                    <a:pt x="0" y="10001123"/>
                  </a:cubicBezTo>
                  <a:close/>
                </a:path>
              </a:pathLst>
            </a:custGeom>
            <a:solidFill>
              <a:srgbClr val="E0E8E4">
                <a:alpha val="49020"/>
              </a:srgbClr>
            </a:solidFill>
            <a:ln w="9526" cap="sq">
              <a:solidFill>
                <a:srgbClr val="B8C7C3"/>
              </a:solidFill>
              <a:prstDash val="solid"/>
              <a:miter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5476293" y="4265890"/>
            <a:ext cx="11240767" cy="17552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960"/>
              </a:lnSpc>
            </a:pPr>
            <a:r>
              <a:rPr lang="en-US" sz="10800" b="1" spc="-716">
                <a:solidFill>
                  <a:srgbClr val="4B7C7A"/>
                </a:solidFill>
                <a:latin typeface="Inter Bold" panose="02000503000000020004"/>
                <a:ea typeface="Inter Bold" panose="02000503000000020004"/>
                <a:cs typeface="Inter Bold" panose="02000503000000020004"/>
                <a:sym typeface="Inter Bold" panose="02000503000000020004"/>
              </a:rPr>
              <a:t>THANKYOU!</a:t>
            </a:r>
            <a:endParaRPr lang="en-US" sz="10800" b="1" spc="-716">
              <a:solidFill>
                <a:srgbClr val="4B7C7A"/>
              </a:solidFill>
              <a:latin typeface="Inter Bold" panose="02000503000000020004"/>
              <a:ea typeface="Inter Bold" panose="02000503000000020004"/>
              <a:cs typeface="Inter Bold" panose="02000503000000020004"/>
              <a:sym typeface="Inter Bold" panose="020005030000000200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2715</Words>
  <Application>WPS Presentation</Application>
  <PresentationFormat>On-screen Show (4:3)</PresentationFormat>
  <Paragraphs>198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8" baseType="lpstr">
      <vt:lpstr>Arial</vt:lpstr>
      <vt:lpstr>SimSun</vt:lpstr>
      <vt:lpstr>Wingdings</vt:lpstr>
      <vt:lpstr>Arimo Bold</vt:lpstr>
      <vt:lpstr>Inter Bold</vt:lpstr>
      <vt:lpstr>Arimo</vt:lpstr>
      <vt:lpstr>Arimo Italics</vt:lpstr>
      <vt:lpstr>Canva Sans</vt:lpstr>
      <vt:lpstr>Inter Italics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Safar-Shield.pptx</dc:title>
  <dc:creator/>
  <cp:lastModifiedBy>Gauri</cp:lastModifiedBy>
  <cp:revision>3</cp:revision>
  <dcterms:created xsi:type="dcterms:W3CDTF">2006-08-16T00:00:00Z</dcterms:created>
  <dcterms:modified xsi:type="dcterms:W3CDTF">2026-09-20T07:27:20Z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7EC646927A42485B92052BDAFE7E4AC7_12</vt:lpwstr>
  </property>
  <property fmtid="{D5CDD505-2E9C-101B-9397-08002B2CF9AE}" pid="3" name="KSOProductBuildVer">
    <vt:lpwstr>1033-12.1.0.28485</vt:lpwstr>
  </property>
</Properties>
</file>